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362" r:id="rId5"/>
    <p:sldId id="259" r:id="rId6"/>
    <p:sldId id="260" r:id="rId7"/>
    <p:sldId id="261" r:id="rId8"/>
    <p:sldId id="262" r:id="rId9"/>
    <p:sldId id="263" r:id="rId10"/>
    <p:sldId id="363" r:id="rId11"/>
    <p:sldId id="364" r:id="rId12"/>
    <p:sldId id="264" r:id="rId13"/>
    <p:sldId id="265" r:id="rId14"/>
    <p:sldId id="271" r:id="rId15"/>
    <p:sldId id="270" r:id="rId16"/>
    <p:sldId id="266" r:id="rId17"/>
    <p:sldId id="272" r:id="rId18"/>
    <p:sldId id="276" r:id="rId19"/>
    <p:sldId id="277" r:id="rId20"/>
    <p:sldId id="273" r:id="rId21"/>
    <p:sldId id="274" r:id="rId22"/>
    <p:sldId id="275" r:id="rId23"/>
    <p:sldId id="267" r:id="rId24"/>
    <p:sldId id="268" r:id="rId25"/>
    <p:sldId id="309" r:id="rId26"/>
    <p:sldId id="314" r:id="rId27"/>
    <p:sldId id="315" r:id="rId28"/>
    <p:sldId id="316" r:id="rId29"/>
    <p:sldId id="308" r:id="rId30"/>
    <p:sldId id="310" r:id="rId31"/>
    <p:sldId id="311" r:id="rId32"/>
    <p:sldId id="312" r:id="rId33"/>
    <p:sldId id="313" r:id="rId34"/>
    <p:sldId id="269" r:id="rId35"/>
    <p:sldId id="278" r:id="rId36"/>
    <p:sldId id="279" r:id="rId37"/>
    <p:sldId id="280" r:id="rId38"/>
    <p:sldId id="281" r:id="rId39"/>
    <p:sldId id="282" r:id="rId40"/>
    <p:sldId id="283" r:id="rId41"/>
    <p:sldId id="284" r:id="rId42"/>
    <p:sldId id="286" r:id="rId43"/>
    <p:sldId id="292" r:id="rId44"/>
    <p:sldId id="294" r:id="rId45"/>
    <p:sldId id="293" r:id="rId46"/>
    <p:sldId id="295" r:id="rId47"/>
    <p:sldId id="296" r:id="rId48"/>
    <p:sldId id="297" r:id="rId49"/>
    <p:sldId id="298" r:id="rId50"/>
    <p:sldId id="299" r:id="rId51"/>
    <p:sldId id="300" r:id="rId52"/>
    <p:sldId id="285" r:id="rId53"/>
    <p:sldId id="287" r:id="rId54"/>
    <p:sldId id="289" r:id="rId55"/>
    <p:sldId id="302" r:id="rId56"/>
    <p:sldId id="288" r:id="rId57"/>
    <p:sldId id="290" r:id="rId58"/>
    <p:sldId id="359" r:id="rId59"/>
    <p:sldId id="360" r:id="rId60"/>
    <p:sldId id="361" r:id="rId61"/>
    <p:sldId id="301" r:id="rId62"/>
    <p:sldId id="303" r:id="rId63"/>
    <p:sldId id="304" r:id="rId64"/>
    <p:sldId id="305" r:id="rId65"/>
    <p:sldId id="306" r:id="rId66"/>
    <p:sldId id="307"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3" r:id="rId93"/>
    <p:sldId id="347" r:id="rId94"/>
    <p:sldId id="354" r:id="rId95"/>
    <p:sldId id="342" r:id="rId96"/>
    <p:sldId id="344" r:id="rId97"/>
    <p:sldId id="345" r:id="rId98"/>
    <p:sldId id="346" r:id="rId99"/>
    <p:sldId id="348" r:id="rId100"/>
    <p:sldId id="351" r:id="rId101"/>
    <p:sldId id="352" r:id="rId102"/>
    <p:sldId id="353" r:id="rId103"/>
    <p:sldId id="349" r:id="rId104"/>
    <p:sldId id="355" r:id="rId105"/>
    <p:sldId id="356" r:id="rId106"/>
    <p:sldId id="350" r:id="rId107"/>
    <p:sldId id="357" r:id="rId108"/>
    <p:sldId id="358" r:id="rId109"/>
  </p:sldIdLst>
  <p:sldSz cx="12190413" cy="6858000"/>
  <p:notesSz cx="6858000" cy="9144000"/>
  <p:defaultTextStyle>
    <a:defPPr>
      <a:defRPr lang="mr-I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44" autoAdjust="0"/>
    <p:restoredTop sz="91778" autoAdjust="0"/>
  </p:normalViewPr>
  <p:slideViewPr>
    <p:cSldViewPr>
      <p:cViewPr varScale="1">
        <p:scale>
          <a:sx n="63" d="100"/>
          <a:sy n="63" d="100"/>
        </p:scale>
        <p:origin x="892" y="5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304760" y="228600"/>
            <a:ext cx="11593083"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82183" y="5353963"/>
            <a:ext cx="11629654"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914281" y="1600200"/>
            <a:ext cx="10361851"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828562" y="3556001"/>
            <a:ext cx="8533289"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C89F721-8C89-4121-AD27-76C025D7870E}" type="datetimeFigureOut">
              <a:rPr lang="mr-IN" smtClean="0"/>
              <a:t>03-12-2025</a:t>
            </a:fld>
            <a:endParaRPr lang="mr-IN"/>
          </a:p>
        </p:txBody>
      </p:sp>
      <p:sp>
        <p:nvSpPr>
          <p:cNvPr id="5" name="Footer Placeholder 4"/>
          <p:cNvSpPr>
            <a:spLocks noGrp="1"/>
          </p:cNvSpPr>
          <p:nvPr>
            <p:ph type="ftr" sz="quarter" idx="11"/>
          </p:nvPr>
        </p:nvSpPr>
        <p:spPr/>
        <p:txBody>
          <a:bodyPr/>
          <a:lstStyle/>
          <a:p>
            <a:endParaRPr lang="mr-IN"/>
          </a:p>
        </p:txBody>
      </p:sp>
      <p:sp>
        <p:nvSpPr>
          <p:cNvPr id="6" name="Slide Number Placeholder 5"/>
          <p:cNvSpPr>
            <a:spLocks noGrp="1"/>
          </p:cNvSpPr>
          <p:nvPr>
            <p:ph type="sldNum" sz="quarter" idx="12"/>
          </p:nvPr>
        </p:nvSpPr>
        <p:spPr/>
        <p:txBody>
          <a:bodyPr/>
          <a:lstStyle/>
          <a:p>
            <a:fld id="{4FEDE9A2-F806-45C4-9DCF-FF3F31726754}" type="slidenum">
              <a:rPr lang="mr-IN" smtClean="0"/>
              <a:t>‹#›</a:t>
            </a:fld>
            <a:endParaRPr lang="mr-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89F721-8C89-4121-AD27-76C025D7870E}" type="datetimeFigureOut">
              <a:rPr lang="mr-IN" smtClean="0"/>
              <a:t>03-12-2025</a:t>
            </a:fld>
            <a:endParaRPr lang="mr-IN"/>
          </a:p>
        </p:txBody>
      </p:sp>
      <p:sp>
        <p:nvSpPr>
          <p:cNvPr id="5" name="Footer Placeholder 4"/>
          <p:cNvSpPr>
            <a:spLocks noGrp="1"/>
          </p:cNvSpPr>
          <p:nvPr>
            <p:ph type="ftr" sz="quarter" idx="11"/>
          </p:nvPr>
        </p:nvSpPr>
        <p:spPr/>
        <p:txBody>
          <a:bodyPr/>
          <a:lstStyle/>
          <a:p>
            <a:endParaRPr lang="mr-IN"/>
          </a:p>
        </p:txBody>
      </p:sp>
      <p:sp>
        <p:nvSpPr>
          <p:cNvPr id="6" name="Slide Number Placeholder 5"/>
          <p:cNvSpPr>
            <a:spLocks noGrp="1"/>
          </p:cNvSpPr>
          <p:nvPr>
            <p:ph type="sldNum" sz="quarter" idx="12"/>
          </p:nvPr>
        </p:nvSpPr>
        <p:spPr/>
        <p:txBody>
          <a:bodyPr/>
          <a:lstStyle/>
          <a:p>
            <a:fld id="{4FEDE9A2-F806-45C4-9DCF-FF3F31726754}" type="slidenum">
              <a:rPr lang="mr-IN" smtClean="0"/>
              <a:t>‹#›</a:t>
            </a:fld>
            <a:endParaRPr lang="mr-IN"/>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760" y="228600"/>
            <a:ext cx="11593083"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8062202" y="4203592"/>
            <a:ext cx="38347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3491973" y="4075290"/>
            <a:ext cx="7391724"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3771146" y="4087562"/>
            <a:ext cx="7289691"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7478345" y="4074175"/>
            <a:ext cx="4410093"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82183" y="4058555"/>
            <a:ext cx="11629654"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919923" y="2463560"/>
            <a:ext cx="10361851"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822916" y="1437449"/>
            <a:ext cx="8555865"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89F721-8C89-4121-AD27-76C025D7870E}" type="datetimeFigureOut">
              <a:rPr lang="mr-IN" smtClean="0"/>
              <a:t>03-12-2025</a:t>
            </a:fld>
            <a:endParaRPr lang="mr-IN"/>
          </a:p>
        </p:txBody>
      </p:sp>
      <p:sp>
        <p:nvSpPr>
          <p:cNvPr id="5" name="Footer Placeholder 4"/>
          <p:cNvSpPr>
            <a:spLocks noGrp="1"/>
          </p:cNvSpPr>
          <p:nvPr>
            <p:ph type="ftr" sz="quarter" idx="11"/>
          </p:nvPr>
        </p:nvSpPr>
        <p:spPr/>
        <p:txBody>
          <a:bodyPr/>
          <a:lstStyle/>
          <a:p>
            <a:endParaRPr lang="mr-IN"/>
          </a:p>
        </p:txBody>
      </p:sp>
      <p:sp>
        <p:nvSpPr>
          <p:cNvPr id="6" name="Slide Number Placeholder 5"/>
          <p:cNvSpPr>
            <a:spLocks noGrp="1"/>
          </p:cNvSpPr>
          <p:nvPr>
            <p:ph type="sldNum" sz="quarter" idx="12"/>
          </p:nvPr>
        </p:nvSpPr>
        <p:spPr/>
        <p:txBody>
          <a:bodyPr/>
          <a:lstStyle/>
          <a:p>
            <a:fld id="{4FEDE9A2-F806-45C4-9DCF-FF3F31726754}" type="slidenum">
              <a:rPr lang="mr-IN" smtClean="0"/>
              <a:t>‹#›</a:t>
            </a:fld>
            <a:endParaRPr lang="mr-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4C89F721-8C89-4121-AD27-76C025D7870E}" type="datetimeFigureOut">
              <a:rPr lang="mr-IN" smtClean="0"/>
              <a:t>03-12-2025</a:t>
            </a:fld>
            <a:endParaRPr lang="mr-IN"/>
          </a:p>
        </p:txBody>
      </p:sp>
      <p:sp>
        <p:nvSpPr>
          <p:cNvPr id="6" name="Footer Placeholder 5"/>
          <p:cNvSpPr>
            <a:spLocks noGrp="1"/>
          </p:cNvSpPr>
          <p:nvPr>
            <p:ph type="ftr" sz="quarter" idx="11"/>
          </p:nvPr>
        </p:nvSpPr>
        <p:spPr/>
        <p:txBody>
          <a:bodyPr/>
          <a:lstStyle/>
          <a:p>
            <a:endParaRPr lang="mr-IN"/>
          </a:p>
        </p:txBody>
      </p:sp>
      <p:sp>
        <p:nvSpPr>
          <p:cNvPr id="7" name="Slide Number Placeholder 6"/>
          <p:cNvSpPr>
            <a:spLocks noGrp="1"/>
          </p:cNvSpPr>
          <p:nvPr>
            <p:ph type="sldNum" sz="quarter" idx="12"/>
          </p:nvPr>
        </p:nvSpPr>
        <p:spPr/>
        <p:txBody>
          <a:bodyPr/>
          <a:lstStyle/>
          <a:p>
            <a:fld id="{4FEDE9A2-F806-45C4-9DCF-FF3F31726754}" type="slidenum">
              <a:rPr lang="mr-IN" smtClean="0"/>
              <a:t>‹#›</a:t>
            </a:fld>
            <a:endParaRPr lang="mr-IN"/>
          </a:p>
        </p:txBody>
      </p:sp>
      <p:sp>
        <p:nvSpPr>
          <p:cNvPr id="9" name="Content Placeholder 8"/>
          <p:cNvSpPr>
            <a:spLocks noGrp="1"/>
          </p:cNvSpPr>
          <p:nvPr>
            <p:ph sz="quarter" idx="13"/>
          </p:nvPr>
        </p:nvSpPr>
        <p:spPr>
          <a:xfrm>
            <a:off x="902089" y="2679192"/>
            <a:ext cx="5095593"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2730" y="2679192"/>
            <a:ext cx="5095593"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02090" y="2678114"/>
            <a:ext cx="5095593"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02992" y="3429001"/>
            <a:ext cx="5092744"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6793" y="2678113"/>
            <a:ext cx="5095593"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2560" y="3429001"/>
            <a:ext cx="5095593"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C89F721-8C89-4121-AD27-76C025D7870E}" type="datetimeFigureOut">
              <a:rPr lang="mr-IN" smtClean="0"/>
              <a:t>03-12-2025</a:t>
            </a:fld>
            <a:endParaRPr lang="mr-IN"/>
          </a:p>
        </p:txBody>
      </p:sp>
      <p:sp>
        <p:nvSpPr>
          <p:cNvPr id="8" name="Footer Placeholder 7"/>
          <p:cNvSpPr>
            <a:spLocks noGrp="1"/>
          </p:cNvSpPr>
          <p:nvPr>
            <p:ph type="ftr" sz="quarter" idx="11"/>
          </p:nvPr>
        </p:nvSpPr>
        <p:spPr/>
        <p:txBody>
          <a:bodyPr/>
          <a:lstStyle/>
          <a:p>
            <a:endParaRPr lang="mr-IN"/>
          </a:p>
        </p:txBody>
      </p:sp>
      <p:sp>
        <p:nvSpPr>
          <p:cNvPr id="9" name="Slide Number Placeholder 8"/>
          <p:cNvSpPr>
            <a:spLocks noGrp="1"/>
          </p:cNvSpPr>
          <p:nvPr>
            <p:ph type="sldNum" sz="quarter" idx="12"/>
          </p:nvPr>
        </p:nvSpPr>
        <p:spPr/>
        <p:txBody>
          <a:bodyPr/>
          <a:lstStyle/>
          <a:p>
            <a:fld id="{4FEDE9A2-F806-45C4-9DCF-FF3F31726754}" type="slidenum">
              <a:rPr lang="mr-IN" smtClean="0"/>
              <a:t>‹#›</a:t>
            </a:fld>
            <a:endParaRPr lang="mr-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C89F721-8C89-4121-AD27-76C025D7870E}" type="datetimeFigureOut">
              <a:rPr lang="mr-IN" smtClean="0"/>
              <a:t>03-12-2025</a:t>
            </a:fld>
            <a:endParaRPr lang="mr-IN"/>
          </a:p>
        </p:txBody>
      </p:sp>
      <p:sp>
        <p:nvSpPr>
          <p:cNvPr id="4" name="Footer Placeholder 3"/>
          <p:cNvSpPr>
            <a:spLocks noGrp="1"/>
          </p:cNvSpPr>
          <p:nvPr>
            <p:ph type="ftr" sz="quarter" idx="11"/>
          </p:nvPr>
        </p:nvSpPr>
        <p:spPr/>
        <p:txBody>
          <a:bodyPr/>
          <a:lstStyle/>
          <a:p>
            <a:endParaRPr lang="mr-IN"/>
          </a:p>
        </p:txBody>
      </p:sp>
      <p:sp>
        <p:nvSpPr>
          <p:cNvPr id="5" name="Slide Number Placeholder 4"/>
          <p:cNvSpPr>
            <a:spLocks noGrp="1"/>
          </p:cNvSpPr>
          <p:nvPr>
            <p:ph type="sldNum" sz="quarter" idx="12"/>
          </p:nvPr>
        </p:nvSpPr>
        <p:spPr/>
        <p:txBody>
          <a:bodyPr/>
          <a:lstStyle/>
          <a:p>
            <a:fld id="{4FEDE9A2-F806-45C4-9DCF-FF3F31726754}" type="slidenum">
              <a:rPr lang="mr-IN" smtClean="0"/>
              <a:t>‹#›</a:t>
            </a:fld>
            <a:endParaRPr lang="mr-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304760" y="228600"/>
            <a:ext cx="11593083"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82183" y="714191"/>
            <a:ext cx="11629654"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4C89F721-8C89-4121-AD27-76C025D7870E}" type="datetimeFigureOut">
              <a:rPr lang="mr-IN" smtClean="0"/>
              <a:t>03-12-2025</a:t>
            </a:fld>
            <a:endParaRPr lang="mr-IN"/>
          </a:p>
        </p:txBody>
      </p:sp>
      <p:sp>
        <p:nvSpPr>
          <p:cNvPr id="3" name="Footer Placeholder 2"/>
          <p:cNvSpPr>
            <a:spLocks noGrp="1"/>
          </p:cNvSpPr>
          <p:nvPr>
            <p:ph type="ftr" sz="quarter" idx="11"/>
          </p:nvPr>
        </p:nvSpPr>
        <p:spPr/>
        <p:txBody>
          <a:bodyPr/>
          <a:lstStyle/>
          <a:p>
            <a:endParaRPr lang="mr-IN"/>
          </a:p>
        </p:txBody>
      </p:sp>
      <p:sp>
        <p:nvSpPr>
          <p:cNvPr id="4" name="Slide Number Placeholder 3"/>
          <p:cNvSpPr>
            <a:spLocks noGrp="1"/>
          </p:cNvSpPr>
          <p:nvPr>
            <p:ph type="sldNum" sz="quarter" idx="12"/>
          </p:nvPr>
        </p:nvSpPr>
        <p:spPr/>
        <p:txBody>
          <a:bodyPr/>
          <a:lstStyle/>
          <a:p>
            <a:fld id="{4FEDE9A2-F806-45C4-9DCF-FF3F31726754}" type="slidenum">
              <a:rPr lang="mr-IN" smtClean="0"/>
              <a:t>‹#›</a:t>
            </a:fld>
            <a:endParaRPr lang="mr-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304760" y="228600"/>
            <a:ext cx="11593083"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4C89F721-8C89-4121-AD27-76C025D7870E}" type="datetimeFigureOut">
              <a:rPr lang="mr-IN" smtClean="0"/>
              <a:t>03-12-2025</a:t>
            </a:fld>
            <a:endParaRPr lang="mr-IN"/>
          </a:p>
        </p:txBody>
      </p:sp>
      <p:sp>
        <p:nvSpPr>
          <p:cNvPr id="6" name="Footer Placeholder 5"/>
          <p:cNvSpPr>
            <a:spLocks noGrp="1"/>
          </p:cNvSpPr>
          <p:nvPr>
            <p:ph type="ftr" sz="quarter" idx="11"/>
          </p:nvPr>
        </p:nvSpPr>
        <p:spPr/>
        <p:txBody>
          <a:bodyPr/>
          <a:lstStyle/>
          <a:p>
            <a:endParaRPr lang="mr-IN"/>
          </a:p>
        </p:txBody>
      </p:sp>
      <p:sp>
        <p:nvSpPr>
          <p:cNvPr id="7" name="Slide Number Placeholder 6"/>
          <p:cNvSpPr>
            <a:spLocks noGrp="1"/>
          </p:cNvSpPr>
          <p:nvPr>
            <p:ph type="sldNum" sz="quarter" idx="12"/>
          </p:nvPr>
        </p:nvSpPr>
        <p:spPr/>
        <p:txBody>
          <a:bodyPr/>
          <a:lstStyle/>
          <a:p>
            <a:fld id="{4FEDE9A2-F806-45C4-9DCF-FF3F31726754}" type="slidenum">
              <a:rPr lang="mr-IN" smtClean="0"/>
              <a:t>‹#›</a:t>
            </a:fld>
            <a:endParaRPr lang="mr-IN"/>
          </a:p>
        </p:txBody>
      </p:sp>
      <p:sp>
        <p:nvSpPr>
          <p:cNvPr id="4" name="Text Placeholder 3"/>
          <p:cNvSpPr>
            <a:spLocks noGrp="1"/>
          </p:cNvSpPr>
          <p:nvPr>
            <p:ph type="body" sz="half" idx="2"/>
          </p:nvPr>
        </p:nvSpPr>
        <p:spPr>
          <a:xfrm>
            <a:off x="1219041" y="3581401"/>
            <a:ext cx="4469818"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2" name="Group 23"/>
          <p:cNvGrpSpPr>
            <a:grpSpLocks noChangeAspect="1"/>
          </p:cNvGrpSpPr>
          <p:nvPr/>
        </p:nvGrpSpPr>
        <p:grpSpPr bwMode="hidden">
          <a:xfrm>
            <a:off x="282183" y="714191"/>
            <a:ext cx="11629654"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1219041" y="2286000"/>
            <a:ext cx="4469818"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01809" y="1828800"/>
            <a:ext cx="5204757"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760" y="228600"/>
            <a:ext cx="11593083"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82183" y="5353963"/>
            <a:ext cx="11629654"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6498028" y="338667"/>
            <a:ext cx="5082865"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6490266" y="2785533"/>
            <a:ext cx="509062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89F721-8C89-4121-AD27-76C025D7870E}" type="datetimeFigureOut">
              <a:rPr lang="mr-IN" smtClean="0"/>
              <a:t>03-12-2025</a:t>
            </a:fld>
            <a:endParaRPr lang="mr-IN"/>
          </a:p>
        </p:txBody>
      </p:sp>
      <p:sp>
        <p:nvSpPr>
          <p:cNvPr id="6" name="Footer Placeholder 5"/>
          <p:cNvSpPr>
            <a:spLocks noGrp="1"/>
          </p:cNvSpPr>
          <p:nvPr>
            <p:ph type="ftr" sz="quarter" idx="11"/>
          </p:nvPr>
        </p:nvSpPr>
        <p:spPr/>
        <p:txBody>
          <a:bodyPr/>
          <a:lstStyle/>
          <a:p>
            <a:endParaRPr lang="mr-IN"/>
          </a:p>
        </p:txBody>
      </p:sp>
      <p:sp>
        <p:nvSpPr>
          <p:cNvPr id="7" name="Slide Number Placeholder 6"/>
          <p:cNvSpPr>
            <a:spLocks noGrp="1"/>
          </p:cNvSpPr>
          <p:nvPr>
            <p:ph type="sldNum" sz="quarter" idx="12"/>
          </p:nvPr>
        </p:nvSpPr>
        <p:spPr/>
        <p:txBody>
          <a:bodyPr/>
          <a:lstStyle/>
          <a:p>
            <a:fld id="{4FEDE9A2-F806-45C4-9DCF-FF3F31726754}" type="slidenum">
              <a:rPr lang="mr-IN" smtClean="0"/>
              <a:t>‹#›</a:t>
            </a:fld>
            <a:endParaRPr lang="mr-IN"/>
          </a:p>
        </p:txBody>
      </p:sp>
      <p:sp>
        <p:nvSpPr>
          <p:cNvPr id="3" name="Picture Placeholder 2"/>
          <p:cNvSpPr>
            <a:spLocks noGrp="1"/>
          </p:cNvSpPr>
          <p:nvPr>
            <p:ph type="pic" idx="1"/>
          </p:nvPr>
        </p:nvSpPr>
        <p:spPr>
          <a:xfrm>
            <a:off x="1117455" y="1371600"/>
            <a:ext cx="4754261"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89F721-8C89-4121-AD27-76C025D7870E}" type="datetimeFigureOut">
              <a:rPr lang="mr-IN" smtClean="0"/>
              <a:t>03-12-2025</a:t>
            </a:fld>
            <a:endParaRPr lang="mr-IN"/>
          </a:p>
        </p:txBody>
      </p:sp>
      <p:sp>
        <p:nvSpPr>
          <p:cNvPr id="5" name="Footer Placeholder 4"/>
          <p:cNvSpPr>
            <a:spLocks noGrp="1"/>
          </p:cNvSpPr>
          <p:nvPr>
            <p:ph type="ftr" sz="quarter" idx="11"/>
          </p:nvPr>
        </p:nvSpPr>
        <p:spPr/>
        <p:txBody>
          <a:bodyPr/>
          <a:lstStyle/>
          <a:p>
            <a:endParaRPr lang="mr-IN"/>
          </a:p>
        </p:txBody>
      </p:sp>
      <p:sp>
        <p:nvSpPr>
          <p:cNvPr id="6" name="Slide Number Placeholder 5"/>
          <p:cNvSpPr>
            <a:spLocks noGrp="1"/>
          </p:cNvSpPr>
          <p:nvPr>
            <p:ph type="sldNum" sz="quarter" idx="12"/>
          </p:nvPr>
        </p:nvSpPr>
        <p:spPr/>
        <p:txBody>
          <a:bodyPr/>
          <a:lstStyle/>
          <a:p>
            <a:fld id="{4FEDE9A2-F806-45C4-9DCF-FF3F31726754}" type="slidenum">
              <a:rPr lang="mr-IN" smtClean="0"/>
              <a:t>‹#›</a:t>
            </a:fld>
            <a:endParaRPr lang="mr-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760" y="228600"/>
            <a:ext cx="11593083"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4C89F721-8C89-4121-AD27-76C025D7870E}" type="datetimeFigureOut">
              <a:rPr lang="mr-IN" smtClean="0"/>
              <a:t>03-12-2025</a:t>
            </a:fld>
            <a:endParaRPr lang="mr-IN"/>
          </a:p>
        </p:txBody>
      </p:sp>
      <p:sp>
        <p:nvSpPr>
          <p:cNvPr id="5" name="Footer Placeholder 4"/>
          <p:cNvSpPr>
            <a:spLocks noGrp="1"/>
          </p:cNvSpPr>
          <p:nvPr>
            <p:ph type="ftr" sz="quarter" idx="11"/>
          </p:nvPr>
        </p:nvSpPr>
        <p:spPr/>
        <p:txBody>
          <a:bodyPr/>
          <a:lstStyle/>
          <a:p>
            <a:endParaRPr lang="mr-IN"/>
          </a:p>
        </p:txBody>
      </p:sp>
      <p:sp>
        <p:nvSpPr>
          <p:cNvPr id="6" name="Slide Number Placeholder 5"/>
          <p:cNvSpPr>
            <a:spLocks noGrp="1"/>
          </p:cNvSpPr>
          <p:nvPr>
            <p:ph type="sldNum" sz="quarter" idx="12"/>
          </p:nvPr>
        </p:nvSpPr>
        <p:spPr/>
        <p:txBody>
          <a:bodyPr/>
          <a:lstStyle/>
          <a:p>
            <a:fld id="{4FEDE9A2-F806-45C4-9DCF-FF3F31726754}" type="slidenum">
              <a:rPr lang="mr-IN" smtClean="0"/>
              <a:t>‹#›</a:t>
            </a:fld>
            <a:endParaRPr lang="mr-IN"/>
          </a:p>
        </p:txBody>
      </p:sp>
      <p:grpSp>
        <p:nvGrpSpPr>
          <p:cNvPr id="15" name="Group 14"/>
          <p:cNvGrpSpPr>
            <a:grpSpLocks noChangeAspect="1"/>
          </p:cNvGrpSpPr>
          <p:nvPr/>
        </p:nvGrpSpPr>
        <p:grpSpPr bwMode="hidden">
          <a:xfrm>
            <a:off x="282183" y="714191"/>
            <a:ext cx="11629654"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8838049" y="1447801"/>
            <a:ext cx="2742843"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521" y="1447800"/>
            <a:ext cx="8025355"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760" y="228600"/>
            <a:ext cx="11593083"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82183" y="1679429"/>
            <a:ext cx="11629654"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609521" y="338328"/>
            <a:ext cx="10971372"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6884000" y="6250165"/>
            <a:ext cx="5048263" cy="365125"/>
          </a:xfrm>
          <a:prstGeom prst="rect">
            <a:avLst/>
          </a:prstGeom>
        </p:spPr>
        <p:txBody>
          <a:bodyPr vert="horz" lIns="91440" tIns="45720" rIns="91440" bIns="45720" rtlCol="0" anchor="ctr"/>
          <a:lstStyle>
            <a:lvl1pPr algn="r">
              <a:defRPr sz="1000">
                <a:solidFill>
                  <a:schemeClr val="tx2"/>
                </a:solidFill>
              </a:defRPr>
            </a:lvl1pPr>
          </a:lstStyle>
          <a:p>
            <a:fld id="{4C89F721-8C89-4121-AD27-76C025D7870E}" type="datetimeFigureOut">
              <a:rPr lang="mr-IN" smtClean="0"/>
              <a:t>03-12-2025</a:t>
            </a:fld>
            <a:endParaRPr lang="mr-IN"/>
          </a:p>
        </p:txBody>
      </p:sp>
      <p:sp>
        <p:nvSpPr>
          <p:cNvPr id="5" name="Footer Placeholder 4"/>
          <p:cNvSpPr>
            <a:spLocks noGrp="1"/>
          </p:cNvSpPr>
          <p:nvPr>
            <p:ph type="ftr" sz="quarter" idx="3"/>
          </p:nvPr>
        </p:nvSpPr>
        <p:spPr>
          <a:xfrm>
            <a:off x="258151" y="6250165"/>
            <a:ext cx="5048264" cy="365125"/>
          </a:xfrm>
          <a:prstGeom prst="rect">
            <a:avLst/>
          </a:prstGeom>
        </p:spPr>
        <p:txBody>
          <a:bodyPr vert="horz" lIns="91440" tIns="45720" rIns="91440" bIns="45720" rtlCol="0" anchor="ctr"/>
          <a:lstStyle>
            <a:lvl1pPr algn="l">
              <a:defRPr sz="1000">
                <a:solidFill>
                  <a:schemeClr val="tx2"/>
                </a:solidFill>
              </a:defRPr>
            </a:lvl1pPr>
          </a:lstStyle>
          <a:p>
            <a:endParaRPr lang="mr-IN"/>
          </a:p>
        </p:txBody>
      </p:sp>
      <p:sp>
        <p:nvSpPr>
          <p:cNvPr id="6" name="Slide Number Placeholder 5"/>
          <p:cNvSpPr>
            <a:spLocks noGrp="1"/>
          </p:cNvSpPr>
          <p:nvPr>
            <p:ph type="sldNum" sz="quarter" idx="4"/>
          </p:nvPr>
        </p:nvSpPr>
        <p:spPr>
          <a:xfrm>
            <a:off x="5320758" y="6250164"/>
            <a:ext cx="1548900" cy="365125"/>
          </a:xfrm>
          <a:prstGeom prst="rect">
            <a:avLst/>
          </a:prstGeom>
        </p:spPr>
        <p:txBody>
          <a:bodyPr vert="horz" lIns="91440" tIns="45720" rIns="91440" bIns="45720" rtlCol="0" anchor="ctr"/>
          <a:lstStyle>
            <a:lvl1pPr algn="ctr">
              <a:defRPr sz="1000">
                <a:solidFill>
                  <a:schemeClr val="tx2"/>
                </a:solidFill>
              </a:defRPr>
            </a:lvl1pPr>
          </a:lstStyle>
          <a:p>
            <a:fld id="{4FEDE9A2-F806-45C4-9DCF-FF3F31726754}" type="slidenum">
              <a:rPr lang="mr-IN" smtClean="0"/>
              <a:t>‹#›</a:t>
            </a:fld>
            <a:endParaRPr lang="mr-IN"/>
          </a:p>
        </p:txBody>
      </p:sp>
      <p:sp>
        <p:nvSpPr>
          <p:cNvPr id="3" name="Text Placeholder 2"/>
          <p:cNvSpPr>
            <a:spLocks noGrp="1"/>
          </p:cNvSpPr>
          <p:nvPr>
            <p:ph type="body" idx="1"/>
          </p:nvPr>
        </p:nvSpPr>
        <p:spPr>
          <a:xfrm>
            <a:off x="1162605" y="2675467"/>
            <a:ext cx="9876492" cy="34506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6614" y="1469851"/>
            <a:ext cx="10608491" cy="1902074"/>
          </a:xfrm>
        </p:spPr>
        <p:txBody>
          <a:bodyPr>
            <a:noAutofit/>
          </a:bodyPr>
          <a:lstStyle/>
          <a:p>
            <a:r>
              <a:rPr lang="en-US" sz="13800" b="1" dirty="0"/>
              <a:t>Sn   wflake </a:t>
            </a:r>
            <a:endParaRPr lang="mr-IN" sz="13800" b="1" dirty="0"/>
          </a:p>
        </p:txBody>
      </p:sp>
      <p:sp>
        <p:nvSpPr>
          <p:cNvPr id="3" name="Subtitle 2"/>
          <p:cNvSpPr>
            <a:spLocks noGrp="1"/>
          </p:cNvSpPr>
          <p:nvPr>
            <p:ph type="subTitle" idx="1"/>
          </p:nvPr>
        </p:nvSpPr>
        <p:spPr>
          <a:xfrm>
            <a:off x="2350790" y="4149080"/>
            <a:ext cx="8533289" cy="1473200"/>
          </a:xfrm>
        </p:spPr>
        <p:txBody>
          <a:bodyPr>
            <a:normAutofit/>
          </a:bodyPr>
          <a:lstStyle/>
          <a:p>
            <a:pPr algn="r"/>
            <a:r>
              <a:rPr lang="en-US" sz="2800" b="1" i="1" dirty="0">
                <a:solidFill>
                  <a:schemeClr val="tx1"/>
                </a:solidFill>
              </a:rPr>
              <a:t>-by </a:t>
            </a:r>
            <a:r>
              <a:rPr lang="en-US" sz="2800" b="1" i="1" dirty="0" err="1">
                <a:solidFill>
                  <a:schemeClr val="tx1"/>
                </a:solidFill>
              </a:rPr>
              <a:t>Shweta</a:t>
            </a:r>
            <a:r>
              <a:rPr lang="en-US" sz="2800" b="1" i="1" dirty="0">
                <a:solidFill>
                  <a:schemeClr val="tx1"/>
                </a:solidFill>
              </a:rPr>
              <a:t> </a:t>
            </a:r>
            <a:r>
              <a:rPr lang="en-US" sz="2800" b="1" i="1" dirty="0" err="1">
                <a:solidFill>
                  <a:schemeClr val="tx1"/>
                </a:solidFill>
              </a:rPr>
              <a:t>Wanjari</a:t>
            </a:r>
            <a:endParaRPr lang="mr-IN" sz="2800" b="1" i="1" dirty="0">
              <a:solidFill>
                <a:schemeClr val="tx1"/>
              </a:solidFill>
            </a:endParaRPr>
          </a:p>
        </p:txBody>
      </p:sp>
      <p:pic>
        <p:nvPicPr>
          <p:cNvPr id="5" name="Picture 4"/>
          <p:cNvPicPr>
            <a:picLocks noChangeAspect="1"/>
          </p:cNvPicPr>
          <p:nvPr/>
        </p:nvPicPr>
        <p:blipFill rotWithShape="1">
          <a:blip r:embed="rId2" cstate="print">
            <a:extLst>
              <a:ext uri="{28A0092B-C50C-407E-A947-70E740481C1C}">
                <a14:useLocalDpi xmlns:a14="http://schemas.microsoft.com/office/drawing/2010/main" val="0"/>
              </a:ext>
            </a:extLst>
          </a:blip>
          <a:srcRect b="11623"/>
          <a:stretch/>
        </p:blipFill>
        <p:spPr>
          <a:xfrm>
            <a:off x="3934966" y="1871514"/>
            <a:ext cx="1128686" cy="1008112"/>
          </a:xfrm>
          <a:prstGeom prst="rect">
            <a:avLst/>
          </a:prstGeom>
        </p:spPr>
      </p:pic>
    </p:spTree>
    <p:extLst>
      <p:ext uri="{BB962C8B-B14F-4D97-AF65-F5344CB8AC3E}">
        <p14:creationId xmlns:p14="http://schemas.microsoft.com/office/powerpoint/2010/main" val="1566752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4E17089B-3D93-5FB8-5DF3-6008AF7FDF58}"/>
              </a:ext>
            </a:extLst>
          </p:cNvPr>
          <p:cNvSpPr>
            <a:spLocks noGrp="1"/>
          </p:cNvSpPr>
          <p:nvPr>
            <p:ph idx="1"/>
          </p:nvPr>
        </p:nvSpPr>
        <p:spPr/>
        <p:txBody>
          <a:bodyPr>
            <a:normAutofit/>
          </a:bodyPr>
          <a:lstStyle/>
          <a:p>
            <a:r>
              <a:rPr lang="en-IN" sz="2800" dirty="0">
                <a:solidFill>
                  <a:schemeClr val="tx1"/>
                </a:solidFill>
              </a:rPr>
              <a:t>Basic database knowledge</a:t>
            </a:r>
          </a:p>
          <a:p>
            <a:r>
              <a:rPr lang="en-IN" sz="2800" dirty="0">
                <a:solidFill>
                  <a:schemeClr val="tx1"/>
                </a:solidFill>
              </a:rPr>
              <a:t>Basic SQL knowledge</a:t>
            </a:r>
          </a:p>
        </p:txBody>
      </p:sp>
      <p:sp>
        <p:nvSpPr>
          <p:cNvPr id="2" name="Title 1"/>
          <p:cNvSpPr>
            <a:spLocks noGrp="1"/>
          </p:cNvSpPr>
          <p:nvPr>
            <p:ph type="title"/>
          </p:nvPr>
        </p:nvSpPr>
        <p:spPr/>
        <p:txBody>
          <a:bodyPr>
            <a:normAutofit/>
          </a:bodyPr>
          <a:lstStyle/>
          <a:p>
            <a:r>
              <a:rPr lang="en-IN" sz="5400" b="1" dirty="0">
                <a:solidFill>
                  <a:schemeClr val="tx1"/>
                </a:solidFill>
              </a:rPr>
              <a:t>Prerequisites</a:t>
            </a:r>
            <a:endParaRPr lang="mr-IN" sz="5400" b="1" dirty="0"/>
          </a:p>
        </p:txBody>
      </p:sp>
    </p:spTree>
    <p:extLst>
      <p:ext uri="{BB962C8B-B14F-4D97-AF65-F5344CB8AC3E}">
        <p14:creationId xmlns:p14="http://schemas.microsoft.com/office/powerpoint/2010/main" val="1416969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2637" y="2348880"/>
            <a:ext cx="10612045" cy="4021908"/>
          </a:xfrm>
        </p:spPr>
        <p:txBody>
          <a:bodyPr numCol="2">
            <a:normAutofit/>
          </a:bodyPr>
          <a:lstStyle/>
          <a:p>
            <a:r>
              <a:rPr lang="en-US" sz="2000" dirty="0">
                <a:solidFill>
                  <a:schemeClr val="tx1"/>
                </a:solidFill>
              </a:rPr>
              <a:t>Introduction to Snowflake </a:t>
            </a:r>
          </a:p>
          <a:p>
            <a:pPr fontAlgn="b"/>
            <a:r>
              <a:rPr lang="en-IN" sz="2000" u="none" strike="noStrike" dirty="0">
                <a:solidFill>
                  <a:schemeClr val="tx1"/>
                </a:solidFill>
                <a:effectLst/>
              </a:rPr>
              <a:t>Snowflake Architecture</a:t>
            </a:r>
          </a:p>
          <a:p>
            <a:pPr fontAlgn="b"/>
            <a:r>
              <a:rPr lang="en-US" sz="2000" u="none" strike="noStrike" dirty="0">
                <a:solidFill>
                  <a:schemeClr val="tx1"/>
                </a:solidFill>
                <a:effectLst/>
              </a:rPr>
              <a:t>Trial account creation ,</a:t>
            </a:r>
            <a:r>
              <a:rPr lang="en-IN" sz="2000" u="none" strike="noStrike" dirty="0">
                <a:solidFill>
                  <a:schemeClr val="tx1"/>
                </a:solidFill>
                <a:effectLst/>
              </a:rPr>
              <a:t> Snowflake </a:t>
            </a:r>
            <a:r>
              <a:rPr lang="en-US" sz="2000" dirty="0">
                <a:solidFill>
                  <a:schemeClr val="tx1"/>
                </a:solidFill>
              </a:rPr>
              <a:t>Pricing &amp; </a:t>
            </a:r>
            <a:r>
              <a:rPr lang="en-IN" sz="2000" u="none" strike="noStrike" dirty="0">
                <a:solidFill>
                  <a:schemeClr val="tx1"/>
                </a:solidFill>
                <a:effectLst/>
              </a:rPr>
              <a:t>Editions</a:t>
            </a:r>
            <a:r>
              <a:rPr lang="en-IN" sz="2000" dirty="0">
                <a:solidFill>
                  <a:schemeClr val="tx1"/>
                </a:solidFill>
                <a:latin typeface="Calibri" panose="020F0502020204030204" pitchFamily="34" charset="0"/>
              </a:rPr>
              <a:t> </a:t>
            </a:r>
            <a:r>
              <a:rPr lang="en-US" sz="2000" u="none" strike="noStrike" dirty="0">
                <a:solidFill>
                  <a:schemeClr val="tx1"/>
                </a:solidFill>
                <a:effectLst/>
              </a:rPr>
              <a:t>and Snowflake Web UI</a:t>
            </a:r>
          </a:p>
          <a:p>
            <a:pPr fontAlgn="b"/>
            <a:r>
              <a:rPr lang="en-US" sz="2000" dirty="0">
                <a:solidFill>
                  <a:schemeClr val="tx1"/>
                </a:solidFill>
              </a:rPr>
              <a:t>Snowflake Objects</a:t>
            </a:r>
            <a:endParaRPr lang="en-US" sz="2000" b="0" i="0" u="none" strike="noStrike" dirty="0">
              <a:solidFill>
                <a:schemeClr val="tx1"/>
              </a:solidFill>
              <a:effectLst/>
              <a:latin typeface="Calibri" panose="020F0502020204030204" pitchFamily="34" charset="0"/>
            </a:endParaRPr>
          </a:p>
          <a:p>
            <a:pPr fontAlgn="b"/>
            <a:r>
              <a:rPr lang="en-IN" sz="2000" u="none" strike="noStrike" dirty="0">
                <a:solidFill>
                  <a:schemeClr val="tx1"/>
                </a:solidFill>
                <a:effectLst/>
              </a:rPr>
              <a:t>Micro-partitioning and Data Clustering</a:t>
            </a:r>
          </a:p>
          <a:p>
            <a:pPr fontAlgn="b"/>
            <a:r>
              <a:rPr lang="en-IN" sz="2000" b="0" i="0" dirty="0">
                <a:solidFill>
                  <a:schemeClr val="tx1"/>
                </a:solidFill>
                <a:latin typeface="Calibri" panose="020F0502020204030204" pitchFamily="34" charset="0"/>
              </a:rPr>
              <a:t>Stages in snowflake</a:t>
            </a:r>
          </a:p>
          <a:p>
            <a:pPr fontAlgn="b"/>
            <a:r>
              <a:rPr lang="en-IN" sz="2000" u="none" strike="noStrike" dirty="0">
                <a:solidFill>
                  <a:schemeClr val="tx1"/>
                </a:solidFill>
                <a:effectLst/>
                <a:latin typeface="Calibri" panose="020F0502020204030204" pitchFamily="34" charset="0"/>
              </a:rPr>
              <a:t>Fileformats </a:t>
            </a:r>
            <a:r>
              <a:rPr lang="en-IN" sz="2000" dirty="0">
                <a:solidFill>
                  <a:schemeClr val="tx1"/>
                </a:solidFill>
                <a:latin typeface="Calibri" panose="020F0502020204030204" pitchFamily="34" charset="0"/>
              </a:rPr>
              <a:t>in snowflake</a:t>
            </a:r>
            <a:endParaRPr lang="en-IN" sz="2000" b="0" i="0" u="none" strike="noStrike" dirty="0">
              <a:solidFill>
                <a:schemeClr val="tx1"/>
              </a:solidFill>
              <a:effectLst/>
              <a:latin typeface="Calibri" panose="020F0502020204030204" pitchFamily="34" charset="0"/>
            </a:endParaRPr>
          </a:p>
          <a:p>
            <a:r>
              <a:rPr lang="en-US" sz="2000" u="none" strike="noStrike" dirty="0">
                <a:solidFill>
                  <a:schemeClr val="tx1"/>
                </a:solidFill>
                <a:effectLst/>
              </a:rPr>
              <a:t>Loading data and Transforming data</a:t>
            </a:r>
          </a:p>
          <a:p>
            <a:r>
              <a:rPr lang="en-US" sz="1800" dirty="0">
                <a:solidFill>
                  <a:schemeClr val="tx1"/>
                </a:solidFill>
              </a:rPr>
              <a:t>Unloading Data </a:t>
            </a:r>
            <a:endParaRPr lang="en-US" sz="2000" u="none" strike="noStrike" dirty="0">
              <a:solidFill>
                <a:schemeClr val="tx1"/>
              </a:solidFill>
              <a:effectLst/>
            </a:endParaRPr>
          </a:p>
          <a:p>
            <a:r>
              <a:rPr lang="en-US" sz="2000" dirty="0">
                <a:solidFill>
                  <a:schemeClr val="tx1"/>
                </a:solidFill>
              </a:rPr>
              <a:t>Snowflake Caching </a:t>
            </a:r>
          </a:p>
          <a:p>
            <a:r>
              <a:rPr lang="en-US" sz="2000" dirty="0">
                <a:solidFill>
                  <a:schemeClr val="tx1"/>
                </a:solidFill>
              </a:rPr>
              <a:t>Snowflake CLI</a:t>
            </a:r>
          </a:p>
          <a:p>
            <a:r>
              <a:rPr lang="en-US" sz="2000" dirty="0">
                <a:solidFill>
                  <a:schemeClr val="tx1"/>
                </a:solidFill>
              </a:rPr>
              <a:t>Access Control</a:t>
            </a:r>
          </a:p>
          <a:p>
            <a:r>
              <a:rPr lang="en-US" sz="2000" dirty="0">
                <a:solidFill>
                  <a:schemeClr val="tx1"/>
                </a:solidFill>
              </a:rPr>
              <a:t>Governance  and Continuous Data Protection</a:t>
            </a:r>
          </a:p>
          <a:p>
            <a:r>
              <a:rPr lang="en-US" sz="2000" dirty="0">
                <a:solidFill>
                  <a:schemeClr val="tx1"/>
                </a:solidFill>
              </a:rPr>
              <a:t>Zero copy Cloning</a:t>
            </a:r>
          </a:p>
          <a:p>
            <a:r>
              <a:rPr lang="en-US" sz="2000" dirty="0">
                <a:solidFill>
                  <a:schemeClr val="tx1"/>
                </a:solidFill>
              </a:rPr>
              <a:t>Stored procedure</a:t>
            </a:r>
          </a:p>
          <a:p>
            <a:r>
              <a:rPr lang="en-US" sz="2000" dirty="0">
                <a:solidFill>
                  <a:schemeClr val="tx1"/>
                </a:solidFill>
              </a:rPr>
              <a:t>Continuous Data Pipeline(stream/task)</a:t>
            </a:r>
          </a:p>
          <a:p>
            <a:r>
              <a:rPr lang="en-US" sz="2000" dirty="0">
                <a:solidFill>
                  <a:schemeClr val="tx1"/>
                </a:solidFill>
              </a:rPr>
              <a:t>Data Sharing</a:t>
            </a:r>
          </a:p>
          <a:p>
            <a:r>
              <a:rPr lang="en-US" sz="1800" dirty="0">
                <a:solidFill>
                  <a:schemeClr val="tx1"/>
                </a:solidFill>
              </a:rPr>
              <a:t>Search Optimization </a:t>
            </a:r>
          </a:p>
          <a:p>
            <a:r>
              <a:rPr lang="en-US" sz="1800" dirty="0">
                <a:solidFill>
                  <a:schemeClr val="tx1"/>
                </a:solidFill>
              </a:rPr>
              <a:t>Resource Monitor</a:t>
            </a:r>
          </a:p>
          <a:p>
            <a:endParaRPr lang="mr-IN" sz="2000" dirty="0">
              <a:solidFill>
                <a:schemeClr val="tx1"/>
              </a:solidFill>
            </a:endParaRPr>
          </a:p>
        </p:txBody>
      </p:sp>
      <p:sp>
        <p:nvSpPr>
          <p:cNvPr id="2" name="Title 1"/>
          <p:cNvSpPr>
            <a:spLocks noGrp="1"/>
          </p:cNvSpPr>
          <p:nvPr>
            <p:ph type="title"/>
          </p:nvPr>
        </p:nvSpPr>
        <p:spPr/>
        <p:txBody>
          <a:bodyPr>
            <a:normAutofit/>
          </a:bodyPr>
          <a:lstStyle/>
          <a:p>
            <a:r>
              <a:rPr lang="en-IN" sz="5400" b="1" dirty="0">
                <a:solidFill>
                  <a:schemeClr val="tx1"/>
                </a:solidFill>
              </a:rPr>
              <a:t>Content</a:t>
            </a:r>
            <a:endParaRPr lang="mr-IN" sz="5400" b="1" dirty="0"/>
          </a:p>
        </p:txBody>
      </p:sp>
    </p:spTree>
    <p:extLst>
      <p:ext uri="{BB962C8B-B14F-4D97-AF65-F5344CB8AC3E}">
        <p14:creationId xmlns:p14="http://schemas.microsoft.com/office/powerpoint/2010/main" val="2856357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D94583-766F-7C93-407A-B94633D3D466}"/>
              </a:ext>
            </a:extLst>
          </p:cNvPr>
          <p:cNvSpPr>
            <a:spLocks noGrp="1"/>
          </p:cNvSpPr>
          <p:nvPr>
            <p:ph idx="1"/>
          </p:nvPr>
        </p:nvSpPr>
        <p:spPr>
          <a:xfrm>
            <a:off x="262558" y="2204864"/>
            <a:ext cx="11665296" cy="4536504"/>
          </a:xfrm>
          <a:solidFill>
            <a:schemeClr val="bg1"/>
          </a:solidFill>
        </p:spPr>
        <p:txBody>
          <a:bodyPr>
            <a:noAutofit/>
          </a:bodyPr>
          <a:lstStyle/>
          <a:p>
            <a:pPr marL="0" indent="0">
              <a:buNone/>
            </a:pPr>
            <a:endParaRPr lang="en-IN" sz="1600" dirty="0">
              <a:latin typeface="Abadi" panose="020B0604020104020204" pitchFamily="34" charset="0"/>
            </a:endParaRPr>
          </a:p>
          <a:p>
            <a:r>
              <a:rPr lang="en-IN" sz="1600" dirty="0">
                <a:latin typeface="Abadi" panose="020B0604020104020204" pitchFamily="34" charset="0"/>
              </a:rPr>
              <a:t>Building traditional data warehouses involved purchasing the required hardware infrastructure and software licenses and maintaining the data in your own data centers. The data warehouse represents a large storage hub for the company’s information, which is integrated from different resources such as sales, marketing and customer accounts. It does not involve those databases utilized in </a:t>
            </a:r>
            <a:r>
              <a:rPr lang="en-IN" sz="1600" b="1" dirty="0">
                <a:latin typeface="Abadi" panose="020B0604020104020204" pitchFamily="34" charset="0"/>
              </a:rPr>
              <a:t>day-to-day transactions</a:t>
            </a:r>
            <a:r>
              <a:rPr lang="en-IN" sz="1600" dirty="0">
                <a:latin typeface="Abadi" panose="020B0604020104020204" pitchFamily="34" charset="0"/>
              </a:rPr>
              <a:t>; instead, it maintains historical data for analysis reasons so that business firms trace trends and patterns. This is a central platform from where any business firm easily mines all its information for better decision-making.</a:t>
            </a:r>
          </a:p>
          <a:p>
            <a:r>
              <a:rPr lang="en-IN" sz="1600" dirty="0">
                <a:latin typeface="Abadi" panose="020B0604020104020204" pitchFamily="34" charset="0"/>
              </a:rPr>
              <a:t>Snowflake is an excellent choice for companies in modern times seeking ways to store and </a:t>
            </a:r>
            <a:r>
              <a:rPr lang="en-IN" sz="1600" dirty="0" err="1">
                <a:latin typeface="Abadi" panose="020B0604020104020204" pitchFamily="34" charset="0"/>
              </a:rPr>
              <a:t>analyze</a:t>
            </a:r>
            <a:r>
              <a:rPr lang="en-IN" sz="1600" dirty="0">
                <a:latin typeface="Abadi" panose="020B0604020104020204" pitchFamily="34" charset="0"/>
              </a:rPr>
              <a:t> data. Snowflake, the technology company, facilitates businesses with their data through a cloud data warehouse for storage and analytics, thereby making it easier for them to understand the insights from their data to drive better decisions. Developed in 2012 by </a:t>
            </a:r>
            <a:r>
              <a:rPr lang="en-IN" sz="1600" b="1" dirty="0">
                <a:latin typeface="Abadi" panose="020B0604020104020204" pitchFamily="34" charset="0"/>
              </a:rPr>
              <a:t>Benoit </a:t>
            </a:r>
            <a:r>
              <a:rPr lang="en-IN" sz="1600" b="1" dirty="0" err="1">
                <a:latin typeface="Abadi" panose="020B0604020104020204" pitchFamily="34" charset="0"/>
              </a:rPr>
              <a:t>Dageville</a:t>
            </a:r>
            <a:r>
              <a:rPr lang="en-IN" sz="1600" dirty="0">
                <a:latin typeface="Abadi" panose="020B0604020104020204" pitchFamily="34" charset="0"/>
              </a:rPr>
              <a:t>, </a:t>
            </a:r>
            <a:r>
              <a:rPr lang="en-IN" sz="1600" b="1" dirty="0">
                <a:latin typeface="Abadi" panose="020B0604020104020204" pitchFamily="34" charset="0"/>
              </a:rPr>
              <a:t>Thierry </a:t>
            </a:r>
            <a:r>
              <a:rPr lang="en-IN" sz="1600" b="1" dirty="0" err="1">
                <a:latin typeface="Abadi" panose="020B0604020104020204" pitchFamily="34" charset="0"/>
              </a:rPr>
              <a:t>Cruanes</a:t>
            </a:r>
            <a:r>
              <a:rPr lang="en-IN" sz="1600" b="1" dirty="0">
                <a:latin typeface="Abadi" panose="020B0604020104020204" pitchFamily="34" charset="0"/>
              </a:rPr>
              <a:t> </a:t>
            </a:r>
            <a:r>
              <a:rPr lang="en-IN" sz="1600" dirty="0">
                <a:latin typeface="Abadi" panose="020B0604020104020204" pitchFamily="34" charset="0"/>
              </a:rPr>
              <a:t>and</a:t>
            </a:r>
            <a:r>
              <a:rPr lang="en-IN" sz="1600" b="1" dirty="0">
                <a:latin typeface="Abadi" panose="020B0604020104020204" pitchFamily="34" charset="0"/>
              </a:rPr>
              <a:t> Marcin Zukowski</a:t>
            </a:r>
            <a:endParaRPr lang="en-IN" sz="1600" dirty="0">
              <a:latin typeface="Abadi" panose="020B0604020104020204" pitchFamily="34" charset="0"/>
            </a:endParaRPr>
          </a:p>
          <a:p>
            <a:r>
              <a:rPr lang="en-IN" sz="1600" dirty="0">
                <a:latin typeface="Abadi" panose="020B0604020104020204" pitchFamily="34" charset="0"/>
              </a:rPr>
              <a:t>Snowflake is not just a data warehouse; it’s an all-in-one data hub. It’s good for storing information in a data warehousing fashion, </a:t>
            </a:r>
            <a:r>
              <a:rPr lang="en-IN" sz="1600" dirty="0" err="1">
                <a:latin typeface="Abadi" panose="020B0604020104020204" pitchFamily="34" charset="0"/>
              </a:rPr>
              <a:t>analyzing</a:t>
            </a:r>
            <a:r>
              <a:rPr lang="en-IN" sz="1600" dirty="0">
                <a:latin typeface="Abadi" panose="020B0604020104020204" pitchFamily="34" charset="0"/>
              </a:rPr>
              <a:t> large amounts in a data lake, creating tools to work with in data engineering, using it to find out trends in data science and even building applications based on it. All this data is shared securely with others in real time.</a:t>
            </a:r>
          </a:p>
          <a:p>
            <a:r>
              <a:rPr lang="en-IN" sz="1600" dirty="0">
                <a:latin typeface="Abadi" panose="020B0604020104020204" pitchFamily="34" charset="0"/>
              </a:rPr>
              <a:t>It is a fully managed SaaS (software as a service) offering that enables data storage, processing, and analytic solutions that are physically separated but logically integrated which are faster, easier to use and far more flexible than traditional offerings.</a:t>
            </a:r>
          </a:p>
        </p:txBody>
      </p:sp>
      <p:sp>
        <p:nvSpPr>
          <p:cNvPr id="3" name="Title 1">
            <a:extLst>
              <a:ext uri="{FF2B5EF4-FFF2-40B4-BE49-F238E27FC236}">
                <a16:creationId xmlns:a16="http://schemas.microsoft.com/office/drawing/2014/main" id="{6D07A7A2-60D7-01D7-3592-310C5A6C8DC0}"/>
              </a:ext>
            </a:extLst>
          </p:cNvPr>
          <p:cNvSpPr>
            <a:spLocks noGrp="1"/>
          </p:cNvSpPr>
          <p:nvPr>
            <p:ph type="title"/>
          </p:nvPr>
        </p:nvSpPr>
        <p:spPr>
          <a:xfrm>
            <a:off x="694606" y="332656"/>
            <a:ext cx="10971372" cy="1252728"/>
          </a:xfrm>
        </p:spPr>
        <p:txBody>
          <a:bodyPr>
            <a:normAutofit/>
          </a:bodyPr>
          <a:lstStyle/>
          <a:p>
            <a:r>
              <a:rPr lang="en-IN" sz="6000" b="1" dirty="0">
                <a:solidFill>
                  <a:schemeClr val="tx1"/>
                </a:solidFill>
              </a:rPr>
              <a:t>Introduction</a:t>
            </a:r>
            <a:endParaRPr lang="mr-IN" sz="6000" b="1" dirty="0"/>
          </a:p>
        </p:txBody>
      </p:sp>
    </p:spTree>
    <p:extLst>
      <p:ext uri="{BB962C8B-B14F-4D97-AF65-F5344CB8AC3E}">
        <p14:creationId xmlns:p14="http://schemas.microsoft.com/office/powerpoint/2010/main" val="2261485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574" y="1988840"/>
            <a:ext cx="10081122" cy="2132169"/>
          </a:xfrm>
        </p:spPr>
        <p:txBody>
          <a:bodyPr>
            <a:normAutofit fontScale="92500" lnSpcReduction="20000"/>
          </a:bodyPr>
          <a:lstStyle/>
          <a:p>
            <a:r>
              <a:rPr lang="en-US" dirty="0">
                <a:solidFill>
                  <a:srgbClr val="1D263B"/>
                </a:solidFill>
                <a:effectLst/>
              </a:rPr>
              <a:t>Snowflake is a cloud based data warehousing solution</a:t>
            </a:r>
            <a:r>
              <a:rPr lang="en-US" dirty="0">
                <a:solidFill>
                  <a:srgbClr val="1D263B"/>
                </a:solidFill>
              </a:rPr>
              <a:t>, </a:t>
            </a:r>
            <a:r>
              <a:rPr lang="en-US" dirty="0">
                <a:solidFill>
                  <a:srgbClr val="1D263B"/>
                </a:solidFill>
                <a:effectLst/>
              </a:rPr>
              <a:t>Founded in 2012.</a:t>
            </a:r>
          </a:p>
          <a:p>
            <a:r>
              <a:rPr lang="en-US" b="0" dirty="0">
                <a:solidFill>
                  <a:srgbClr val="1D263B"/>
                </a:solidFill>
                <a:effectLst/>
              </a:rPr>
              <a:t>Snowflake offers data storage and analytics services. </a:t>
            </a:r>
          </a:p>
          <a:p>
            <a:r>
              <a:rPr lang="en-US" dirty="0">
                <a:solidFill>
                  <a:srgbClr val="1D263B"/>
                </a:solidFill>
              </a:rPr>
              <a:t>Snowflake does not have their own infrastructure.</a:t>
            </a:r>
          </a:p>
          <a:p>
            <a:r>
              <a:rPr lang="en-US" b="0" dirty="0">
                <a:solidFill>
                  <a:srgbClr val="1D263B"/>
                </a:solidFill>
                <a:effectLst/>
              </a:rPr>
              <a:t>It runs on Amazon S3, Microsoft Azure, and the Google Cloud platform.</a:t>
            </a:r>
          </a:p>
          <a:p>
            <a:r>
              <a:rPr lang="en-US" dirty="0">
                <a:solidFill>
                  <a:srgbClr val="1D263B"/>
                </a:solidFill>
              </a:rPr>
              <a:t>Snowflake runs completely on cloud infrastructure. </a:t>
            </a:r>
          </a:p>
          <a:p>
            <a:r>
              <a:rPr lang="en-US" dirty="0">
                <a:solidFill>
                  <a:srgbClr val="1D263B"/>
                </a:solidFill>
              </a:rPr>
              <a:t>Available as Software-as-a-Service.</a:t>
            </a:r>
          </a:p>
        </p:txBody>
      </p:sp>
      <p:sp>
        <p:nvSpPr>
          <p:cNvPr id="2" name="Title 1"/>
          <p:cNvSpPr>
            <a:spLocks noGrp="1"/>
          </p:cNvSpPr>
          <p:nvPr>
            <p:ph type="title"/>
          </p:nvPr>
        </p:nvSpPr>
        <p:spPr/>
        <p:txBody>
          <a:bodyPr/>
          <a:lstStyle/>
          <a:p>
            <a:r>
              <a:rPr lang="en-US" b="1" dirty="0">
                <a:solidFill>
                  <a:schemeClr val="tx1"/>
                </a:solidFill>
              </a:rPr>
              <a:t>What is Snowflake?</a:t>
            </a:r>
            <a:endParaRPr lang="mr-IN" b="1" dirty="0">
              <a:solidFill>
                <a:schemeClr val="tx1"/>
              </a:solidFill>
            </a:endParaRPr>
          </a:p>
        </p:txBody>
      </p:sp>
      <p:pic>
        <p:nvPicPr>
          <p:cNvPr id="1026" name="Picture 2">
            <a:extLst>
              <a:ext uri="{FF2B5EF4-FFF2-40B4-BE49-F238E27FC236}">
                <a16:creationId xmlns:a16="http://schemas.microsoft.com/office/drawing/2014/main" id="{D3AF7C26-E436-54AB-B0A7-4052BFEFCF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2718" y="4121008"/>
            <a:ext cx="8324850" cy="2790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140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26654" y="2204864"/>
            <a:ext cx="9289032" cy="3450696"/>
          </a:xfrm>
        </p:spPr>
        <p:txBody>
          <a:bodyPr>
            <a:normAutofit fontScale="92500" lnSpcReduction="10000"/>
          </a:bodyPr>
          <a:lstStyle/>
          <a:p>
            <a:r>
              <a:rPr lang="en-US" dirty="0">
                <a:solidFill>
                  <a:srgbClr val="1D263B"/>
                </a:solidFill>
                <a:effectLst/>
              </a:rPr>
              <a:t>Pay for what you use model.</a:t>
            </a:r>
          </a:p>
          <a:p>
            <a:r>
              <a:rPr lang="en-US" dirty="0">
                <a:solidFill>
                  <a:srgbClr val="1D263B"/>
                </a:solidFill>
              </a:rPr>
              <a:t>It is a cloud platform, no Infrastructure cost.</a:t>
            </a:r>
          </a:p>
          <a:p>
            <a:r>
              <a:rPr lang="en-US" dirty="0">
                <a:solidFill>
                  <a:srgbClr val="1D263B"/>
                </a:solidFill>
              </a:rPr>
              <a:t>Snowflake is more than a </a:t>
            </a:r>
            <a:r>
              <a:rPr lang="en-US" dirty="0" err="1">
                <a:solidFill>
                  <a:srgbClr val="1D263B"/>
                </a:solidFill>
              </a:rPr>
              <a:t>Datawarehouse</a:t>
            </a:r>
            <a:r>
              <a:rPr lang="en-US" dirty="0">
                <a:solidFill>
                  <a:srgbClr val="1D263B"/>
                </a:solidFill>
              </a:rPr>
              <a:t>.</a:t>
            </a:r>
          </a:p>
          <a:p>
            <a:r>
              <a:rPr lang="en-US" dirty="0">
                <a:solidFill>
                  <a:srgbClr val="1D263B"/>
                </a:solidFill>
              </a:rPr>
              <a:t>It also helps in some transformations, create data pipes, create visual dashboard etc.</a:t>
            </a:r>
          </a:p>
          <a:p>
            <a:r>
              <a:rPr lang="en-IN" dirty="0">
                <a:solidFill>
                  <a:srgbClr val="1D263B"/>
                </a:solidFill>
              </a:rPr>
              <a:t>High scalability.</a:t>
            </a:r>
            <a:endParaRPr lang="en-US" dirty="0">
              <a:solidFill>
                <a:srgbClr val="1D263B"/>
              </a:solidFill>
            </a:endParaRPr>
          </a:p>
          <a:p>
            <a:r>
              <a:rPr lang="en-US" dirty="0">
                <a:solidFill>
                  <a:srgbClr val="1D263B"/>
                </a:solidFill>
              </a:rPr>
              <a:t>Data recovery, backup, sharing, masking.</a:t>
            </a:r>
          </a:p>
          <a:p>
            <a:r>
              <a:rPr lang="en-US" dirty="0">
                <a:solidFill>
                  <a:srgbClr val="1D263B"/>
                </a:solidFill>
              </a:rPr>
              <a:t>Can analyze the data present in external files.</a:t>
            </a:r>
          </a:p>
          <a:p>
            <a:r>
              <a:rPr lang="en-US" dirty="0">
                <a:solidFill>
                  <a:srgbClr val="1D263B"/>
                </a:solidFill>
              </a:rPr>
              <a:t>Easy integration with Data Visualization/Reporting tolls.</a:t>
            </a:r>
          </a:p>
          <a:p>
            <a:endParaRPr lang="en-US" dirty="0">
              <a:solidFill>
                <a:srgbClr val="1D263B"/>
              </a:solidFill>
            </a:endParaRPr>
          </a:p>
          <a:p>
            <a:endParaRPr lang="en-US" dirty="0">
              <a:solidFill>
                <a:srgbClr val="1D263B"/>
              </a:solidFill>
              <a:effectLst/>
            </a:endParaRPr>
          </a:p>
          <a:p>
            <a:endParaRPr lang="en-US" dirty="0">
              <a:solidFill>
                <a:srgbClr val="1D263B"/>
              </a:solidFill>
            </a:endParaRPr>
          </a:p>
          <a:p>
            <a:endParaRPr lang="en-IN" dirty="0"/>
          </a:p>
          <a:p>
            <a:endParaRPr lang="mr-IN" dirty="0"/>
          </a:p>
        </p:txBody>
      </p:sp>
      <p:sp>
        <p:nvSpPr>
          <p:cNvPr id="2" name="Title 1"/>
          <p:cNvSpPr>
            <a:spLocks noGrp="1"/>
          </p:cNvSpPr>
          <p:nvPr>
            <p:ph type="title"/>
          </p:nvPr>
        </p:nvSpPr>
        <p:spPr/>
        <p:txBody>
          <a:bodyPr/>
          <a:lstStyle/>
          <a:p>
            <a:r>
              <a:rPr lang="en-US" b="1" dirty="0">
                <a:solidFill>
                  <a:schemeClr val="tx1"/>
                </a:solidFill>
              </a:rPr>
              <a:t>Why Snowflake?</a:t>
            </a:r>
            <a:endParaRPr lang="mr-IN" dirty="0">
              <a:solidFill>
                <a:schemeClr val="tx1"/>
              </a:solidFill>
            </a:endParaRPr>
          </a:p>
        </p:txBody>
      </p:sp>
    </p:spTree>
    <p:extLst>
      <p:ext uri="{BB962C8B-B14F-4D97-AF65-F5344CB8AC3E}">
        <p14:creationId xmlns:p14="http://schemas.microsoft.com/office/powerpoint/2010/main" val="2092445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2969AD9C-58EA-463E-A811-5AB30F0057AA}"/>
              </a:ext>
            </a:extLst>
          </p:cNvPr>
          <p:cNvGraphicFramePr>
            <a:graphicFrameLocks noGrp="1"/>
          </p:cNvGraphicFramePr>
          <p:nvPr>
            <p:ph idx="1"/>
            <p:extLst>
              <p:ext uri="{D42A27DB-BD31-4B8C-83A1-F6EECF244321}">
                <p14:modId xmlns:p14="http://schemas.microsoft.com/office/powerpoint/2010/main" val="1446189561"/>
              </p:ext>
            </p:extLst>
          </p:nvPr>
        </p:nvGraphicFramePr>
        <p:xfrm>
          <a:off x="334566" y="1628801"/>
          <a:ext cx="11521279" cy="4995622"/>
        </p:xfrm>
        <a:graphic>
          <a:graphicData uri="http://schemas.openxmlformats.org/drawingml/2006/table">
            <a:tbl>
              <a:tblPr firstRow="1" bandRow="1">
                <a:tableStyleId>{5C22544A-7EE6-4342-B048-85BDC9FD1C3A}</a:tableStyleId>
              </a:tblPr>
              <a:tblGrid>
                <a:gridCol w="3565296">
                  <a:extLst>
                    <a:ext uri="{9D8B030D-6E8A-4147-A177-3AD203B41FA5}">
                      <a16:colId xmlns:a16="http://schemas.microsoft.com/office/drawing/2014/main" val="630728961"/>
                    </a:ext>
                  </a:extLst>
                </a:gridCol>
                <a:gridCol w="3128616">
                  <a:extLst>
                    <a:ext uri="{9D8B030D-6E8A-4147-A177-3AD203B41FA5}">
                      <a16:colId xmlns:a16="http://schemas.microsoft.com/office/drawing/2014/main" val="572050095"/>
                    </a:ext>
                  </a:extLst>
                </a:gridCol>
                <a:gridCol w="4827367">
                  <a:extLst>
                    <a:ext uri="{9D8B030D-6E8A-4147-A177-3AD203B41FA5}">
                      <a16:colId xmlns:a16="http://schemas.microsoft.com/office/drawing/2014/main" val="3830722130"/>
                    </a:ext>
                  </a:extLst>
                </a:gridCol>
              </a:tblGrid>
              <a:tr h="923942">
                <a:tc>
                  <a:txBody>
                    <a:bodyPr/>
                    <a:lstStyle/>
                    <a:p>
                      <a:pPr algn="ctr"/>
                      <a:r>
                        <a:rPr lang="en-IN" sz="2800" dirty="0">
                          <a:solidFill>
                            <a:schemeClr val="bg1"/>
                          </a:solidFill>
                        </a:rPr>
                        <a:t>Feature</a:t>
                      </a:r>
                    </a:p>
                  </a:txBody>
                  <a:tcPr marL="121904" marR="121904"/>
                </a:tc>
                <a:tc>
                  <a:txBody>
                    <a:bodyPr/>
                    <a:lstStyle/>
                    <a:p>
                      <a:pPr algn="ctr"/>
                      <a:r>
                        <a:rPr lang="en-IN" sz="2800" b="1" dirty="0">
                          <a:solidFill>
                            <a:schemeClr val="bg1"/>
                          </a:solidFill>
                        </a:rPr>
                        <a:t>Traditional WH </a:t>
                      </a:r>
                      <a:endParaRPr lang="en-IN" sz="2800" dirty="0">
                        <a:solidFill>
                          <a:schemeClr val="bg1"/>
                        </a:solidFill>
                      </a:endParaRPr>
                    </a:p>
                  </a:txBody>
                  <a:tcPr marL="121904" marR="121904"/>
                </a:tc>
                <a:tc>
                  <a:txBody>
                    <a:bodyPr/>
                    <a:lstStyle/>
                    <a:p>
                      <a:pPr algn="ctr"/>
                      <a:r>
                        <a:rPr lang="en-IN" sz="2800" b="1" kern="1200" dirty="0">
                          <a:solidFill>
                            <a:schemeClr val="bg1"/>
                          </a:solidFill>
                          <a:latin typeface="+mn-lt"/>
                          <a:ea typeface="+mn-ea"/>
                          <a:cs typeface="+mn-cs"/>
                        </a:rPr>
                        <a:t>Snowflake</a:t>
                      </a:r>
                    </a:p>
                  </a:txBody>
                  <a:tcPr marL="121904" marR="121904"/>
                </a:tc>
                <a:extLst>
                  <a:ext uri="{0D108BD9-81ED-4DB2-BD59-A6C34878D82A}">
                    <a16:rowId xmlns:a16="http://schemas.microsoft.com/office/drawing/2014/main" val="1698534555"/>
                  </a:ext>
                </a:extLst>
              </a:tr>
              <a:tr h="6661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t>Infrastructure cost</a:t>
                      </a:r>
                    </a:p>
                  </a:txBody>
                  <a:tcPr marL="121904" marR="121904"/>
                </a:tc>
                <a:tc>
                  <a:txBody>
                    <a:bodyPr/>
                    <a:lstStyle/>
                    <a:p>
                      <a:r>
                        <a:rPr lang="en-IN" sz="1800" dirty="0"/>
                        <a:t>yes</a:t>
                      </a:r>
                    </a:p>
                  </a:txBody>
                  <a:tcPr marL="121904" marR="121904"/>
                </a:tc>
                <a:tc>
                  <a:txBody>
                    <a:bodyPr/>
                    <a:lstStyle/>
                    <a:p>
                      <a:r>
                        <a:rPr lang="en-IN" sz="1800" dirty="0"/>
                        <a:t>No Infrastructure cost</a:t>
                      </a:r>
                    </a:p>
                  </a:txBody>
                  <a:tcPr marL="121904" marR="121904"/>
                </a:tc>
                <a:extLst>
                  <a:ext uri="{0D108BD9-81ED-4DB2-BD59-A6C34878D82A}">
                    <a16:rowId xmlns:a16="http://schemas.microsoft.com/office/drawing/2014/main" val="4208771680"/>
                  </a:ext>
                </a:extLst>
              </a:tr>
              <a:tr h="666148">
                <a:tc>
                  <a:txBody>
                    <a:bodyPr/>
                    <a:lstStyle/>
                    <a:p>
                      <a:r>
                        <a:rPr lang="en-IN" sz="1800" dirty="0"/>
                        <a:t>Handle semi structure data</a:t>
                      </a:r>
                    </a:p>
                  </a:txBody>
                  <a:tcPr marL="121904" marR="121904"/>
                </a:tc>
                <a:tc>
                  <a:txBody>
                    <a:bodyPr/>
                    <a:lstStyle/>
                    <a:p>
                      <a:r>
                        <a:rPr lang="en-IN" sz="1800" dirty="0"/>
                        <a:t>Need ETL tools</a:t>
                      </a:r>
                    </a:p>
                  </a:txBody>
                  <a:tcPr marL="121904" marR="121904"/>
                </a:tc>
                <a:tc>
                  <a:txBody>
                    <a:bodyPr/>
                    <a:lstStyle/>
                    <a:p>
                      <a:r>
                        <a:rPr lang="en-IN" sz="1800" dirty="0"/>
                        <a:t>Snowflake can process</a:t>
                      </a:r>
                    </a:p>
                  </a:txBody>
                  <a:tcPr marL="121904" marR="121904"/>
                </a:tc>
                <a:extLst>
                  <a:ext uri="{0D108BD9-81ED-4DB2-BD59-A6C34878D82A}">
                    <a16:rowId xmlns:a16="http://schemas.microsoft.com/office/drawing/2014/main" val="3312805621"/>
                  </a:ext>
                </a:extLst>
              </a:tr>
              <a:tr h="666148">
                <a:tc>
                  <a:txBody>
                    <a:bodyPr/>
                    <a:lstStyle/>
                    <a:p>
                      <a:r>
                        <a:rPr lang="en-IN" sz="1800" dirty="0"/>
                        <a:t>Data loading and unloading</a:t>
                      </a:r>
                    </a:p>
                  </a:txBody>
                  <a:tcPr marL="121904" marR="12190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t>Need ETL tools</a:t>
                      </a:r>
                    </a:p>
                  </a:txBody>
                  <a:tcPr marL="121904" marR="121904"/>
                </a:tc>
                <a:tc>
                  <a:txBody>
                    <a:bodyPr/>
                    <a:lstStyle/>
                    <a:p>
                      <a:r>
                        <a:rPr lang="en-IN" sz="1800" dirty="0"/>
                        <a:t>Can be done by using “COPY”</a:t>
                      </a:r>
                    </a:p>
                  </a:txBody>
                  <a:tcPr marL="121904" marR="121904"/>
                </a:tc>
                <a:extLst>
                  <a:ext uri="{0D108BD9-81ED-4DB2-BD59-A6C34878D82A}">
                    <a16:rowId xmlns:a16="http://schemas.microsoft.com/office/drawing/2014/main" val="3369994782"/>
                  </a:ext>
                </a:extLst>
              </a:tr>
              <a:tr h="901407">
                <a:tc>
                  <a:txBody>
                    <a:bodyPr/>
                    <a:lstStyle/>
                    <a:p>
                      <a:r>
                        <a:rPr lang="en-IN" sz="1800" dirty="0"/>
                        <a:t>Scalability</a:t>
                      </a:r>
                    </a:p>
                  </a:txBody>
                  <a:tcPr marL="121904" marR="121904"/>
                </a:tc>
                <a:tc>
                  <a:txBody>
                    <a:bodyPr/>
                    <a:lstStyle/>
                    <a:p>
                      <a:r>
                        <a:rPr lang="en-IN" sz="1800" dirty="0"/>
                        <a:t>Not an easy task</a:t>
                      </a:r>
                    </a:p>
                  </a:txBody>
                  <a:tcPr marL="121904" marR="121904"/>
                </a:tc>
                <a:tc>
                  <a:txBody>
                    <a:bodyPr/>
                    <a:lstStyle/>
                    <a:p>
                      <a:r>
                        <a:rPr lang="en-IN" sz="1800" dirty="0"/>
                        <a:t>Highly Scalable</a:t>
                      </a:r>
                    </a:p>
                    <a:p>
                      <a:r>
                        <a:rPr lang="en-IN" sz="1800" dirty="0"/>
                        <a:t>(support Scale-up and Scale-out)</a:t>
                      </a:r>
                    </a:p>
                  </a:txBody>
                  <a:tcPr marL="121904" marR="121904"/>
                </a:tc>
                <a:extLst>
                  <a:ext uri="{0D108BD9-81ED-4DB2-BD59-A6C34878D82A}">
                    <a16:rowId xmlns:a16="http://schemas.microsoft.com/office/drawing/2014/main" val="2743379994"/>
                  </a:ext>
                </a:extLst>
              </a:tr>
              <a:tr h="1171829">
                <a:tc>
                  <a:txBody>
                    <a:bodyPr/>
                    <a:lstStyle/>
                    <a:p>
                      <a:r>
                        <a:rPr lang="en-IN" sz="1800" dirty="0"/>
                        <a:t>Database Administration</a:t>
                      </a:r>
                    </a:p>
                  </a:txBody>
                  <a:tcPr marL="121904" marR="12190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t>Highly Required</a:t>
                      </a:r>
                    </a:p>
                  </a:txBody>
                  <a:tcPr marL="121904" marR="121904"/>
                </a:tc>
                <a:tc>
                  <a:txBody>
                    <a:bodyPr/>
                    <a:lstStyle/>
                    <a:p>
                      <a:r>
                        <a:rPr lang="en-IN" sz="1800" b="0" i="0" kern="1200" dirty="0">
                          <a:solidFill>
                            <a:schemeClr val="dk1"/>
                          </a:solidFill>
                          <a:effectLst/>
                          <a:latin typeface="+mn-lt"/>
                          <a:ea typeface="+mn-ea"/>
                          <a:cs typeface="+mn-cs"/>
                        </a:rPr>
                        <a:t>In-built performance optimization with its micro partitions and cluster keys</a:t>
                      </a:r>
                      <a:endParaRPr lang="en-IN" sz="1800" dirty="0"/>
                    </a:p>
                  </a:txBody>
                  <a:tcPr marL="121904" marR="121904"/>
                </a:tc>
                <a:extLst>
                  <a:ext uri="{0D108BD9-81ED-4DB2-BD59-A6C34878D82A}">
                    <a16:rowId xmlns:a16="http://schemas.microsoft.com/office/drawing/2014/main" val="35454245"/>
                  </a:ext>
                </a:extLst>
              </a:tr>
            </a:tbl>
          </a:graphicData>
        </a:graphic>
      </p:graphicFrame>
      <p:sp>
        <p:nvSpPr>
          <p:cNvPr id="2" name="Title 1"/>
          <p:cNvSpPr>
            <a:spLocks noGrp="1"/>
          </p:cNvSpPr>
          <p:nvPr>
            <p:ph type="title"/>
          </p:nvPr>
        </p:nvSpPr>
        <p:spPr>
          <a:xfrm>
            <a:off x="609522" y="274638"/>
            <a:ext cx="11086557" cy="1143000"/>
          </a:xfrm>
        </p:spPr>
        <p:txBody>
          <a:bodyPr/>
          <a:lstStyle/>
          <a:p>
            <a:r>
              <a:rPr lang="en-IN" b="1" dirty="0">
                <a:solidFill>
                  <a:schemeClr val="tx1"/>
                </a:solidFill>
              </a:rPr>
              <a:t>Traditional WH Vs Snowflake</a:t>
            </a:r>
            <a:endParaRPr lang="mr-IN" dirty="0">
              <a:solidFill>
                <a:schemeClr val="tx1"/>
              </a:solidFill>
            </a:endParaRPr>
          </a:p>
        </p:txBody>
      </p:sp>
    </p:spTree>
    <p:extLst>
      <p:ext uri="{BB962C8B-B14F-4D97-AF65-F5344CB8AC3E}">
        <p14:creationId xmlns:p14="http://schemas.microsoft.com/office/powerpoint/2010/main" val="651163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mr-IN"/>
          </a:p>
        </p:txBody>
      </p:sp>
      <p:sp>
        <p:nvSpPr>
          <p:cNvPr id="2" name="Title 1"/>
          <p:cNvSpPr>
            <a:spLocks noGrp="1"/>
          </p:cNvSpPr>
          <p:nvPr>
            <p:ph type="title"/>
          </p:nvPr>
        </p:nvSpPr>
        <p:spPr/>
        <p:txBody>
          <a:bodyPr/>
          <a:lstStyle/>
          <a:p>
            <a:r>
              <a:rPr lang="en-IN" b="1" dirty="0">
                <a:solidFill>
                  <a:schemeClr val="tx1"/>
                </a:solidFill>
              </a:rPr>
              <a:t>Traditional WH Vs Snowflake</a:t>
            </a:r>
            <a:endParaRPr lang="mr-IN" dirty="0">
              <a:solidFill>
                <a:schemeClr val="tx1"/>
              </a:solidFill>
            </a:endParaRPr>
          </a:p>
        </p:txBody>
      </p:sp>
      <p:graphicFrame>
        <p:nvGraphicFramePr>
          <p:cNvPr id="4" name="Table 4">
            <a:extLst>
              <a:ext uri="{FF2B5EF4-FFF2-40B4-BE49-F238E27FC236}">
                <a16:creationId xmlns:a16="http://schemas.microsoft.com/office/drawing/2014/main" id="{2969AD9C-58EA-463E-A811-5AB30F0057AA}"/>
              </a:ext>
            </a:extLst>
          </p:cNvPr>
          <p:cNvGraphicFramePr>
            <a:graphicFrameLocks/>
          </p:cNvGraphicFramePr>
          <p:nvPr>
            <p:extLst>
              <p:ext uri="{D42A27DB-BD31-4B8C-83A1-F6EECF244321}">
                <p14:modId xmlns:p14="http://schemas.microsoft.com/office/powerpoint/2010/main" val="4106877068"/>
              </p:ext>
            </p:extLst>
          </p:nvPr>
        </p:nvGraphicFramePr>
        <p:xfrm>
          <a:off x="478581" y="1705276"/>
          <a:ext cx="11305257" cy="4676052"/>
        </p:xfrm>
        <a:graphic>
          <a:graphicData uri="http://schemas.openxmlformats.org/drawingml/2006/table">
            <a:tbl>
              <a:tblPr firstRow="1" bandRow="1">
                <a:tableStyleId>{5C22544A-7EE6-4342-B048-85BDC9FD1C3A}</a:tableStyleId>
              </a:tblPr>
              <a:tblGrid>
                <a:gridCol w="3489726">
                  <a:extLst>
                    <a:ext uri="{9D8B030D-6E8A-4147-A177-3AD203B41FA5}">
                      <a16:colId xmlns:a16="http://schemas.microsoft.com/office/drawing/2014/main" val="630728961"/>
                    </a:ext>
                  </a:extLst>
                </a:gridCol>
                <a:gridCol w="3286835">
                  <a:extLst>
                    <a:ext uri="{9D8B030D-6E8A-4147-A177-3AD203B41FA5}">
                      <a16:colId xmlns:a16="http://schemas.microsoft.com/office/drawing/2014/main" val="572050095"/>
                    </a:ext>
                  </a:extLst>
                </a:gridCol>
                <a:gridCol w="4528696">
                  <a:extLst>
                    <a:ext uri="{9D8B030D-6E8A-4147-A177-3AD203B41FA5}">
                      <a16:colId xmlns:a16="http://schemas.microsoft.com/office/drawing/2014/main" val="3830722130"/>
                    </a:ext>
                  </a:extLst>
                </a:gridCol>
              </a:tblGrid>
              <a:tr h="734916">
                <a:tc>
                  <a:txBody>
                    <a:bodyPr/>
                    <a:lstStyle/>
                    <a:p>
                      <a:pPr algn="ctr"/>
                      <a:r>
                        <a:rPr lang="en-IN" sz="2800" dirty="0">
                          <a:solidFill>
                            <a:schemeClr val="bg1"/>
                          </a:solidFill>
                        </a:rPr>
                        <a:t>Feature</a:t>
                      </a:r>
                    </a:p>
                  </a:txBody>
                  <a:tcPr/>
                </a:tc>
                <a:tc>
                  <a:txBody>
                    <a:bodyPr/>
                    <a:lstStyle/>
                    <a:p>
                      <a:pPr algn="ctr"/>
                      <a:r>
                        <a:rPr lang="en-IN" sz="2800" b="1" dirty="0">
                          <a:solidFill>
                            <a:schemeClr val="bg1"/>
                          </a:solidFill>
                        </a:rPr>
                        <a:t>Traditional WH </a:t>
                      </a:r>
                      <a:endParaRPr lang="en-IN" sz="2800" dirty="0">
                        <a:solidFill>
                          <a:schemeClr val="bg1"/>
                        </a:solidFill>
                      </a:endParaRPr>
                    </a:p>
                  </a:txBody>
                  <a:tcPr/>
                </a:tc>
                <a:tc>
                  <a:txBody>
                    <a:bodyPr/>
                    <a:lstStyle/>
                    <a:p>
                      <a:pPr algn="ctr"/>
                      <a:r>
                        <a:rPr lang="en-IN" sz="2800" b="1" kern="1200" dirty="0">
                          <a:solidFill>
                            <a:schemeClr val="bg1"/>
                          </a:solidFill>
                          <a:latin typeface="+mn-lt"/>
                          <a:ea typeface="+mn-ea"/>
                          <a:cs typeface="+mn-cs"/>
                        </a:rPr>
                        <a:t>Snowflake</a:t>
                      </a:r>
                    </a:p>
                  </a:txBody>
                  <a:tcPr/>
                </a:tc>
                <a:extLst>
                  <a:ext uri="{0D108BD9-81ED-4DB2-BD59-A6C34878D82A}">
                    <a16:rowId xmlns:a16="http://schemas.microsoft.com/office/drawing/2014/main" val="1698534555"/>
                  </a:ext>
                </a:extLst>
              </a:tr>
              <a:tr h="7349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Infrastructure cost</a:t>
                      </a:r>
                    </a:p>
                  </a:txBody>
                  <a:tcPr/>
                </a:tc>
                <a:tc>
                  <a:txBody>
                    <a:bodyPr/>
                    <a:lstStyle/>
                    <a:p>
                      <a:r>
                        <a:rPr lang="en-IN" dirty="0"/>
                        <a:t>yes</a:t>
                      </a:r>
                    </a:p>
                  </a:txBody>
                  <a:tcPr/>
                </a:tc>
                <a:tc>
                  <a:txBody>
                    <a:bodyPr/>
                    <a:lstStyle/>
                    <a:p>
                      <a:r>
                        <a:rPr lang="en-IN" dirty="0"/>
                        <a:t>No Infrastructure cost</a:t>
                      </a:r>
                    </a:p>
                  </a:txBody>
                  <a:tcPr/>
                </a:tc>
                <a:extLst>
                  <a:ext uri="{0D108BD9-81ED-4DB2-BD59-A6C34878D82A}">
                    <a16:rowId xmlns:a16="http://schemas.microsoft.com/office/drawing/2014/main" val="4208771680"/>
                  </a:ext>
                </a:extLst>
              </a:tr>
              <a:tr h="734916">
                <a:tc>
                  <a:txBody>
                    <a:bodyPr/>
                    <a:lstStyle/>
                    <a:p>
                      <a:r>
                        <a:rPr lang="en-IN" dirty="0"/>
                        <a:t>Handle semi structure data</a:t>
                      </a:r>
                    </a:p>
                  </a:txBody>
                  <a:tcPr/>
                </a:tc>
                <a:tc>
                  <a:txBody>
                    <a:bodyPr/>
                    <a:lstStyle/>
                    <a:p>
                      <a:r>
                        <a:rPr lang="en-IN" dirty="0"/>
                        <a:t>Need ETL tools</a:t>
                      </a:r>
                    </a:p>
                  </a:txBody>
                  <a:tcPr/>
                </a:tc>
                <a:tc>
                  <a:txBody>
                    <a:bodyPr/>
                    <a:lstStyle/>
                    <a:p>
                      <a:r>
                        <a:rPr lang="en-IN" dirty="0"/>
                        <a:t>Snowflake can process</a:t>
                      </a:r>
                    </a:p>
                  </a:txBody>
                  <a:tcPr/>
                </a:tc>
                <a:extLst>
                  <a:ext uri="{0D108BD9-81ED-4DB2-BD59-A6C34878D82A}">
                    <a16:rowId xmlns:a16="http://schemas.microsoft.com/office/drawing/2014/main" val="3312805621"/>
                  </a:ext>
                </a:extLst>
              </a:tr>
              <a:tr h="734916">
                <a:tc>
                  <a:txBody>
                    <a:bodyPr/>
                    <a:lstStyle/>
                    <a:p>
                      <a:r>
                        <a:rPr lang="en-IN" dirty="0"/>
                        <a:t>Data loading and unloading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Need ETL tools</a:t>
                      </a:r>
                    </a:p>
                  </a:txBody>
                  <a:tcPr/>
                </a:tc>
                <a:tc>
                  <a:txBody>
                    <a:bodyPr/>
                    <a:lstStyle/>
                    <a:p>
                      <a:r>
                        <a:rPr lang="en-IN" dirty="0"/>
                        <a:t>Can be done by using “COPY”</a:t>
                      </a:r>
                    </a:p>
                  </a:txBody>
                  <a:tcPr/>
                </a:tc>
                <a:extLst>
                  <a:ext uri="{0D108BD9-81ED-4DB2-BD59-A6C34878D82A}">
                    <a16:rowId xmlns:a16="http://schemas.microsoft.com/office/drawing/2014/main" val="3369994782"/>
                  </a:ext>
                </a:extLst>
              </a:tr>
              <a:tr h="868194">
                <a:tc>
                  <a:txBody>
                    <a:bodyPr/>
                    <a:lstStyle/>
                    <a:p>
                      <a:r>
                        <a:rPr lang="en-IN" dirty="0"/>
                        <a:t>Scalability</a:t>
                      </a:r>
                    </a:p>
                  </a:txBody>
                  <a:tcPr/>
                </a:tc>
                <a:tc>
                  <a:txBody>
                    <a:bodyPr/>
                    <a:lstStyle/>
                    <a:p>
                      <a:r>
                        <a:rPr lang="en-IN" dirty="0"/>
                        <a:t>Not an easy task</a:t>
                      </a:r>
                    </a:p>
                  </a:txBody>
                  <a:tcPr/>
                </a:tc>
                <a:tc>
                  <a:txBody>
                    <a:bodyPr/>
                    <a:lstStyle/>
                    <a:p>
                      <a:r>
                        <a:rPr lang="en-IN" dirty="0"/>
                        <a:t>Highly Scalable</a:t>
                      </a:r>
                    </a:p>
                    <a:p>
                      <a:r>
                        <a:rPr lang="en-IN" dirty="0"/>
                        <a:t>(support Scale-up and Scale-out)</a:t>
                      </a:r>
                    </a:p>
                  </a:txBody>
                  <a:tcPr/>
                </a:tc>
                <a:extLst>
                  <a:ext uri="{0D108BD9-81ED-4DB2-BD59-A6C34878D82A}">
                    <a16:rowId xmlns:a16="http://schemas.microsoft.com/office/drawing/2014/main" val="2743379994"/>
                  </a:ext>
                </a:extLst>
              </a:tr>
              <a:tr h="868194">
                <a:tc>
                  <a:txBody>
                    <a:bodyPr/>
                    <a:lstStyle/>
                    <a:p>
                      <a:r>
                        <a:rPr lang="en-IN" dirty="0"/>
                        <a:t>Database Administration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Highly Required</a:t>
                      </a:r>
                    </a:p>
                  </a:txBody>
                  <a:tcPr/>
                </a:tc>
                <a:tc>
                  <a:txBody>
                    <a:bodyPr/>
                    <a:lstStyle/>
                    <a:p>
                      <a:r>
                        <a:rPr lang="en-IN" sz="1800" b="0" i="0" kern="1200" dirty="0">
                          <a:solidFill>
                            <a:schemeClr val="dk1"/>
                          </a:solidFill>
                          <a:effectLst/>
                          <a:latin typeface="+mn-lt"/>
                          <a:ea typeface="+mn-ea"/>
                          <a:cs typeface="+mn-cs"/>
                        </a:rPr>
                        <a:t>In-built performance optimization with its micro partitions and cluster keys</a:t>
                      </a:r>
                      <a:endParaRPr lang="en-IN" dirty="0"/>
                    </a:p>
                  </a:txBody>
                  <a:tcPr/>
                </a:tc>
                <a:extLst>
                  <a:ext uri="{0D108BD9-81ED-4DB2-BD59-A6C34878D82A}">
                    <a16:rowId xmlns:a16="http://schemas.microsoft.com/office/drawing/2014/main" val="35454245"/>
                  </a:ext>
                </a:extLst>
              </a:tr>
            </a:tbl>
          </a:graphicData>
        </a:graphic>
      </p:graphicFrame>
    </p:spTree>
    <p:extLst>
      <p:ext uri="{BB962C8B-B14F-4D97-AF65-F5344CB8AC3E}">
        <p14:creationId xmlns:p14="http://schemas.microsoft.com/office/powerpoint/2010/main" val="1286628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14860" t="5626" r="13725" b="7940"/>
          <a:stretch/>
        </p:blipFill>
        <p:spPr>
          <a:xfrm>
            <a:off x="334566" y="1765004"/>
            <a:ext cx="7056784" cy="4832108"/>
          </a:xfrm>
        </p:spPr>
      </p:pic>
      <p:sp>
        <p:nvSpPr>
          <p:cNvPr id="3" name="Title 2"/>
          <p:cNvSpPr>
            <a:spLocks noGrp="1"/>
          </p:cNvSpPr>
          <p:nvPr>
            <p:ph type="title"/>
          </p:nvPr>
        </p:nvSpPr>
        <p:spPr/>
        <p:txBody>
          <a:bodyPr>
            <a:normAutofit/>
          </a:bodyPr>
          <a:lstStyle/>
          <a:p>
            <a:r>
              <a:rPr lang="en-IN" b="1" dirty="0">
                <a:solidFill>
                  <a:schemeClr val="tx1"/>
                </a:solidFill>
              </a:rPr>
              <a:t>Snowflake Architecture</a:t>
            </a:r>
            <a:endParaRPr lang="mr-IN" b="1" dirty="0"/>
          </a:p>
        </p:txBody>
      </p:sp>
      <p:sp>
        <p:nvSpPr>
          <p:cNvPr id="6" name="Content Placeholder 1"/>
          <p:cNvSpPr txBox="1">
            <a:spLocks/>
          </p:cNvSpPr>
          <p:nvPr/>
        </p:nvSpPr>
        <p:spPr>
          <a:xfrm>
            <a:off x="7535365" y="2348879"/>
            <a:ext cx="4392489" cy="4104457"/>
          </a:xfrm>
          <a:prstGeom prst="rect">
            <a:avLst/>
          </a:prstGeom>
        </p:spPr>
        <p:txBody>
          <a:bodyPr vert="horz" lIns="91440" tIns="45720" rIns="91440" bIns="45720" rtlCol="0">
            <a:normAutofit/>
          </a:bodyPr>
          <a:lst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r>
              <a:rPr lang="en-US" sz="2000" dirty="0">
                <a:cs typeface="Aparajita" pitchFamily="18" charset="0"/>
              </a:rPr>
              <a:t>Cloud Services</a:t>
            </a:r>
          </a:p>
          <a:p>
            <a:pPr marL="0" indent="0">
              <a:buNone/>
            </a:pPr>
            <a:r>
              <a:rPr lang="en-US" sz="1800" i="1" dirty="0">
                <a:cs typeface="Aparajita" pitchFamily="18" charset="0"/>
              </a:rPr>
              <a:t>Scalable, resilient cloud services layer </a:t>
            </a:r>
          </a:p>
          <a:p>
            <a:pPr marL="0" indent="0">
              <a:buNone/>
            </a:pPr>
            <a:r>
              <a:rPr lang="en-US" sz="1800" i="1" dirty="0">
                <a:cs typeface="Aparajita" pitchFamily="18" charset="0"/>
              </a:rPr>
              <a:t>coordinates access &amp; management</a:t>
            </a:r>
          </a:p>
          <a:p>
            <a:pPr marL="0" indent="0">
              <a:buNone/>
            </a:pPr>
            <a:endParaRPr lang="en-US" sz="1800" i="1" dirty="0">
              <a:cs typeface="Aparajita" pitchFamily="18" charset="0"/>
            </a:endParaRPr>
          </a:p>
          <a:p>
            <a:r>
              <a:rPr lang="en-US" sz="2000" dirty="0">
                <a:cs typeface="Aparajita" pitchFamily="18" charset="0"/>
              </a:rPr>
              <a:t>Independently Scalable Compute</a:t>
            </a:r>
          </a:p>
          <a:p>
            <a:pPr marL="0" indent="0">
              <a:buNone/>
            </a:pPr>
            <a:r>
              <a:rPr lang="en-US" sz="1800" i="1" dirty="0">
                <a:cs typeface="Aparajita" pitchFamily="18" charset="0"/>
              </a:rPr>
              <a:t>Multiple "virtual warehouses" compute clusters scale horsepower &amp; concurrency</a:t>
            </a:r>
          </a:p>
          <a:p>
            <a:pPr marL="0" indent="0">
              <a:buNone/>
            </a:pPr>
            <a:endParaRPr lang="en-US" sz="1800" i="1" dirty="0">
              <a:cs typeface="Aparajita" pitchFamily="18" charset="0"/>
            </a:endParaRPr>
          </a:p>
          <a:p>
            <a:r>
              <a:rPr lang="en-US" sz="2000" dirty="0">
                <a:cs typeface="Aparajita" pitchFamily="18" charset="0"/>
              </a:rPr>
              <a:t>Centralized Storage</a:t>
            </a:r>
          </a:p>
          <a:p>
            <a:pPr marL="0" indent="0">
              <a:buNone/>
            </a:pPr>
            <a:r>
              <a:rPr lang="en-US" sz="1800" i="1" dirty="0">
                <a:cs typeface="Aparajita" pitchFamily="18" charset="0"/>
              </a:rPr>
              <a:t>Instant, automatic </a:t>
            </a:r>
          </a:p>
          <a:p>
            <a:pPr marL="0" indent="0">
              <a:buNone/>
            </a:pPr>
            <a:r>
              <a:rPr lang="en-US" sz="1800" i="1" dirty="0">
                <a:cs typeface="Aparajita" pitchFamily="18" charset="0"/>
              </a:rPr>
              <a:t>scalability &amp; elasticity</a:t>
            </a:r>
          </a:p>
          <a:p>
            <a:pPr marL="0" indent="0" algn="ctr">
              <a:buNone/>
            </a:pPr>
            <a:endParaRPr lang="en-US" sz="2000" dirty="0">
              <a:cs typeface="Aparajita" pitchFamily="18" charset="0"/>
            </a:endParaRPr>
          </a:p>
          <a:p>
            <a:pPr marL="0" indent="0" algn="ctr">
              <a:buNone/>
            </a:pPr>
            <a:endParaRPr lang="mr-IN" sz="2000" dirty="0">
              <a:cs typeface="Aparajita" pitchFamily="18" charset="0"/>
            </a:endParaRPr>
          </a:p>
        </p:txBody>
      </p:sp>
    </p:spTree>
    <p:extLst>
      <p:ext uri="{BB962C8B-B14F-4D97-AF65-F5344CB8AC3E}">
        <p14:creationId xmlns:p14="http://schemas.microsoft.com/office/powerpoint/2010/main" val="3389837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386D8E-8EAD-168C-2A8B-E21DB45750A9}"/>
              </a:ext>
            </a:extLst>
          </p:cNvPr>
          <p:cNvSpPr>
            <a:spLocks noGrp="1"/>
          </p:cNvSpPr>
          <p:nvPr>
            <p:ph idx="1"/>
          </p:nvPr>
        </p:nvSpPr>
        <p:spPr>
          <a:xfrm>
            <a:off x="609521" y="6042236"/>
            <a:ext cx="9876492" cy="459244"/>
          </a:xfrm>
        </p:spPr>
        <p:txBody>
          <a:bodyPr/>
          <a:lstStyle/>
          <a:p>
            <a:r>
              <a:rPr lang="en-IN" dirty="0"/>
              <a:t>Scalability and performance are limitations.</a:t>
            </a:r>
          </a:p>
        </p:txBody>
      </p:sp>
      <p:sp>
        <p:nvSpPr>
          <p:cNvPr id="3" name="Title 2">
            <a:extLst>
              <a:ext uri="{FF2B5EF4-FFF2-40B4-BE49-F238E27FC236}">
                <a16:creationId xmlns:a16="http://schemas.microsoft.com/office/drawing/2014/main" id="{48E84B99-A028-E9C3-480E-37F68F0C3847}"/>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FAF35B19-CF75-4DC1-6E39-BE625430C927}"/>
              </a:ext>
            </a:extLst>
          </p:cNvPr>
          <p:cNvPicPr>
            <a:picLocks noChangeAspect="1"/>
          </p:cNvPicPr>
          <p:nvPr/>
        </p:nvPicPr>
        <p:blipFill>
          <a:blip r:embed="rId2"/>
          <a:stretch>
            <a:fillRect/>
          </a:stretch>
        </p:blipFill>
        <p:spPr>
          <a:xfrm>
            <a:off x="41272" y="188641"/>
            <a:ext cx="11886582" cy="5328591"/>
          </a:xfrm>
          <a:prstGeom prst="rect">
            <a:avLst/>
          </a:prstGeom>
        </p:spPr>
      </p:pic>
    </p:spTree>
    <p:extLst>
      <p:ext uri="{BB962C8B-B14F-4D97-AF65-F5344CB8AC3E}">
        <p14:creationId xmlns:p14="http://schemas.microsoft.com/office/powerpoint/2010/main" val="1627481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258C8B-0864-F48B-4100-9DACDE0D661F}"/>
              </a:ext>
            </a:extLst>
          </p:cNvPr>
          <p:cNvSpPr>
            <a:spLocks noGrp="1"/>
          </p:cNvSpPr>
          <p:nvPr>
            <p:ph idx="1"/>
          </p:nvPr>
        </p:nvSpPr>
        <p:spPr>
          <a:xfrm>
            <a:off x="334566" y="5805263"/>
            <a:ext cx="11377264" cy="936105"/>
          </a:xfrm>
        </p:spPr>
        <p:txBody>
          <a:bodyPr>
            <a:normAutofit/>
          </a:bodyPr>
          <a:lstStyle/>
          <a:p>
            <a:r>
              <a:rPr lang="en-IN" dirty="0"/>
              <a:t>This model might lead to data loss if the copies of partitioned data is not maintained as backup in another cluster nodes, as there is no redundancy.</a:t>
            </a:r>
          </a:p>
        </p:txBody>
      </p:sp>
      <p:sp>
        <p:nvSpPr>
          <p:cNvPr id="3" name="Title 2">
            <a:extLst>
              <a:ext uri="{FF2B5EF4-FFF2-40B4-BE49-F238E27FC236}">
                <a16:creationId xmlns:a16="http://schemas.microsoft.com/office/drawing/2014/main" id="{F761DF3D-C66C-FC71-3743-E448AB528EA4}"/>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B6D961A1-2183-FA3F-8225-7ADB6B4E9DDD}"/>
              </a:ext>
            </a:extLst>
          </p:cNvPr>
          <p:cNvPicPr>
            <a:picLocks noChangeAspect="1"/>
          </p:cNvPicPr>
          <p:nvPr/>
        </p:nvPicPr>
        <p:blipFill>
          <a:blip r:embed="rId2"/>
          <a:stretch>
            <a:fillRect/>
          </a:stretch>
        </p:blipFill>
        <p:spPr>
          <a:xfrm>
            <a:off x="190550" y="0"/>
            <a:ext cx="11881320" cy="5493646"/>
          </a:xfrm>
          <a:prstGeom prst="rect">
            <a:avLst/>
          </a:prstGeom>
        </p:spPr>
      </p:pic>
    </p:spTree>
    <p:extLst>
      <p:ext uri="{BB962C8B-B14F-4D97-AF65-F5344CB8AC3E}">
        <p14:creationId xmlns:p14="http://schemas.microsoft.com/office/powerpoint/2010/main" val="2188351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622" y="2492896"/>
            <a:ext cx="10200475" cy="4032448"/>
          </a:xfrm>
        </p:spPr>
        <p:txBody>
          <a:bodyPr>
            <a:normAutofit/>
          </a:bodyPr>
          <a:lstStyle/>
          <a:p>
            <a:r>
              <a:rPr lang="en-US" sz="1800" dirty="0">
                <a:solidFill>
                  <a:schemeClr val="tx1"/>
                </a:solidFill>
                <a:cs typeface="Aparajita" pitchFamily="18" charset="0"/>
              </a:rPr>
              <a:t>Snowflake cloud services layer is a collection of services that coordinate activities such as authentication, access control and encryption.</a:t>
            </a:r>
          </a:p>
          <a:p>
            <a:pPr marL="0" indent="0">
              <a:buNone/>
            </a:pPr>
            <a:endParaRPr lang="en-US" sz="1800" dirty="0">
              <a:solidFill>
                <a:schemeClr val="tx1"/>
              </a:solidFill>
              <a:cs typeface="Aparajita" pitchFamily="18" charset="0"/>
            </a:endParaRPr>
          </a:p>
          <a:p>
            <a:r>
              <a:rPr lang="en-US" sz="1800" dirty="0">
                <a:solidFill>
                  <a:schemeClr val="tx1"/>
                </a:solidFill>
                <a:cs typeface="Aparajita" pitchFamily="18" charset="0"/>
              </a:rPr>
              <a:t>It also includes management functions for handling infrastructure and metadata, as well as performing query parsing and optimization, among other features. This global services layer is sometimes referred to as the Snowflake "brain" because all the various service layer components work together to handle user requests that begin from the time a user requests to log in.</a:t>
            </a:r>
          </a:p>
          <a:p>
            <a:pPr marL="0" indent="0">
              <a:buNone/>
            </a:pPr>
            <a:endParaRPr lang="en-US" sz="1800" dirty="0">
              <a:solidFill>
                <a:schemeClr val="tx1"/>
              </a:solidFill>
              <a:cs typeface="Aparajita" pitchFamily="18" charset="0"/>
            </a:endParaRPr>
          </a:p>
          <a:p>
            <a:r>
              <a:rPr lang="en-US" sz="1800" dirty="0">
                <a:solidFill>
                  <a:schemeClr val="tx1"/>
                </a:solidFill>
                <a:cs typeface="Aparajita" pitchFamily="18" charset="0"/>
              </a:rPr>
              <a:t>The cloud services layer manages data security including the security for data sharing. The Snowflake cloud services layer runs across multiple availability zones in each</a:t>
            </a:r>
          </a:p>
          <a:p>
            <a:endParaRPr lang="en-US" sz="1800" dirty="0">
              <a:solidFill>
                <a:schemeClr val="tx1"/>
              </a:solidFill>
              <a:cs typeface="Aparajita" pitchFamily="18" charset="0"/>
            </a:endParaRPr>
          </a:p>
          <a:p>
            <a:r>
              <a:rPr lang="en-US" sz="1800" dirty="0">
                <a:solidFill>
                  <a:schemeClr val="tx1"/>
                </a:solidFill>
                <a:cs typeface="Aparajita" pitchFamily="18" charset="0"/>
              </a:rPr>
              <a:t>cloud provider region and holds the results cache, a cached copy of the executed query results. The metadata required for query optimization or data filtering are also stored in the cloud services layer</a:t>
            </a:r>
            <a:endParaRPr lang="mr-IN" sz="1800" dirty="0">
              <a:solidFill>
                <a:schemeClr val="tx1"/>
              </a:solidFill>
              <a:cs typeface="Aparajita" pitchFamily="18" charset="0"/>
            </a:endParaRPr>
          </a:p>
        </p:txBody>
      </p:sp>
      <p:sp>
        <p:nvSpPr>
          <p:cNvPr id="3" name="Title 2"/>
          <p:cNvSpPr>
            <a:spLocks noGrp="1"/>
          </p:cNvSpPr>
          <p:nvPr>
            <p:ph type="title"/>
          </p:nvPr>
        </p:nvSpPr>
        <p:spPr/>
        <p:txBody>
          <a:bodyPr>
            <a:normAutofit/>
          </a:bodyPr>
          <a:lstStyle/>
          <a:p>
            <a:r>
              <a:rPr lang="en-US" sz="5400" b="1" dirty="0">
                <a:solidFill>
                  <a:schemeClr val="tx1"/>
                </a:solidFill>
              </a:rPr>
              <a:t>Cloud services layer</a:t>
            </a:r>
            <a:endParaRPr lang="mr-IN" sz="5400" b="1" dirty="0">
              <a:solidFill>
                <a:schemeClr val="tx1"/>
              </a:solidFill>
            </a:endParaRPr>
          </a:p>
        </p:txBody>
      </p:sp>
    </p:spTree>
    <p:extLst>
      <p:ext uri="{BB962C8B-B14F-4D97-AF65-F5344CB8AC3E}">
        <p14:creationId xmlns:p14="http://schemas.microsoft.com/office/powerpoint/2010/main" val="550694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82638" y="2492896"/>
            <a:ext cx="10056459" cy="3633267"/>
          </a:xfrm>
        </p:spPr>
        <p:txBody>
          <a:bodyPr>
            <a:noAutofit/>
          </a:bodyPr>
          <a:lstStyle/>
          <a:p>
            <a:r>
              <a:rPr lang="en-US" sz="1800" dirty="0">
                <a:solidFill>
                  <a:schemeClr val="tx1"/>
                </a:solidFill>
              </a:rPr>
              <a:t>A Snowflake compute cluster, most often referred to simply as a "virtual warehouse," is a dynamic cluster of compute resources consisting of CPU memory and temporary storage. Creating virtual warehouses in Snowflake makes use of the compute clusters, virtual machines in the cloud, which are provisioned behind the scenes. Snowflake doesn't publish the exact server in use at any given time; it could change as the cloud providers modify their services. The Snowflake compute resources are created and deployed on-demand anytime to a Snowflake user, such as yourself, for whom the process is transparent.</a:t>
            </a:r>
          </a:p>
          <a:p>
            <a:endParaRPr lang="en-US" sz="1800" dirty="0">
              <a:solidFill>
                <a:schemeClr val="tx1"/>
              </a:solidFill>
            </a:endParaRPr>
          </a:p>
          <a:p>
            <a:r>
              <a:rPr lang="en-US" sz="1800" dirty="0">
                <a:solidFill>
                  <a:schemeClr val="tx1"/>
                </a:solidFill>
              </a:rPr>
              <a:t>Snowflake's unique architecture allows for separation of storage and compute which means any virtual warehouse can access the same data as another, without any con-</a:t>
            </a:r>
            <a:r>
              <a:rPr lang="en-US" sz="1800" dirty="0" err="1">
                <a:solidFill>
                  <a:schemeClr val="tx1"/>
                </a:solidFill>
              </a:rPr>
              <a:t>tention</a:t>
            </a:r>
            <a:r>
              <a:rPr lang="en-US" sz="1800" dirty="0">
                <a:solidFill>
                  <a:schemeClr val="tx1"/>
                </a:solidFill>
              </a:rPr>
              <a:t> or impact on performance of the other warehouses.</a:t>
            </a:r>
            <a:endParaRPr lang="mr-IN" sz="1800" dirty="0">
              <a:solidFill>
                <a:schemeClr val="tx1"/>
              </a:solidFill>
            </a:endParaRPr>
          </a:p>
        </p:txBody>
      </p:sp>
      <p:sp>
        <p:nvSpPr>
          <p:cNvPr id="3" name="Title 2"/>
          <p:cNvSpPr>
            <a:spLocks noGrp="1"/>
          </p:cNvSpPr>
          <p:nvPr>
            <p:ph type="title"/>
          </p:nvPr>
        </p:nvSpPr>
        <p:spPr/>
        <p:txBody>
          <a:bodyPr/>
          <a:lstStyle/>
          <a:p>
            <a:r>
              <a:rPr lang="en-IN" b="1" dirty="0">
                <a:solidFill>
                  <a:schemeClr val="tx1"/>
                </a:solidFill>
              </a:rPr>
              <a:t>Query processing or Compute layer</a:t>
            </a:r>
            <a:endParaRPr lang="mr-IN" b="1" dirty="0">
              <a:solidFill>
                <a:schemeClr val="tx1"/>
              </a:solidFill>
            </a:endParaRPr>
          </a:p>
        </p:txBody>
      </p:sp>
    </p:spTree>
    <p:extLst>
      <p:ext uri="{BB962C8B-B14F-4D97-AF65-F5344CB8AC3E}">
        <p14:creationId xmlns:p14="http://schemas.microsoft.com/office/powerpoint/2010/main" val="4245863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159101" y="2492896"/>
            <a:ext cx="5879995" cy="3633267"/>
          </a:xfrm>
        </p:spPr>
        <p:txBody>
          <a:bodyPr>
            <a:normAutofit/>
          </a:bodyPr>
          <a:lstStyle/>
          <a:p>
            <a:pPr marL="0" indent="0">
              <a:buNone/>
            </a:pPr>
            <a:r>
              <a:rPr lang="en-IN" sz="3600" dirty="0">
                <a:solidFill>
                  <a:schemeClr val="tx1"/>
                </a:solidFill>
              </a:rPr>
              <a:t>A ‘Virtual Warehouse’ is a cluster of one or more compute resources used to process queries and other DML operations</a:t>
            </a:r>
          </a:p>
          <a:p>
            <a:pPr marL="0" indent="0">
              <a:buNone/>
            </a:pPr>
            <a:endParaRPr lang="mr-IN" sz="3600" dirty="0">
              <a:solidFill>
                <a:schemeClr val="tx1"/>
              </a:solidFill>
            </a:endParaRPr>
          </a:p>
        </p:txBody>
      </p:sp>
      <p:pic>
        <p:nvPicPr>
          <p:cNvPr id="4" name="Picture 3">
            <a:extLst>
              <a:ext uri="{FF2B5EF4-FFF2-40B4-BE49-F238E27FC236}">
                <a16:creationId xmlns:a16="http://schemas.microsoft.com/office/drawing/2014/main" id="{E2D4DC30-F417-48D5-84F7-8087DF3A1F04}"/>
              </a:ext>
            </a:extLst>
          </p:cNvPr>
          <p:cNvPicPr>
            <a:picLocks noChangeAspect="1"/>
          </p:cNvPicPr>
          <p:nvPr/>
        </p:nvPicPr>
        <p:blipFill>
          <a:blip r:embed="rId2"/>
          <a:stretch>
            <a:fillRect/>
          </a:stretch>
        </p:blipFill>
        <p:spPr>
          <a:xfrm>
            <a:off x="766614" y="1857983"/>
            <a:ext cx="3888432" cy="439681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24289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b="1" dirty="0">
                <a:solidFill>
                  <a:srgbClr val="000000"/>
                </a:solidFill>
                <a:latin typeface="Arial" panose="020B0604020202020204" pitchFamily="34" charset="0"/>
              </a:rPr>
              <a:t>Warehouses come in different sizes. </a:t>
            </a:r>
            <a:endParaRPr lang="mr-IN" b="1" dirty="0"/>
          </a:p>
        </p:txBody>
      </p:sp>
      <p:sp>
        <p:nvSpPr>
          <p:cNvPr id="4" name="TextBox 3">
            <a:extLst>
              <a:ext uri="{FF2B5EF4-FFF2-40B4-BE49-F238E27FC236}">
                <a16:creationId xmlns:a16="http://schemas.microsoft.com/office/drawing/2014/main" id="{7ACB7981-FAA4-1924-016C-F9B3394DD6E7}"/>
              </a:ext>
            </a:extLst>
          </p:cNvPr>
          <p:cNvSpPr txBox="1"/>
          <p:nvPr/>
        </p:nvSpPr>
        <p:spPr>
          <a:xfrm>
            <a:off x="801858" y="1689667"/>
            <a:ext cx="9555480" cy="830997"/>
          </a:xfrm>
          <a:prstGeom prst="rect">
            <a:avLst/>
          </a:prstGeom>
          <a:noFill/>
        </p:spPr>
        <p:txBody>
          <a:bodyPr wrap="square">
            <a:spAutoFit/>
          </a:bodyPr>
          <a:lstStyle/>
          <a:p>
            <a:r>
              <a:rPr lang="en-IN" sz="2400" dirty="0"/>
              <a:t>The size of warehouse determines the number of servers in each cluster in the warehouse. </a:t>
            </a:r>
          </a:p>
        </p:txBody>
      </p:sp>
      <p:pic>
        <p:nvPicPr>
          <p:cNvPr id="5" name="Content Placeholder 4">
            <a:extLst>
              <a:ext uri="{FF2B5EF4-FFF2-40B4-BE49-F238E27FC236}">
                <a16:creationId xmlns:a16="http://schemas.microsoft.com/office/drawing/2014/main" id="{89ECA559-F7FE-432A-A4B5-55649C87ABB1}"/>
              </a:ext>
            </a:extLst>
          </p:cNvPr>
          <p:cNvPicPr>
            <a:picLocks noGrp="1" noChangeAspect="1"/>
          </p:cNvPicPr>
          <p:nvPr>
            <p:ph idx="1"/>
          </p:nvPr>
        </p:nvPicPr>
        <p:blipFill>
          <a:blip r:embed="rId2"/>
          <a:stretch>
            <a:fillRect/>
          </a:stretch>
        </p:blipFill>
        <p:spPr>
          <a:xfrm>
            <a:off x="548959" y="2924943"/>
            <a:ext cx="11090863" cy="1788849"/>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56AB28ED-AF28-4C68-9D8D-5DEE13E9DC23}"/>
              </a:ext>
            </a:extLst>
          </p:cNvPr>
          <p:cNvSpPr txBox="1"/>
          <p:nvPr/>
        </p:nvSpPr>
        <p:spPr>
          <a:xfrm>
            <a:off x="4157003" y="5101026"/>
            <a:ext cx="3773659" cy="954107"/>
          </a:xfrm>
          <a:prstGeom prst="rect">
            <a:avLst/>
          </a:prstGeom>
          <a:noFill/>
        </p:spPr>
        <p:txBody>
          <a:bodyPr wrap="square">
            <a:spAutoFit/>
          </a:bodyPr>
          <a:lstStyle/>
          <a:p>
            <a:pPr algn="ctr"/>
            <a:r>
              <a:rPr lang="en-IN" sz="2800" u="sng" dirty="0"/>
              <a:t>No. of EC2 Servers on AWS</a:t>
            </a:r>
          </a:p>
        </p:txBody>
      </p:sp>
      <p:cxnSp>
        <p:nvCxnSpPr>
          <p:cNvPr id="7" name="Straight Arrow Connector 6">
            <a:extLst>
              <a:ext uri="{FF2B5EF4-FFF2-40B4-BE49-F238E27FC236}">
                <a16:creationId xmlns:a16="http://schemas.microsoft.com/office/drawing/2014/main" id="{A720F28C-F1D9-4D64-89BE-C1B6AB3868D9}"/>
              </a:ext>
            </a:extLst>
          </p:cNvPr>
          <p:cNvCxnSpPr/>
          <p:nvPr/>
        </p:nvCxnSpPr>
        <p:spPr>
          <a:xfrm flipH="1" flipV="1">
            <a:off x="3790950" y="4435804"/>
            <a:ext cx="720080" cy="665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720F28C-F1D9-4D64-89BE-C1B6AB3868D9}"/>
              </a:ext>
            </a:extLst>
          </p:cNvPr>
          <p:cNvCxnSpPr/>
          <p:nvPr/>
        </p:nvCxnSpPr>
        <p:spPr>
          <a:xfrm flipH="1" flipV="1">
            <a:off x="5087094" y="4435803"/>
            <a:ext cx="476480" cy="694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6167214" y="4435804"/>
            <a:ext cx="360040" cy="6945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7175326" y="4435804"/>
            <a:ext cx="576064" cy="6652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8695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162605" y="2420888"/>
            <a:ext cx="9876492" cy="4176464"/>
          </a:xfrm>
        </p:spPr>
        <p:txBody>
          <a:bodyPr>
            <a:noAutofit/>
          </a:bodyPr>
          <a:lstStyle/>
          <a:p>
            <a:r>
              <a:rPr lang="en-US" sz="1800" dirty="0">
                <a:solidFill>
                  <a:schemeClr val="tx1"/>
                </a:solidFill>
              </a:rPr>
              <a:t>Centralized (Hybrid-Columnar) Database Storage Layer</a:t>
            </a:r>
          </a:p>
          <a:p>
            <a:r>
              <a:rPr lang="en-US" sz="1800" dirty="0">
                <a:solidFill>
                  <a:schemeClr val="tx1"/>
                </a:solidFill>
              </a:rPr>
              <a:t>Snowflake's centralized database storage layer holds all data, including structured and semi-structured data. As data is loaded into Snowflake, it is optimally reorganized into a compressed, columnar format and stored and maintained in Snowflake data-bases. Each Snowflake database consists of one or more schemas, which is a logical grouping of database objects such as tables and views.</a:t>
            </a:r>
          </a:p>
          <a:p>
            <a:r>
              <a:rPr lang="en-US" sz="1800" dirty="0">
                <a:solidFill>
                  <a:schemeClr val="tx1"/>
                </a:solidFill>
              </a:rPr>
              <a:t>The data objects stored created by Snowflake are not directly visible nor accessible by customers, they are only accessible by running SQL queries from Snowflake.</a:t>
            </a:r>
          </a:p>
          <a:p>
            <a:r>
              <a:rPr lang="en-US" sz="1800" dirty="0">
                <a:solidFill>
                  <a:schemeClr val="tx1"/>
                </a:solidFill>
              </a:rPr>
              <a:t>Snowflake automatically organizes stored data into micro-partitions, an optimized immutable com-pressed columnar format, which is encrypted using AES-256 encryption. Snowflake optimizes and compresses data to make metadata extraction and query processing easier and more efficient.</a:t>
            </a:r>
          </a:p>
          <a:p>
            <a:r>
              <a:rPr lang="en-US" sz="1800" dirty="0">
                <a:solidFill>
                  <a:schemeClr val="tx1"/>
                </a:solidFill>
              </a:rPr>
              <a:t>There are two unique features in the storage layer architecture - time travel and </a:t>
            </a:r>
            <a:r>
              <a:rPr lang="en-US" sz="1800" dirty="0" err="1">
                <a:solidFill>
                  <a:schemeClr val="tx1"/>
                </a:solidFill>
              </a:rPr>
              <a:t>zerocopy</a:t>
            </a:r>
            <a:r>
              <a:rPr lang="en-US" sz="1800" dirty="0">
                <a:solidFill>
                  <a:schemeClr val="tx1"/>
                </a:solidFill>
              </a:rPr>
              <a:t> cloning.</a:t>
            </a:r>
          </a:p>
          <a:p>
            <a:endParaRPr lang="mr-IN" sz="1800" dirty="0">
              <a:solidFill>
                <a:schemeClr val="tx1"/>
              </a:solidFill>
            </a:endParaRPr>
          </a:p>
        </p:txBody>
      </p:sp>
      <p:sp>
        <p:nvSpPr>
          <p:cNvPr id="3" name="Title 2"/>
          <p:cNvSpPr>
            <a:spLocks noGrp="1"/>
          </p:cNvSpPr>
          <p:nvPr>
            <p:ph type="title"/>
          </p:nvPr>
        </p:nvSpPr>
        <p:spPr/>
        <p:txBody>
          <a:bodyPr>
            <a:noAutofit/>
          </a:bodyPr>
          <a:lstStyle/>
          <a:p>
            <a:r>
              <a:rPr lang="en-US" b="1" dirty="0">
                <a:solidFill>
                  <a:schemeClr val="tx1"/>
                </a:solidFill>
              </a:rPr>
              <a:t>Database Storage Layer</a:t>
            </a:r>
            <a:endParaRPr lang="mr-IN" b="1" dirty="0">
              <a:solidFill>
                <a:schemeClr val="tx1"/>
              </a:solidFill>
            </a:endParaRPr>
          </a:p>
        </p:txBody>
      </p:sp>
    </p:spTree>
    <p:extLst>
      <p:ext uri="{BB962C8B-B14F-4D97-AF65-F5344CB8AC3E}">
        <p14:creationId xmlns:p14="http://schemas.microsoft.com/office/powerpoint/2010/main" val="1651522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559" y="441344"/>
            <a:ext cx="11449271" cy="6228016"/>
          </a:xfrm>
          <a:prstGeom prst="rect">
            <a:avLst/>
          </a:prstGeom>
          <a:solidFill>
            <a:schemeClr val="tx1"/>
          </a:solidFill>
          <a:ln>
            <a:solidFill>
              <a:schemeClr val="tx1"/>
            </a:solidFill>
          </a:ln>
          <a:effectLst/>
        </p:spPr>
      </p:pic>
    </p:spTree>
    <p:extLst>
      <p:ext uri="{BB962C8B-B14F-4D97-AF65-F5344CB8AC3E}">
        <p14:creationId xmlns:p14="http://schemas.microsoft.com/office/powerpoint/2010/main" val="204599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buNone/>
            </a:pPr>
            <a:r>
              <a:rPr lang="en-US" b="1" dirty="0"/>
              <a:t>4 Editions:</a:t>
            </a:r>
          </a:p>
          <a:p>
            <a:r>
              <a:rPr lang="en-US" dirty="0"/>
              <a:t>Standard Edition</a:t>
            </a:r>
          </a:p>
          <a:p>
            <a:r>
              <a:rPr lang="en-US" dirty="0"/>
              <a:t>Enterprise Edition</a:t>
            </a:r>
          </a:p>
          <a:p>
            <a:r>
              <a:rPr lang="en-US" dirty="0"/>
              <a:t>Business Critical Edition</a:t>
            </a:r>
          </a:p>
          <a:p>
            <a:r>
              <a:rPr lang="en-US" dirty="0"/>
              <a:t>Virtual Private Snowflake(VPS)</a:t>
            </a:r>
          </a:p>
          <a:p>
            <a:endParaRPr lang="en-US" dirty="0"/>
          </a:p>
          <a:p>
            <a:pPr marL="0" indent="0">
              <a:buNone/>
            </a:pPr>
            <a:endParaRPr lang="mr-IN" dirty="0"/>
          </a:p>
        </p:txBody>
      </p:sp>
      <p:sp>
        <p:nvSpPr>
          <p:cNvPr id="3" name="Title 2"/>
          <p:cNvSpPr>
            <a:spLocks noGrp="1"/>
          </p:cNvSpPr>
          <p:nvPr>
            <p:ph type="title"/>
          </p:nvPr>
        </p:nvSpPr>
        <p:spPr/>
        <p:txBody>
          <a:bodyPr/>
          <a:lstStyle/>
          <a:p>
            <a:r>
              <a:rPr lang="en-US" b="1" dirty="0">
                <a:solidFill>
                  <a:schemeClr val="tx1"/>
                </a:solidFill>
                <a:latin typeface="Helvetica" panose="020B0604020202020204" pitchFamily="34" charset="0"/>
              </a:rPr>
              <a:t>Snowflake Editions</a:t>
            </a:r>
            <a:endParaRPr lang="mr-IN" b="1" dirty="0">
              <a:solidFill>
                <a:schemeClr val="tx1"/>
              </a:solidFill>
            </a:endParaRPr>
          </a:p>
        </p:txBody>
      </p:sp>
    </p:spTree>
    <p:extLst>
      <p:ext uri="{BB962C8B-B14F-4D97-AF65-F5344CB8AC3E}">
        <p14:creationId xmlns:p14="http://schemas.microsoft.com/office/powerpoint/2010/main" val="3569751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mr-IN"/>
          </a:p>
        </p:txBody>
      </p:sp>
      <p:pic>
        <p:nvPicPr>
          <p:cNvPr id="4" name="Content Placeholder 8">
            <a:extLst>
              <a:ext uri="{FF2B5EF4-FFF2-40B4-BE49-F238E27FC236}">
                <a16:creationId xmlns:a16="http://schemas.microsoft.com/office/drawing/2014/main" id="{BE198491-996C-1845-F0F1-02DE4F937BC0}"/>
              </a:ext>
            </a:extLst>
          </p:cNvPr>
          <p:cNvPicPr>
            <a:picLocks noChangeAspect="1"/>
          </p:cNvPicPr>
          <p:nvPr/>
        </p:nvPicPr>
        <p:blipFill>
          <a:blip r:embed="rId2"/>
          <a:stretch>
            <a:fillRect/>
          </a:stretch>
        </p:blipFill>
        <p:spPr>
          <a:xfrm>
            <a:off x="-42688" y="0"/>
            <a:ext cx="12233101" cy="6858000"/>
          </a:xfrm>
          <a:prstGeom prst="rect">
            <a:avLst/>
          </a:prstGeom>
          <a:solidFill>
            <a:schemeClr val="tx1"/>
          </a:solidFill>
          <a:ln>
            <a:solidFill>
              <a:schemeClr val="tx1"/>
            </a:solidFill>
          </a:ln>
        </p:spPr>
      </p:pic>
    </p:spTree>
    <p:extLst>
      <p:ext uri="{BB962C8B-B14F-4D97-AF65-F5344CB8AC3E}">
        <p14:creationId xmlns:p14="http://schemas.microsoft.com/office/powerpoint/2010/main" val="2709119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82639" y="3068959"/>
            <a:ext cx="5760640" cy="3057203"/>
          </a:xfrm>
        </p:spPr>
        <p:txBody>
          <a:bodyPr>
            <a:normAutofit fontScale="85000" lnSpcReduction="10000"/>
          </a:bodyPr>
          <a:lstStyle/>
          <a:p>
            <a:pPr marL="0" indent="0">
              <a:buNone/>
            </a:pPr>
            <a:r>
              <a:rPr lang="en-US" dirty="0">
                <a:solidFill>
                  <a:schemeClr val="tx2">
                    <a:lumMod val="50000"/>
                  </a:schemeClr>
                </a:solidFill>
              </a:rPr>
              <a:t>Snowflake cost is dependent on:</a:t>
            </a:r>
          </a:p>
          <a:p>
            <a:r>
              <a:rPr lang="en-US" dirty="0">
                <a:solidFill>
                  <a:schemeClr val="tx2">
                    <a:lumMod val="50000"/>
                  </a:schemeClr>
                </a:solidFill>
              </a:rPr>
              <a:t>Snowflake Edition</a:t>
            </a:r>
          </a:p>
          <a:p>
            <a:pPr marL="0" indent="0">
              <a:buNone/>
            </a:pPr>
            <a:r>
              <a:rPr lang="en-US" dirty="0">
                <a:solidFill>
                  <a:schemeClr val="tx2">
                    <a:lumMod val="50000"/>
                  </a:schemeClr>
                </a:solidFill>
              </a:rPr>
              <a:t>	Standard - $2.7/Credit     </a:t>
            </a:r>
          </a:p>
          <a:p>
            <a:pPr marL="0" indent="0">
              <a:buNone/>
            </a:pPr>
            <a:r>
              <a:rPr lang="en-US" dirty="0">
                <a:solidFill>
                  <a:schemeClr val="tx2">
                    <a:lumMod val="50000"/>
                  </a:schemeClr>
                </a:solidFill>
              </a:rPr>
              <a:t>	Enterprise - $4/Credit</a:t>
            </a:r>
          </a:p>
          <a:p>
            <a:pPr marL="0" indent="0">
              <a:buNone/>
            </a:pPr>
            <a:r>
              <a:rPr lang="en-US" dirty="0">
                <a:solidFill>
                  <a:schemeClr val="tx2">
                    <a:lumMod val="50000"/>
                  </a:schemeClr>
                </a:solidFill>
              </a:rPr>
              <a:t>	Business Critical - $5.4/Credit</a:t>
            </a:r>
          </a:p>
          <a:p>
            <a:pPr marL="0" indent="0">
              <a:buNone/>
            </a:pPr>
            <a:r>
              <a:rPr lang="en-US" dirty="0">
                <a:solidFill>
                  <a:schemeClr val="tx2">
                    <a:lumMod val="50000"/>
                  </a:schemeClr>
                </a:solidFill>
              </a:rPr>
              <a:t>	VPS – Depends on Org</a:t>
            </a:r>
          </a:p>
          <a:p>
            <a:r>
              <a:rPr lang="en-US" dirty="0">
                <a:solidFill>
                  <a:schemeClr val="tx2">
                    <a:lumMod val="50000"/>
                  </a:schemeClr>
                </a:solidFill>
              </a:rPr>
              <a:t>Region where Snowflake account created</a:t>
            </a:r>
          </a:p>
          <a:p>
            <a:r>
              <a:rPr lang="en-US" dirty="0">
                <a:solidFill>
                  <a:schemeClr val="tx2">
                    <a:lumMod val="50000"/>
                  </a:schemeClr>
                </a:solidFill>
              </a:rPr>
              <a:t>Cloud platform where Snowflake account hosted</a:t>
            </a:r>
          </a:p>
          <a:p>
            <a:r>
              <a:rPr lang="en-US" dirty="0">
                <a:solidFill>
                  <a:schemeClr val="tx2">
                    <a:lumMod val="50000"/>
                  </a:schemeClr>
                </a:solidFill>
              </a:rPr>
              <a:t>Virtual Warehouse Size</a:t>
            </a:r>
          </a:p>
          <a:p>
            <a:endParaRPr lang="en-US" dirty="0">
              <a:solidFill>
                <a:schemeClr val="tx2">
                  <a:lumMod val="50000"/>
                </a:schemeClr>
              </a:solidFill>
            </a:endParaRPr>
          </a:p>
          <a:p>
            <a:endParaRPr lang="en-US" dirty="0">
              <a:solidFill>
                <a:schemeClr val="tx2">
                  <a:lumMod val="50000"/>
                </a:schemeClr>
              </a:solidFill>
            </a:endParaRPr>
          </a:p>
        </p:txBody>
      </p:sp>
      <p:sp>
        <p:nvSpPr>
          <p:cNvPr id="3" name="Title 2"/>
          <p:cNvSpPr>
            <a:spLocks noGrp="1"/>
          </p:cNvSpPr>
          <p:nvPr>
            <p:ph type="title"/>
          </p:nvPr>
        </p:nvSpPr>
        <p:spPr/>
        <p:txBody>
          <a:bodyPr/>
          <a:lstStyle/>
          <a:p>
            <a:r>
              <a:rPr lang="en-IN" b="1" dirty="0">
                <a:solidFill>
                  <a:schemeClr val="tx1"/>
                </a:solidFill>
              </a:rPr>
              <a:t>Snowflake </a:t>
            </a:r>
            <a:r>
              <a:rPr lang="en-US" b="1" dirty="0">
                <a:solidFill>
                  <a:schemeClr val="tx1"/>
                </a:solidFill>
              </a:rPr>
              <a:t>Pricing</a:t>
            </a:r>
            <a:endParaRPr lang="mr-IN" b="1" dirty="0"/>
          </a:p>
        </p:txBody>
      </p:sp>
      <p:sp>
        <p:nvSpPr>
          <p:cNvPr id="4" name="Title 2"/>
          <p:cNvSpPr txBox="1">
            <a:spLocks/>
          </p:cNvSpPr>
          <p:nvPr/>
        </p:nvSpPr>
        <p:spPr>
          <a:xfrm>
            <a:off x="694606" y="2159909"/>
            <a:ext cx="4824536" cy="690720"/>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dirty="0">
                <a:solidFill>
                  <a:schemeClr val="tx1"/>
                </a:solidFill>
                <a:latin typeface="Helvetica" panose="020B0604020202020204" pitchFamily="34" charset="0"/>
              </a:rPr>
              <a:t>Cost Depends On?</a:t>
            </a:r>
            <a:endParaRPr lang="mr-IN" dirty="0">
              <a:solidFill>
                <a:schemeClr val="tx1"/>
              </a:solidFill>
            </a:endParaRPr>
          </a:p>
        </p:txBody>
      </p:sp>
      <p:sp>
        <p:nvSpPr>
          <p:cNvPr id="8" name="Content Placeholder 1"/>
          <p:cNvSpPr txBox="1">
            <a:spLocks/>
          </p:cNvSpPr>
          <p:nvPr/>
        </p:nvSpPr>
        <p:spPr>
          <a:xfrm>
            <a:off x="7247334" y="3221359"/>
            <a:ext cx="3944163" cy="3057203"/>
          </a:xfrm>
          <a:prstGeom prst="rect">
            <a:avLst/>
          </a:prstGeom>
        </p:spPr>
        <p:txBody>
          <a:bodyPr vert="horz" lIns="91440" tIns="45720" rIns="91440" bIns="45720" rtlCol="0">
            <a:normAutofit/>
          </a:bodyPr>
          <a:lst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endParaRPr lang="en-US" dirty="0">
              <a:solidFill>
                <a:schemeClr val="tx2">
                  <a:lumMod val="50000"/>
                </a:schemeClr>
              </a:solidFill>
            </a:endParaRPr>
          </a:p>
        </p:txBody>
      </p:sp>
      <p:sp>
        <p:nvSpPr>
          <p:cNvPr id="9" name="Content Placeholder 1"/>
          <p:cNvSpPr txBox="1">
            <a:spLocks/>
          </p:cNvSpPr>
          <p:nvPr/>
        </p:nvSpPr>
        <p:spPr>
          <a:xfrm>
            <a:off x="6599262" y="3429000"/>
            <a:ext cx="4880267" cy="1431777"/>
          </a:xfrm>
          <a:prstGeom prst="rect">
            <a:avLst/>
          </a:prstGeom>
        </p:spPr>
        <p:txBody>
          <a:bodyPr vert="horz" lIns="91440" tIns="45720" rIns="91440" bIns="45720" rtlCol="0">
            <a:normAutofit fontScale="92500" lnSpcReduction="10000"/>
          </a:bodyPr>
          <a:lst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r>
              <a:rPr lang="en-US" dirty="0">
                <a:solidFill>
                  <a:srgbClr val="00B050"/>
                </a:solidFill>
              </a:rPr>
              <a:t>Cost is dependent on the edition we are choosing</a:t>
            </a:r>
            <a:endParaRPr lang="mr-IN" dirty="0">
              <a:solidFill>
                <a:srgbClr val="00B050"/>
              </a:solidFill>
            </a:endParaRPr>
          </a:p>
          <a:p>
            <a:r>
              <a:rPr lang="en-US" dirty="0">
                <a:solidFill>
                  <a:srgbClr val="00B050"/>
                </a:solidFill>
              </a:rPr>
              <a:t>Most of the organizations choose either Enterprise or Business Critical</a:t>
            </a:r>
          </a:p>
        </p:txBody>
      </p:sp>
      <p:sp>
        <p:nvSpPr>
          <p:cNvPr id="10" name="Title 2"/>
          <p:cNvSpPr txBox="1">
            <a:spLocks/>
          </p:cNvSpPr>
          <p:nvPr/>
        </p:nvSpPr>
        <p:spPr>
          <a:xfrm>
            <a:off x="6599262" y="2745108"/>
            <a:ext cx="2232248" cy="524069"/>
          </a:xfrm>
          <a:prstGeom prst="rect">
            <a:avLst/>
          </a:prstGeom>
        </p:spPr>
        <p:txBody>
          <a:bodyPr vert="horz" lIns="91440" tIns="45720" rIns="91440" bIns="45720" rtlCol="0" anchor="ctr">
            <a:normAutofit fontScale="70000" lnSpcReduction="20000"/>
          </a:bodyPr>
          <a:lst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mr-IN" dirty="0">
                <a:solidFill>
                  <a:srgbClr val="FF0000"/>
                </a:solidFill>
              </a:rPr>
              <a:t>📌</a:t>
            </a:r>
            <a:r>
              <a:rPr lang="en-US" dirty="0"/>
              <a:t> </a:t>
            </a:r>
            <a:r>
              <a:rPr lang="en-US" dirty="0">
                <a:solidFill>
                  <a:schemeClr val="tx1"/>
                </a:solidFill>
                <a:latin typeface="Helvetica" panose="020B0604020202020204" pitchFamily="34" charset="0"/>
              </a:rPr>
              <a:t>Tip:</a:t>
            </a:r>
            <a:endParaRPr lang="mr-IN" dirty="0">
              <a:solidFill>
                <a:schemeClr val="tx1"/>
              </a:solidFill>
            </a:endParaRPr>
          </a:p>
        </p:txBody>
      </p:sp>
    </p:spTree>
    <p:extLst>
      <p:ext uri="{BB962C8B-B14F-4D97-AF65-F5344CB8AC3E}">
        <p14:creationId xmlns:p14="http://schemas.microsoft.com/office/powerpoint/2010/main" val="20396055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162605" y="2675466"/>
            <a:ext cx="9876492" cy="3921885"/>
          </a:xfrm>
        </p:spPr>
        <p:txBody>
          <a:bodyPr>
            <a:normAutofit/>
          </a:bodyPr>
          <a:lstStyle/>
          <a:p>
            <a:pPr marL="514350" indent="-514350">
              <a:buAutoNum type="arabicPeriod"/>
            </a:pPr>
            <a:r>
              <a:rPr lang="en-IN" sz="3200" dirty="0"/>
              <a:t> Storage Cost</a:t>
            </a:r>
          </a:p>
          <a:p>
            <a:pPr marL="514350" indent="-514350">
              <a:buAutoNum type="arabicPeriod"/>
            </a:pPr>
            <a:r>
              <a:rPr lang="en-IN" sz="3200" dirty="0"/>
              <a:t>Compute Cost</a:t>
            </a:r>
          </a:p>
          <a:p>
            <a:pPr marL="514350" indent="-514350">
              <a:buAutoNum type="arabicPeriod"/>
            </a:pPr>
            <a:r>
              <a:rPr lang="en-IN" sz="3200" dirty="0"/>
              <a:t>Cloud Services Cost</a:t>
            </a:r>
          </a:p>
          <a:p>
            <a:pPr marL="0" indent="0">
              <a:buNone/>
            </a:pPr>
            <a:endParaRPr lang="en-IN" sz="3200" dirty="0"/>
          </a:p>
          <a:p>
            <a:pPr marL="0" indent="0">
              <a:buNone/>
            </a:pPr>
            <a:endParaRPr lang="en-IN" dirty="0"/>
          </a:p>
          <a:p>
            <a:pPr marL="0" indent="0">
              <a:buNone/>
            </a:pPr>
            <a:r>
              <a:rPr lang="en-IN" dirty="0">
                <a:solidFill>
                  <a:schemeClr val="accent6">
                    <a:lumMod val="75000"/>
                  </a:schemeClr>
                </a:solidFill>
              </a:rPr>
              <a:t>https://www.snowflake.com/en/pricing-options/</a:t>
            </a:r>
          </a:p>
          <a:p>
            <a:pPr marL="0" indent="0">
              <a:buNone/>
            </a:pPr>
            <a:endParaRPr lang="en-IN" sz="3200" dirty="0"/>
          </a:p>
          <a:p>
            <a:pPr marL="971550" lvl="1" indent="-514350">
              <a:buAutoNum type="arabicPeriod"/>
            </a:pPr>
            <a:endParaRPr lang="en-IN" dirty="0"/>
          </a:p>
          <a:p>
            <a:pPr marL="971550" lvl="1" indent="-514350">
              <a:buAutoNum type="arabicPeriod"/>
            </a:pPr>
            <a:endParaRPr lang="en-IN" dirty="0"/>
          </a:p>
          <a:p>
            <a:endParaRPr lang="mr-IN" dirty="0"/>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Types of Costs</a:t>
            </a:r>
            <a:endParaRPr lang="mr-IN" b="1" dirty="0">
              <a:solidFill>
                <a:schemeClr val="tx1"/>
              </a:solidFill>
            </a:endParaRPr>
          </a:p>
        </p:txBody>
      </p:sp>
    </p:spTree>
    <p:extLst>
      <p:ext uri="{BB962C8B-B14F-4D97-AF65-F5344CB8AC3E}">
        <p14:creationId xmlns:p14="http://schemas.microsoft.com/office/powerpoint/2010/main" val="3113289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solidFill>
                  <a:schemeClr val="tx1"/>
                </a:solidFill>
              </a:rPr>
              <a:t>A snowflake credit is a unit of measure</a:t>
            </a:r>
          </a:p>
          <a:p>
            <a:r>
              <a:rPr lang="en-US" dirty="0">
                <a:solidFill>
                  <a:schemeClr val="tx1"/>
                </a:solidFill>
              </a:rPr>
              <a:t>Snowflake credits are used to pay for the consumption of the resources on Snowflake</a:t>
            </a:r>
          </a:p>
          <a:p>
            <a:r>
              <a:rPr lang="en-US" dirty="0">
                <a:solidFill>
                  <a:schemeClr val="tx1"/>
                </a:solidFill>
              </a:rPr>
              <a:t>It is consumed only when a customer is using resources, such as when using virtual warehouses.</a:t>
            </a:r>
          </a:p>
          <a:p>
            <a:r>
              <a:rPr lang="en-US" dirty="0">
                <a:solidFill>
                  <a:schemeClr val="tx1"/>
                </a:solidFill>
              </a:rPr>
              <a:t>Users receives $400 worth of free usage upon creation of Snowflake free trial account</a:t>
            </a:r>
          </a:p>
        </p:txBody>
      </p:sp>
      <p:sp>
        <p:nvSpPr>
          <p:cNvPr id="3" name="Title 2"/>
          <p:cNvSpPr>
            <a:spLocks noGrp="1"/>
          </p:cNvSpPr>
          <p:nvPr>
            <p:ph type="title"/>
          </p:nvPr>
        </p:nvSpPr>
        <p:spPr/>
        <p:txBody>
          <a:bodyPr/>
          <a:lstStyle/>
          <a:p>
            <a:r>
              <a:rPr lang="en-US" b="1" dirty="0">
                <a:solidFill>
                  <a:schemeClr val="tx1"/>
                </a:solidFill>
                <a:latin typeface="Helvetica" panose="020B0604020202020204" pitchFamily="34" charset="0"/>
              </a:rPr>
              <a:t>What is a Snowflake Credit</a:t>
            </a:r>
            <a:endParaRPr lang="mr-IN" b="1" dirty="0">
              <a:solidFill>
                <a:schemeClr val="tx1"/>
              </a:solidFill>
            </a:endParaRPr>
          </a:p>
        </p:txBody>
      </p:sp>
    </p:spTree>
    <p:extLst>
      <p:ext uri="{BB962C8B-B14F-4D97-AF65-F5344CB8AC3E}">
        <p14:creationId xmlns:p14="http://schemas.microsoft.com/office/powerpoint/2010/main" val="744350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0" indent="0">
              <a:buNone/>
            </a:pPr>
            <a:r>
              <a:rPr lang="en-US" dirty="0">
                <a:solidFill>
                  <a:srgbClr val="000000"/>
                </a:solidFill>
                <a:latin typeface="+mj-lt"/>
                <a:cs typeface="Arial" panose="020B0604020202020204" pitchFamily="34" charset="0"/>
              </a:rPr>
              <a:t>Snowflake supports multiple ways of connecting to the service:</a:t>
            </a:r>
          </a:p>
          <a:p>
            <a:pPr marL="0" indent="0">
              <a:buNone/>
            </a:pPr>
            <a:endParaRPr lang="en-US" sz="900" dirty="0">
              <a:solidFill>
                <a:srgbClr val="000000"/>
              </a:solidFill>
              <a:latin typeface="+mj-lt"/>
              <a:cs typeface="Arial" panose="020B0604020202020204" pitchFamily="34" charset="0"/>
            </a:endParaRPr>
          </a:p>
          <a:p>
            <a:pPr>
              <a:buFont typeface="Arial" panose="020B0604020202020204" pitchFamily="34" charset="0"/>
              <a:buChar char="•"/>
            </a:pPr>
            <a:r>
              <a:rPr lang="en-US" dirty="0">
                <a:solidFill>
                  <a:srgbClr val="000000"/>
                </a:solidFill>
                <a:latin typeface="+mj-lt"/>
                <a:cs typeface="Arial" panose="020B0604020202020204" pitchFamily="34" charset="0"/>
              </a:rPr>
              <a:t>A web-based user interface from which all aspects of managing and using Snowflake can be accessed.</a:t>
            </a:r>
          </a:p>
          <a:p>
            <a:pPr>
              <a:buFont typeface="Arial" panose="020B0604020202020204" pitchFamily="34" charset="0"/>
              <a:buChar char="•"/>
            </a:pPr>
            <a:r>
              <a:rPr lang="en-US" dirty="0">
                <a:solidFill>
                  <a:srgbClr val="000000"/>
                </a:solidFill>
                <a:latin typeface="+mj-lt"/>
                <a:cs typeface="Arial" panose="020B0604020202020204" pitchFamily="34" charset="0"/>
              </a:rPr>
              <a:t>Command line clients (e.g. SnowSQL) which can also access all aspects of managing and using Snowflake.</a:t>
            </a:r>
          </a:p>
          <a:p>
            <a:pPr>
              <a:buFont typeface="Arial" panose="020B0604020202020204" pitchFamily="34" charset="0"/>
              <a:buChar char="•"/>
            </a:pPr>
            <a:r>
              <a:rPr lang="en-US" dirty="0">
                <a:solidFill>
                  <a:srgbClr val="000000"/>
                </a:solidFill>
                <a:latin typeface="+mj-lt"/>
                <a:cs typeface="Arial" panose="020B0604020202020204" pitchFamily="34" charset="0"/>
              </a:rPr>
              <a:t>ODBC and JDBC drivers that can be used by other applications (e.g. Tableau) to connect to Snowflake.</a:t>
            </a:r>
          </a:p>
          <a:p>
            <a:pPr>
              <a:buFont typeface="Arial" panose="020B0604020202020204" pitchFamily="34" charset="0"/>
              <a:buChar char="•"/>
            </a:pPr>
            <a:r>
              <a:rPr lang="en-US" dirty="0">
                <a:solidFill>
                  <a:srgbClr val="000000"/>
                </a:solidFill>
                <a:latin typeface="+mj-lt"/>
                <a:cs typeface="Arial" panose="020B0604020202020204" pitchFamily="34" charset="0"/>
              </a:rPr>
              <a:t>Through native connectors available in ETL tools (e.g. </a:t>
            </a:r>
            <a:r>
              <a:rPr lang="en-US" dirty="0" err="1">
                <a:solidFill>
                  <a:srgbClr val="000000"/>
                </a:solidFill>
                <a:latin typeface="+mj-lt"/>
                <a:cs typeface="Arial" panose="020B0604020202020204" pitchFamily="34" charset="0"/>
              </a:rPr>
              <a:t>Datastage</a:t>
            </a:r>
            <a:r>
              <a:rPr lang="en-US" dirty="0">
                <a:solidFill>
                  <a:srgbClr val="000000"/>
                </a:solidFill>
                <a:latin typeface="+mj-lt"/>
                <a:cs typeface="Arial" panose="020B0604020202020204" pitchFamily="34" charset="0"/>
              </a:rPr>
              <a:t>, </a:t>
            </a:r>
            <a:r>
              <a:rPr lang="en-US" dirty="0" err="1">
                <a:solidFill>
                  <a:srgbClr val="000000"/>
                </a:solidFill>
                <a:latin typeface="+mj-lt"/>
                <a:cs typeface="Arial" panose="020B0604020202020204" pitchFamily="34" charset="0"/>
              </a:rPr>
              <a:t>Informatica</a:t>
            </a:r>
            <a:r>
              <a:rPr lang="en-US" dirty="0">
                <a:solidFill>
                  <a:srgbClr val="000000"/>
                </a:solidFill>
                <a:latin typeface="+mj-lt"/>
                <a:cs typeface="Arial" panose="020B0604020202020204" pitchFamily="34" charset="0"/>
              </a:rPr>
              <a:t>)</a:t>
            </a:r>
            <a:endParaRPr lang="en-IN" dirty="0">
              <a:latin typeface="+mj-lt"/>
              <a:cs typeface="Arial" panose="020B0604020202020204" pitchFamily="34" charset="0"/>
            </a:endParaRPr>
          </a:p>
          <a:p>
            <a:pPr marL="0" indent="0">
              <a:buNone/>
            </a:pPr>
            <a:endParaRPr lang="mr-IN" dirty="0">
              <a:latin typeface="+mj-lt"/>
            </a:endParaRPr>
          </a:p>
        </p:txBody>
      </p:sp>
      <p:sp>
        <p:nvSpPr>
          <p:cNvPr id="3" name="Title 2"/>
          <p:cNvSpPr>
            <a:spLocks noGrp="1"/>
          </p:cNvSpPr>
          <p:nvPr>
            <p:ph type="title"/>
          </p:nvPr>
        </p:nvSpPr>
        <p:spPr/>
        <p:txBody>
          <a:bodyPr/>
          <a:lstStyle/>
          <a:p>
            <a:r>
              <a:rPr lang="en-IN" b="1" dirty="0">
                <a:solidFill>
                  <a:schemeClr val="tx1"/>
                </a:solidFill>
                <a:latin typeface="Arial" panose="020B0604020202020204" pitchFamily="34" charset="0"/>
                <a:cs typeface="Arial" panose="020B0604020202020204" pitchFamily="34" charset="0"/>
              </a:rPr>
              <a:t>Connecting to Snowflake</a:t>
            </a:r>
            <a:endParaRPr lang="mr-IN" dirty="0">
              <a:solidFill>
                <a:schemeClr val="tx1"/>
              </a:solidFill>
            </a:endParaRPr>
          </a:p>
        </p:txBody>
      </p:sp>
    </p:spTree>
    <p:extLst>
      <p:ext uri="{BB962C8B-B14F-4D97-AF65-F5344CB8AC3E}">
        <p14:creationId xmlns:p14="http://schemas.microsoft.com/office/powerpoint/2010/main" val="2585069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Create warehouse</a:t>
            </a:r>
          </a:p>
          <a:p>
            <a:r>
              <a:rPr lang="en-US" dirty="0"/>
              <a:t>Create database</a:t>
            </a:r>
          </a:p>
          <a:p>
            <a:r>
              <a:rPr lang="en-US" dirty="0"/>
              <a:t>Create schema</a:t>
            </a:r>
            <a:endParaRPr lang="mr-IN" dirty="0"/>
          </a:p>
        </p:txBody>
      </p:sp>
      <p:sp>
        <p:nvSpPr>
          <p:cNvPr id="3" name="Title 2"/>
          <p:cNvSpPr>
            <a:spLocks noGrp="1"/>
          </p:cNvSpPr>
          <p:nvPr>
            <p:ph type="title"/>
          </p:nvPr>
        </p:nvSpPr>
        <p:spPr/>
        <p:txBody>
          <a:bodyPr>
            <a:normAutofit/>
          </a:bodyPr>
          <a:lstStyle/>
          <a:p>
            <a:r>
              <a:rPr lang="en-US" sz="6600" b="1" dirty="0">
                <a:solidFill>
                  <a:schemeClr val="tx1"/>
                </a:solidFill>
              </a:rPr>
              <a:t>Account creation</a:t>
            </a:r>
            <a:endParaRPr lang="mr-IN" sz="6600" b="1" dirty="0"/>
          </a:p>
        </p:txBody>
      </p:sp>
    </p:spTree>
    <p:extLst>
      <p:ext uri="{BB962C8B-B14F-4D97-AF65-F5344CB8AC3E}">
        <p14:creationId xmlns:p14="http://schemas.microsoft.com/office/powerpoint/2010/main" val="447523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02718" y="2636912"/>
            <a:ext cx="8040235" cy="3450696"/>
          </a:xfrm>
        </p:spPr>
        <p:txBody>
          <a:bodyPr>
            <a:normAutofit/>
          </a:bodyPr>
          <a:lstStyle/>
          <a:p>
            <a:r>
              <a:rPr lang="en-US" sz="3200" dirty="0">
                <a:solidFill>
                  <a:schemeClr val="tx1"/>
                </a:solidFill>
              </a:rPr>
              <a:t>Tables</a:t>
            </a:r>
          </a:p>
          <a:p>
            <a:r>
              <a:rPr lang="en-US" sz="3200" dirty="0">
                <a:solidFill>
                  <a:schemeClr val="tx1"/>
                </a:solidFill>
              </a:rPr>
              <a:t>Views</a:t>
            </a:r>
            <a:endParaRPr lang="mr-IN" sz="3200" dirty="0">
              <a:solidFill>
                <a:schemeClr val="tx1"/>
              </a:solidFill>
            </a:endParaRPr>
          </a:p>
        </p:txBody>
      </p:sp>
      <p:sp>
        <p:nvSpPr>
          <p:cNvPr id="3" name="Title 2"/>
          <p:cNvSpPr>
            <a:spLocks noGrp="1"/>
          </p:cNvSpPr>
          <p:nvPr>
            <p:ph type="title"/>
          </p:nvPr>
        </p:nvSpPr>
        <p:spPr/>
        <p:txBody>
          <a:bodyPr>
            <a:normAutofit/>
          </a:bodyPr>
          <a:lstStyle/>
          <a:p>
            <a:r>
              <a:rPr lang="en-US" dirty="0">
                <a:solidFill>
                  <a:schemeClr val="tx1"/>
                </a:solidFill>
              </a:rPr>
              <a:t>Snowflake Objects</a:t>
            </a:r>
            <a:endParaRPr lang="mr-IN" dirty="0"/>
          </a:p>
        </p:txBody>
      </p:sp>
    </p:spTree>
    <p:extLst>
      <p:ext uri="{BB962C8B-B14F-4D97-AF65-F5344CB8AC3E}">
        <p14:creationId xmlns:p14="http://schemas.microsoft.com/office/powerpoint/2010/main" val="23230552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800" b="1" dirty="0">
                <a:solidFill>
                  <a:schemeClr val="tx1"/>
                </a:solidFill>
              </a:rPr>
              <a:t>Tables</a:t>
            </a:r>
            <a:endParaRPr lang="mr-IN" sz="4800" b="1" dirty="0">
              <a:solidFill>
                <a:schemeClr val="tx1"/>
              </a:solidFill>
            </a:endParaRPr>
          </a:p>
        </p:txBody>
      </p:sp>
      <p:pic>
        <p:nvPicPr>
          <p:cNvPr id="307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986" t="17379" r="2978" b="4611"/>
          <a:stretch/>
        </p:blipFill>
        <p:spPr bwMode="auto">
          <a:xfrm>
            <a:off x="982638" y="2420888"/>
            <a:ext cx="9823225" cy="4353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45847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mr-IN"/>
          </a:p>
        </p:txBody>
      </p:sp>
      <p:sp>
        <p:nvSpPr>
          <p:cNvPr id="3" name="Title 2"/>
          <p:cNvSpPr>
            <a:spLocks noGrp="1"/>
          </p:cNvSpPr>
          <p:nvPr>
            <p:ph type="title"/>
          </p:nvPr>
        </p:nvSpPr>
        <p:spPr/>
        <p:txBody>
          <a:bodyPr/>
          <a:lstStyle/>
          <a:p>
            <a:r>
              <a:rPr lang="en-US" b="1" dirty="0">
                <a:solidFill>
                  <a:schemeClr val="tx1"/>
                </a:solidFill>
              </a:rPr>
              <a:t>Tables and Their properties</a:t>
            </a:r>
            <a:endParaRPr lang="mr-IN" b="1" dirty="0">
              <a:solidFill>
                <a:schemeClr val="tx1"/>
              </a:solidFill>
            </a:endParaRPr>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1772"/>
          <a:stretch/>
        </p:blipFill>
        <p:spPr bwMode="auto">
          <a:xfrm>
            <a:off x="241640" y="2564904"/>
            <a:ext cx="11686214" cy="4104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70351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latin typeface="Arial" panose="020B0604020202020204" pitchFamily="34" charset="0"/>
                <a:cs typeface="Arial" panose="020B0604020202020204" pitchFamily="34" charset="0"/>
              </a:rPr>
              <a:t>	Look at the </a:t>
            </a:r>
            <a:r>
              <a:rPr lang="en-US" i="1" dirty="0">
                <a:latin typeface="Arial" panose="020B0604020202020204" pitchFamily="34" charset="0"/>
                <a:cs typeface="Arial" panose="020B0604020202020204" pitchFamily="34" charset="0"/>
              </a:rPr>
              <a:t>‘Kind’</a:t>
            </a:r>
            <a:r>
              <a:rPr lang="en-US" dirty="0">
                <a:latin typeface="Arial" panose="020B0604020202020204" pitchFamily="34" charset="0"/>
                <a:cs typeface="Arial" panose="020B0604020202020204" pitchFamily="34" charset="0"/>
              </a:rPr>
              <a:t> filed in SHOW TABLES properties</a:t>
            </a:r>
          </a:p>
          <a:p>
            <a:endParaRPr lang="mr-IN" dirty="0"/>
          </a:p>
        </p:txBody>
      </p:sp>
      <p:sp>
        <p:nvSpPr>
          <p:cNvPr id="3" name="Title 2"/>
          <p:cNvSpPr>
            <a:spLocks noGrp="1"/>
          </p:cNvSpPr>
          <p:nvPr>
            <p:ph type="title"/>
          </p:nvPr>
        </p:nvSpPr>
        <p:spPr/>
        <p:txBody>
          <a:bodyPr>
            <a:normAutofit/>
          </a:bodyPr>
          <a:lstStyle/>
          <a:p>
            <a:r>
              <a:rPr lang="en-US" b="1" dirty="0">
                <a:solidFill>
                  <a:schemeClr val="tx1"/>
                </a:solidFill>
                <a:latin typeface="Arial" panose="020B0604020202020204" pitchFamily="34" charset="0"/>
                <a:cs typeface="Arial" panose="020B0604020202020204" pitchFamily="34" charset="0"/>
              </a:rPr>
              <a:t>How to find the table type?</a:t>
            </a:r>
            <a:endParaRPr lang="mr-IN" b="1" dirty="0">
              <a:solidFill>
                <a:schemeClr val="tx1"/>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670" y="3717031"/>
            <a:ext cx="9937104" cy="2260127"/>
          </a:xfrm>
          <a:prstGeom prst="rect">
            <a:avLst/>
          </a:prstGeom>
          <a:solidFill>
            <a:schemeClr val="bg1"/>
          </a:solidFill>
          <a:ln w="9525">
            <a:solidFill>
              <a:schemeClr val="tx1"/>
            </a:solidFill>
            <a:miter lim="800000"/>
            <a:headEnd/>
            <a:tailEnd/>
          </a:ln>
          <a:effectLst/>
        </p:spPr>
      </p:pic>
      <p:sp>
        <p:nvSpPr>
          <p:cNvPr id="5" name="Rectangle 4"/>
          <p:cNvSpPr/>
          <p:nvPr/>
        </p:nvSpPr>
        <p:spPr>
          <a:xfrm>
            <a:off x="5015086" y="4653136"/>
            <a:ext cx="1224136" cy="720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r-IN"/>
          </a:p>
        </p:txBody>
      </p:sp>
      <p:sp>
        <p:nvSpPr>
          <p:cNvPr id="8" name="Rectangle 7"/>
          <p:cNvSpPr/>
          <p:nvPr/>
        </p:nvSpPr>
        <p:spPr>
          <a:xfrm>
            <a:off x="5019253" y="4941168"/>
            <a:ext cx="1224136" cy="720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r-IN"/>
          </a:p>
        </p:txBody>
      </p:sp>
      <p:sp>
        <p:nvSpPr>
          <p:cNvPr id="9" name="Rectangle 8"/>
          <p:cNvSpPr/>
          <p:nvPr/>
        </p:nvSpPr>
        <p:spPr>
          <a:xfrm>
            <a:off x="5003440" y="5229200"/>
            <a:ext cx="1224136" cy="720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r-IN"/>
          </a:p>
        </p:txBody>
      </p:sp>
      <p:sp>
        <p:nvSpPr>
          <p:cNvPr id="6" name="Rectangle 5"/>
          <p:cNvSpPr/>
          <p:nvPr/>
        </p:nvSpPr>
        <p:spPr>
          <a:xfrm>
            <a:off x="6455246" y="4653136"/>
            <a:ext cx="720080" cy="720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r-IN"/>
          </a:p>
        </p:txBody>
      </p:sp>
      <p:sp>
        <p:nvSpPr>
          <p:cNvPr id="12" name="Rectangle 11"/>
          <p:cNvSpPr/>
          <p:nvPr/>
        </p:nvSpPr>
        <p:spPr>
          <a:xfrm flipV="1">
            <a:off x="6498679" y="4941166"/>
            <a:ext cx="720080" cy="1070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r-IN"/>
          </a:p>
        </p:txBody>
      </p:sp>
      <p:sp>
        <p:nvSpPr>
          <p:cNvPr id="13" name="Rectangle 12"/>
          <p:cNvSpPr/>
          <p:nvPr/>
        </p:nvSpPr>
        <p:spPr>
          <a:xfrm>
            <a:off x="6455246" y="5229200"/>
            <a:ext cx="720080" cy="720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r-IN"/>
          </a:p>
        </p:txBody>
      </p:sp>
    </p:spTree>
    <p:extLst>
      <p:ext uri="{BB962C8B-B14F-4D97-AF65-F5344CB8AC3E}">
        <p14:creationId xmlns:p14="http://schemas.microsoft.com/office/powerpoint/2010/main" val="11390537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10000"/>
          </a:bodyPr>
          <a:lstStyle/>
          <a:p>
            <a:pPr>
              <a:lnSpc>
                <a:spcPct val="100000"/>
              </a:lnSpc>
              <a:spcBef>
                <a:spcPts val="300"/>
              </a:spcBef>
              <a:spcAft>
                <a:spcPts val="300"/>
              </a:spcAft>
            </a:pPr>
            <a:r>
              <a:rPr lang="en-US" dirty="0">
                <a:solidFill>
                  <a:srgbClr val="222222"/>
                </a:solidFill>
                <a:latin typeface="Arial" panose="020B0604020202020204" pitchFamily="34" charset="0"/>
              </a:rPr>
              <a:t>A View is a database object that contains SQL query built over one or multiple tables.</a:t>
            </a:r>
          </a:p>
          <a:p>
            <a:pPr>
              <a:lnSpc>
                <a:spcPct val="100000"/>
              </a:lnSpc>
              <a:spcBef>
                <a:spcPts val="300"/>
              </a:spcBef>
              <a:spcAft>
                <a:spcPts val="300"/>
              </a:spcAft>
            </a:pPr>
            <a:r>
              <a:rPr lang="en-US" dirty="0">
                <a:solidFill>
                  <a:srgbClr val="222222"/>
                </a:solidFill>
                <a:latin typeface="Arial" panose="020B0604020202020204" pitchFamily="34" charset="0"/>
              </a:rPr>
              <a:t>A View can be considered as a virtual table that can be used almost anywhere that a table can be used (filters, joins, </a:t>
            </a:r>
            <a:r>
              <a:rPr lang="en-US" dirty="0" err="1">
                <a:solidFill>
                  <a:srgbClr val="222222"/>
                </a:solidFill>
                <a:latin typeface="Arial" panose="020B0604020202020204" pitchFamily="34" charset="0"/>
              </a:rPr>
              <a:t>subqueries</a:t>
            </a:r>
            <a:r>
              <a:rPr lang="en-US" dirty="0">
                <a:solidFill>
                  <a:srgbClr val="222222"/>
                </a:solidFill>
                <a:latin typeface="Arial" panose="020B0604020202020204" pitchFamily="34" charset="0"/>
              </a:rPr>
              <a:t>, etc.). </a:t>
            </a:r>
          </a:p>
          <a:p>
            <a:pPr>
              <a:lnSpc>
                <a:spcPct val="100000"/>
              </a:lnSpc>
              <a:spcBef>
                <a:spcPts val="300"/>
              </a:spcBef>
              <a:spcAft>
                <a:spcPts val="300"/>
              </a:spcAft>
            </a:pPr>
            <a:r>
              <a:rPr lang="en-US" dirty="0">
                <a:solidFill>
                  <a:srgbClr val="222222"/>
                </a:solidFill>
                <a:latin typeface="Arial" panose="020B0604020202020204" pitchFamily="34" charset="0"/>
              </a:rPr>
              <a:t>Whenever you query a view, the underlying SQL query associated with the view gets executed dynamically and will fetch data from underlying tables.</a:t>
            </a:r>
          </a:p>
          <a:p>
            <a:pPr>
              <a:lnSpc>
                <a:spcPct val="100000"/>
              </a:lnSpc>
              <a:spcBef>
                <a:spcPts val="300"/>
              </a:spcBef>
              <a:spcAft>
                <a:spcPts val="300"/>
              </a:spcAft>
            </a:pPr>
            <a:r>
              <a:rPr lang="en-US" dirty="0">
                <a:solidFill>
                  <a:srgbClr val="000000"/>
                </a:solidFill>
                <a:latin typeface="Arial" panose="020B0604020202020204" pitchFamily="34" charset="0"/>
              </a:rPr>
              <a:t>Views serve a variety of purposes like combining, segregating and protecting data.</a:t>
            </a:r>
          </a:p>
          <a:p>
            <a:pPr>
              <a:lnSpc>
                <a:spcPct val="100000"/>
              </a:lnSpc>
              <a:spcBef>
                <a:spcPts val="300"/>
              </a:spcBef>
              <a:spcAft>
                <a:spcPts val="300"/>
              </a:spcAft>
            </a:pPr>
            <a:r>
              <a:rPr lang="en-US" dirty="0">
                <a:solidFill>
                  <a:srgbClr val="000000"/>
                </a:solidFill>
                <a:latin typeface="Arial" panose="020B0604020202020204" pitchFamily="34" charset="0"/>
              </a:rPr>
              <a:t>A view can be created with below syntax</a:t>
            </a:r>
          </a:p>
          <a:p>
            <a:pPr marL="0" indent="0">
              <a:lnSpc>
                <a:spcPct val="100000"/>
              </a:lnSpc>
              <a:spcBef>
                <a:spcPts val="300"/>
              </a:spcBef>
              <a:spcAft>
                <a:spcPts val="300"/>
              </a:spcAft>
              <a:buNone/>
            </a:pPr>
            <a:r>
              <a:rPr lang="en-US" sz="1600" dirty="0">
                <a:solidFill>
                  <a:srgbClr val="222222"/>
                </a:solidFill>
                <a:latin typeface="Arial" panose="020B0604020202020204" pitchFamily="34" charset="0"/>
              </a:rPr>
              <a:t>	</a:t>
            </a:r>
            <a:r>
              <a:rPr lang="en-US" sz="1800" dirty="0">
                <a:solidFill>
                  <a:srgbClr val="222222"/>
                </a:solidFill>
                <a:latin typeface="Arial" panose="020B0604020202020204" pitchFamily="34" charset="0"/>
              </a:rPr>
              <a:t>CREATE OR REPLACE VIEW </a:t>
            </a:r>
            <a:r>
              <a:rPr lang="en-US" sz="1800" i="1" dirty="0">
                <a:solidFill>
                  <a:srgbClr val="222222"/>
                </a:solidFill>
                <a:latin typeface="Arial" panose="020B0604020202020204" pitchFamily="34" charset="0"/>
              </a:rPr>
              <a:t>VIEW_NAME</a:t>
            </a:r>
          </a:p>
          <a:p>
            <a:pPr marL="0" indent="0">
              <a:lnSpc>
                <a:spcPct val="100000"/>
              </a:lnSpc>
              <a:spcBef>
                <a:spcPts val="300"/>
              </a:spcBef>
              <a:spcAft>
                <a:spcPts val="300"/>
              </a:spcAft>
              <a:buNone/>
            </a:pPr>
            <a:r>
              <a:rPr lang="en-US" sz="1800" dirty="0">
                <a:solidFill>
                  <a:srgbClr val="222222"/>
                </a:solidFill>
                <a:latin typeface="Arial" panose="020B0604020202020204" pitchFamily="34" charset="0"/>
              </a:rPr>
              <a:t>	AS</a:t>
            </a:r>
            <a:br>
              <a:rPr lang="en-US" sz="1800" dirty="0"/>
            </a:br>
            <a:r>
              <a:rPr lang="en-US" sz="1800" dirty="0"/>
              <a:t>	</a:t>
            </a:r>
            <a:r>
              <a:rPr lang="en-US" sz="1800" dirty="0">
                <a:solidFill>
                  <a:srgbClr val="222222"/>
                </a:solidFill>
                <a:latin typeface="Arial" panose="020B0604020202020204" pitchFamily="34" charset="0"/>
              </a:rPr>
              <a:t>SELECT Statement;</a:t>
            </a: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Views</a:t>
            </a:r>
            <a:endParaRPr lang="mr-IN" b="1" dirty="0">
              <a:solidFill>
                <a:schemeClr val="tx1"/>
              </a:solidFill>
            </a:endParaRPr>
          </a:p>
        </p:txBody>
      </p:sp>
    </p:spTree>
    <p:extLst>
      <p:ext uri="{BB962C8B-B14F-4D97-AF65-F5344CB8AC3E}">
        <p14:creationId xmlns:p14="http://schemas.microsoft.com/office/powerpoint/2010/main" val="16493609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nSpc>
                <a:spcPct val="110000"/>
              </a:lnSpc>
              <a:spcBef>
                <a:spcPts val="0"/>
              </a:spcBef>
              <a:spcAft>
                <a:spcPts val="600"/>
              </a:spcAft>
              <a:buNone/>
            </a:pPr>
            <a:r>
              <a:rPr lang="en-IN" dirty="0">
                <a:latin typeface="Arial" panose="020B0604020202020204" pitchFamily="34" charset="0"/>
                <a:cs typeface="Arial" panose="020B0604020202020204" pitchFamily="34" charset="0"/>
              </a:rPr>
              <a:t>In snowflake we can see 3 types of views.</a:t>
            </a:r>
          </a:p>
          <a:p>
            <a:pPr marL="457200" indent="-457200">
              <a:lnSpc>
                <a:spcPct val="110000"/>
              </a:lnSpc>
              <a:spcBef>
                <a:spcPts val="0"/>
              </a:spcBef>
              <a:spcAft>
                <a:spcPts val="600"/>
              </a:spcAft>
              <a:buAutoNum type="arabicPeriod"/>
            </a:pPr>
            <a:r>
              <a:rPr lang="en-IN" dirty="0">
                <a:latin typeface="Arial" panose="020B0604020202020204" pitchFamily="34" charset="0"/>
                <a:cs typeface="Arial" panose="020B0604020202020204" pitchFamily="34" charset="0"/>
              </a:rPr>
              <a:t>Non-materialized views (Normal views)</a:t>
            </a:r>
          </a:p>
          <a:p>
            <a:pPr marL="457200" indent="-457200">
              <a:lnSpc>
                <a:spcPct val="110000"/>
              </a:lnSpc>
              <a:spcBef>
                <a:spcPts val="0"/>
              </a:spcBef>
              <a:spcAft>
                <a:spcPts val="600"/>
              </a:spcAft>
              <a:buAutoNum type="arabicPeriod"/>
            </a:pPr>
            <a:r>
              <a:rPr lang="en-IN" dirty="0">
                <a:latin typeface="Arial" panose="020B0604020202020204" pitchFamily="34" charset="0"/>
                <a:cs typeface="Arial" panose="020B0604020202020204" pitchFamily="34" charset="0"/>
              </a:rPr>
              <a:t>Secure views</a:t>
            </a:r>
          </a:p>
          <a:p>
            <a:pPr marL="457200" indent="-457200">
              <a:lnSpc>
                <a:spcPct val="110000"/>
              </a:lnSpc>
              <a:spcBef>
                <a:spcPts val="0"/>
              </a:spcBef>
              <a:spcAft>
                <a:spcPts val="600"/>
              </a:spcAft>
              <a:buAutoNum type="arabicPeriod"/>
            </a:pPr>
            <a:r>
              <a:rPr lang="en-IN" dirty="0">
                <a:latin typeface="Arial" panose="020B0604020202020204" pitchFamily="34" charset="0"/>
                <a:cs typeface="Arial" panose="020B0604020202020204" pitchFamily="34" charset="0"/>
              </a:rPr>
              <a:t>Materialized views</a:t>
            </a:r>
          </a:p>
          <a:p>
            <a:pPr marL="457200" indent="-457200">
              <a:lnSpc>
                <a:spcPct val="110000"/>
              </a:lnSpc>
              <a:spcBef>
                <a:spcPts val="0"/>
              </a:spcBef>
              <a:spcAft>
                <a:spcPts val="600"/>
              </a:spcAft>
              <a:buAutoNum type="arabicPeriod"/>
            </a:pPr>
            <a:endParaRPr lang="en-IN" dirty="0">
              <a:latin typeface="Arial" panose="020B0604020202020204" pitchFamily="34" charset="0"/>
              <a:cs typeface="Arial" panose="020B0604020202020204" pitchFamily="34" charset="0"/>
            </a:endParaRPr>
          </a:p>
          <a:p>
            <a:endParaRPr lang="mr-IN" dirty="0"/>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Types of Views</a:t>
            </a:r>
            <a:endParaRPr lang="mr-IN" b="1" dirty="0">
              <a:solidFill>
                <a:schemeClr val="tx1"/>
              </a:solidFill>
            </a:endParaRPr>
          </a:p>
        </p:txBody>
      </p:sp>
    </p:spTree>
    <p:extLst>
      <p:ext uri="{BB962C8B-B14F-4D97-AF65-F5344CB8AC3E}">
        <p14:creationId xmlns:p14="http://schemas.microsoft.com/office/powerpoint/2010/main" val="22349968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622" y="2492896"/>
            <a:ext cx="10801200" cy="3960440"/>
          </a:xfrm>
        </p:spPr>
        <p:txBody>
          <a:bodyPr>
            <a:normAutofit/>
          </a:bodyPr>
          <a:lstStyle/>
          <a:p>
            <a:r>
              <a:rPr lang="en-US" sz="2000" dirty="0">
                <a:solidFill>
                  <a:srgbClr val="222222"/>
                </a:solidFill>
                <a:latin typeface="+mj-lt"/>
              </a:rPr>
              <a:t>A Secure View does not allow users to see the definition of the view.</a:t>
            </a:r>
          </a:p>
          <a:p>
            <a:r>
              <a:rPr lang="en-US" sz="2000" dirty="0">
                <a:solidFill>
                  <a:srgbClr val="222222"/>
                </a:solidFill>
                <a:latin typeface="+mj-lt"/>
              </a:rPr>
              <a:t>Users can’t see the underlying </a:t>
            </a:r>
            <a:r>
              <a:rPr lang="en-US" sz="2000" dirty="0" err="1">
                <a:solidFill>
                  <a:srgbClr val="222222"/>
                </a:solidFill>
                <a:latin typeface="+mj-lt"/>
              </a:rPr>
              <a:t>sql</a:t>
            </a:r>
            <a:r>
              <a:rPr lang="en-US" sz="2000" dirty="0">
                <a:solidFill>
                  <a:srgbClr val="222222"/>
                </a:solidFill>
                <a:latin typeface="+mj-lt"/>
              </a:rPr>
              <a:t> query.</a:t>
            </a:r>
          </a:p>
          <a:p>
            <a:r>
              <a:rPr lang="en-US" sz="2000" dirty="0">
                <a:solidFill>
                  <a:srgbClr val="222222"/>
                </a:solidFill>
                <a:latin typeface="+mj-lt"/>
              </a:rPr>
              <a:t>The definition of a secure view is only exposed to authorized users i.e. users who have been granted the role that owns the view.</a:t>
            </a:r>
          </a:p>
          <a:p>
            <a:r>
              <a:rPr lang="en-US" sz="2000" dirty="0">
                <a:solidFill>
                  <a:srgbClr val="222222"/>
                </a:solidFill>
                <a:latin typeface="+mj-lt"/>
              </a:rPr>
              <a:t>2 Advantages of secure views</a:t>
            </a:r>
          </a:p>
          <a:p>
            <a:pPr lvl="1"/>
            <a:r>
              <a:rPr lang="en-US" sz="2000" dirty="0">
                <a:solidFill>
                  <a:srgbClr val="222222"/>
                </a:solidFill>
                <a:latin typeface="+mj-lt"/>
              </a:rPr>
              <a:t>Can protect the data by not exposing to other users.</a:t>
            </a:r>
          </a:p>
          <a:p>
            <a:pPr lvl="1"/>
            <a:r>
              <a:rPr lang="en-US" sz="2000" dirty="0">
                <a:solidFill>
                  <a:srgbClr val="222222"/>
                </a:solidFill>
                <a:latin typeface="+mj-lt"/>
              </a:rPr>
              <a:t>I don’t want the users to see underlying tables present in our database</a:t>
            </a:r>
            <a:r>
              <a:rPr lang="en-IN" sz="2000" dirty="0">
                <a:solidFill>
                  <a:srgbClr val="222222"/>
                </a:solidFill>
                <a:latin typeface="+mj-lt"/>
              </a:rPr>
              <a:t>.</a:t>
            </a:r>
          </a:p>
          <a:p>
            <a:r>
              <a:rPr lang="en-US" sz="2000" dirty="0">
                <a:solidFill>
                  <a:srgbClr val="222222"/>
                </a:solidFill>
                <a:latin typeface="+mj-lt"/>
              </a:rPr>
              <a:t>Use SECURE keyword to create secure views</a:t>
            </a:r>
          </a:p>
          <a:p>
            <a:pPr marL="0" indent="0">
              <a:lnSpc>
                <a:spcPct val="100000"/>
              </a:lnSpc>
              <a:spcBef>
                <a:spcPts val="300"/>
              </a:spcBef>
              <a:spcAft>
                <a:spcPts val="300"/>
              </a:spcAft>
              <a:buNone/>
            </a:pPr>
            <a:r>
              <a:rPr lang="en-US" sz="2000" dirty="0">
                <a:solidFill>
                  <a:srgbClr val="222222"/>
                </a:solidFill>
                <a:latin typeface="+mj-lt"/>
              </a:rPr>
              <a:t>	</a:t>
            </a:r>
            <a:r>
              <a:rPr lang="en-US" sz="1600" dirty="0">
                <a:solidFill>
                  <a:srgbClr val="222222"/>
                </a:solidFill>
                <a:latin typeface="+mj-lt"/>
              </a:rPr>
              <a:t>CREATE OR REPLACE SECURE VIEW </a:t>
            </a:r>
            <a:r>
              <a:rPr lang="en-US" sz="1600" i="1" dirty="0">
                <a:solidFill>
                  <a:srgbClr val="222222"/>
                </a:solidFill>
                <a:latin typeface="+mj-lt"/>
              </a:rPr>
              <a:t>VIEW_NAME</a:t>
            </a:r>
          </a:p>
          <a:p>
            <a:pPr marL="0" indent="0">
              <a:lnSpc>
                <a:spcPct val="100000"/>
              </a:lnSpc>
              <a:spcBef>
                <a:spcPts val="300"/>
              </a:spcBef>
              <a:spcAft>
                <a:spcPts val="300"/>
              </a:spcAft>
              <a:buNone/>
            </a:pPr>
            <a:r>
              <a:rPr lang="en-US" sz="1600" dirty="0">
                <a:solidFill>
                  <a:srgbClr val="222222"/>
                </a:solidFill>
                <a:latin typeface="+mj-lt"/>
              </a:rPr>
              <a:t>	AS</a:t>
            </a:r>
            <a:br>
              <a:rPr lang="en-US" sz="1600" dirty="0">
                <a:latin typeface="+mj-lt"/>
              </a:rPr>
            </a:br>
            <a:r>
              <a:rPr lang="en-US" sz="1600" dirty="0">
                <a:latin typeface="+mj-lt"/>
              </a:rPr>
              <a:t>	</a:t>
            </a:r>
            <a:r>
              <a:rPr lang="en-US" sz="1600" dirty="0">
                <a:solidFill>
                  <a:srgbClr val="222222"/>
                </a:solidFill>
                <a:latin typeface="+mj-lt"/>
              </a:rPr>
              <a:t>SELECT Statement;</a:t>
            </a: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Secure Views</a:t>
            </a:r>
            <a:endParaRPr lang="mr-IN" b="1" dirty="0">
              <a:solidFill>
                <a:schemeClr val="tx1"/>
              </a:solidFill>
            </a:endParaRPr>
          </a:p>
        </p:txBody>
      </p:sp>
    </p:spTree>
    <p:extLst>
      <p:ext uri="{BB962C8B-B14F-4D97-AF65-F5344CB8AC3E}">
        <p14:creationId xmlns:p14="http://schemas.microsoft.com/office/powerpoint/2010/main" val="39232161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IN" sz="1800" dirty="0">
                <a:solidFill>
                  <a:schemeClr val="tx1"/>
                </a:solidFill>
                <a:latin typeface="+mj-lt"/>
                <a:cs typeface="Arial" panose="020B0604020202020204" pitchFamily="34" charset="0"/>
              </a:rPr>
              <a:t>A materialized view stores pre-computed result set.</a:t>
            </a:r>
          </a:p>
          <a:p>
            <a:r>
              <a:rPr lang="en-IN" sz="1800" dirty="0">
                <a:solidFill>
                  <a:schemeClr val="tx1"/>
                </a:solidFill>
                <a:latin typeface="+mj-lt"/>
                <a:cs typeface="Arial" panose="020B0604020202020204" pitchFamily="34" charset="0"/>
              </a:rPr>
              <a:t>Querying a materialized view gives better performance than querying the base tables.</a:t>
            </a:r>
          </a:p>
          <a:p>
            <a:r>
              <a:rPr lang="en-IN" sz="1800" dirty="0">
                <a:solidFill>
                  <a:schemeClr val="tx1"/>
                </a:solidFill>
                <a:latin typeface="+mj-lt"/>
                <a:cs typeface="Arial" panose="020B0604020202020204" pitchFamily="34" charset="0"/>
              </a:rPr>
              <a:t>Can create on a single table, can’t build on multiple tables.</a:t>
            </a:r>
          </a:p>
          <a:p>
            <a:r>
              <a:rPr lang="en-IN" sz="1800" dirty="0">
                <a:solidFill>
                  <a:schemeClr val="tx1"/>
                </a:solidFill>
                <a:latin typeface="+mj-lt"/>
                <a:cs typeface="Arial" panose="020B0604020202020204" pitchFamily="34" charset="0"/>
              </a:rPr>
              <a:t>Designed for improved query performance when we are using same dataset repeatedly.</a:t>
            </a:r>
          </a:p>
          <a:p>
            <a:r>
              <a:rPr lang="en-IN" sz="1800" dirty="0">
                <a:solidFill>
                  <a:schemeClr val="tx1"/>
                </a:solidFill>
                <a:latin typeface="+mj-lt"/>
                <a:cs typeface="Arial" panose="020B0604020202020204" pitchFamily="34" charset="0"/>
              </a:rPr>
              <a:t>Available in Enterprise edition and higher.</a:t>
            </a:r>
          </a:p>
          <a:p>
            <a:r>
              <a:rPr lang="en-IN" sz="1800" dirty="0">
                <a:solidFill>
                  <a:schemeClr val="tx1"/>
                </a:solidFill>
                <a:latin typeface="+mj-lt"/>
                <a:cs typeface="Arial" panose="020B0604020202020204" pitchFamily="34" charset="0"/>
              </a:rPr>
              <a:t>Can be created with MATERIALIZED key word</a:t>
            </a:r>
          </a:p>
          <a:p>
            <a:pPr marL="0" indent="0">
              <a:lnSpc>
                <a:spcPct val="100000"/>
              </a:lnSpc>
              <a:spcBef>
                <a:spcPts val="300"/>
              </a:spcBef>
              <a:spcAft>
                <a:spcPts val="300"/>
              </a:spcAft>
              <a:buNone/>
            </a:pPr>
            <a:r>
              <a:rPr lang="en-US" sz="2000" dirty="0">
                <a:solidFill>
                  <a:schemeClr val="tx1"/>
                </a:solidFill>
                <a:latin typeface="+mj-lt"/>
              </a:rPr>
              <a:t>	</a:t>
            </a:r>
            <a:r>
              <a:rPr lang="en-US" sz="1600" dirty="0">
                <a:solidFill>
                  <a:schemeClr val="tx1"/>
                </a:solidFill>
                <a:latin typeface="+mj-lt"/>
              </a:rPr>
              <a:t>CREATE OR REPLACE MATERIALIZED VIEW </a:t>
            </a:r>
            <a:r>
              <a:rPr lang="en-US" sz="1600" i="1" dirty="0">
                <a:solidFill>
                  <a:schemeClr val="tx1"/>
                </a:solidFill>
                <a:latin typeface="+mj-lt"/>
              </a:rPr>
              <a:t>VIEW_NAME</a:t>
            </a:r>
          </a:p>
          <a:p>
            <a:pPr marL="0" indent="0">
              <a:lnSpc>
                <a:spcPct val="100000"/>
              </a:lnSpc>
              <a:spcBef>
                <a:spcPts val="300"/>
              </a:spcBef>
              <a:spcAft>
                <a:spcPts val="300"/>
              </a:spcAft>
              <a:buNone/>
            </a:pPr>
            <a:r>
              <a:rPr lang="en-US" sz="1600" dirty="0">
                <a:solidFill>
                  <a:schemeClr val="tx1"/>
                </a:solidFill>
                <a:latin typeface="+mj-lt"/>
              </a:rPr>
              <a:t>	AS</a:t>
            </a:r>
            <a:br>
              <a:rPr lang="en-US" sz="1600" dirty="0">
                <a:solidFill>
                  <a:schemeClr val="tx1"/>
                </a:solidFill>
                <a:latin typeface="+mj-lt"/>
              </a:rPr>
            </a:br>
            <a:r>
              <a:rPr lang="en-US" sz="1600" dirty="0">
                <a:solidFill>
                  <a:schemeClr val="tx1"/>
                </a:solidFill>
                <a:latin typeface="+mj-lt"/>
              </a:rPr>
              <a:t>	SELECT Statement;</a:t>
            </a:r>
            <a:endParaRPr lang="en-IN" sz="1800" dirty="0">
              <a:solidFill>
                <a:schemeClr val="tx1"/>
              </a:solidFill>
              <a:latin typeface="+mj-lt"/>
              <a:cs typeface="Arial" panose="020B0604020202020204" pitchFamily="34" charset="0"/>
            </a:endParaRPr>
          </a:p>
          <a:p>
            <a:endParaRPr lang="mr-IN" sz="1800" dirty="0">
              <a:solidFill>
                <a:schemeClr val="tx1"/>
              </a:solidFill>
              <a:latin typeface="+mj-lt"/>
            </a:endParaRP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Materialized Views</a:t>
            </a:r>
            <a:endParaRPr lang="mr-IN" b="1" dirty="0">
              <a:solidFill>
                <a:schemeClr val="tx1"/>
              </a:solidFill>
            </a:endParaRPr>
          </a:p>
        </p:txBody>
      </p:sp>
    </p:spTree>
    <p:extLst>
      <p:ext uri="{BB962C8B-B14F-4D97-AF65-F5344CB8AC3E}">
        <p14:creationId xmlns:p14="http://schemas.microsoft.com/office/powerpoint/2010/main" val="39751070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a:buFont typeface="Arial" panose="020B0604020202020204" pitchFamily="34" charset="0"/>
              <a:buChar char="•"/>
            </a:pPr>
            <a:r>
              <a:rPr lang="en-US" sz="2000" dirty="0">
                <a:solidFill>
                  <a:srgbClr val="000000"/>
                </a:solidFill>
                <a:latin typeface="Arial" panose="020B0604020202020204" pitchFamily="34" charset="0"/>
              </a:rPr>
              <a:t>Create a materialized view when </a:t>
            </a:r>
            <a:r>
              <a:rPr lang="en-US" sz="2000" b="1" i="1" dirty="0">
                <a:solidFill>
                  <a:srgbClr val="000000"/>
                </a:solidFill>
                <a:latin typeface="Arial" panose="020B0604020202020204" pitchFamily="34" charset="0"/>
              </a:rPr>
              <a:t>all</a:t>
            </a:r>
            <a:r>
              <a:rPr lang="en-US" sz="2000" dirty="0">
                <a:solidFill>
                  <a:srgbClr val="000000"/>
                </a:solidFill>
                <a:latin typeface="Arial" panose="020B0604020202020204" pitchFamily="34" charset="0"/>
              </a:rPr>
              <a:t> of the following are true:</a:t>
            </a:r>
          </a:p>
          <a:p>
            <a:pPr marL="742950" lvl="1" indent="-285750">
              <a:buFont typeface="Arial" panose="020B0604020202020204" pitchFamily="34" charset="0"/>
              <a:buChar char="•"/>
            </a:pPr>
            <a:r>
              <a:rPr lang="en-US" sz="2000" dirty="0">
                <a:solidFill>
                  <a:srgbClr val="000000"/>
                </a:solidFill>
                <a:latin typeface="Arial" panose="020B0604020202020204" pitchFamily="34" charset="0"/>
              </a:rPr>
              <a:t>The query results from the view don’t change often</a:t>
            </a:r>
          </a:p>
          <a:p>
            <a:pPr marL="742950" lvl="1" indent="-285750">
              <a:buFont typeface="Arial" panose="020B0604020202020204" pitchFamily="34" charset="0"/>
              <a:buChar char="•"/>
            </a:pPr>
            <a:r>
              <a:rPr lang="en-US" sz="2000" dirty="0">
                <a:solidFill>
                  <a:srgbClr val="000000"/>
                </a:solidFill>
                <a:latin typeface="Arial" panose="020B0604020202020204" pitchFamily="34" charset="0"/>
              </a:rPr>
              <a:t>The results of the view are used often</a:t>
            </a:r>
          </a:p>
          <a:p>
            <a:pPr marL="742950" lvl="1" indent="-285750">
              <a:buFont typeface="Arial" panose="020B0604020202020204" pitchFamily="34" charset="0"/>
              <a:buChar char="•"/>
            </a:pPr>
            <a:r>
              <a:rPr lang="en-US" sz="2000" dirty="0">
                <a:solidFill>
                  <a:srgbClr val="000000"/>
                </a:solidFill>
                <a:latin typeface="Arial" panose="020B0604020202020204" pitchFamily="34" charset="0"/>
              </a:rPr>
              <a:t>The query consumes a lot of resources means query takes longer time for processing like aggregating data.</a:t>
            </a:r>
          </a:p>
          <a:p>
            <a:pPr marL="457200" lvl="1" indent="0">
              <a:buNone/>
            </a:pPr>
            <a:endParaRPr lang="en-US" sz="2000" dirty="0">
              <a:solidFill>
                <a:srgbClr val="000000"/>
              </a:solidFill>
              <a:latin typeface="Arial" panose="020B0604020202020204" pitchFamily="34" charset="0"/>
            </a:endParaRPr>
          </a:p>
          <a:p>
            <a:pPr>
              <a:buFont typeface="Arial" panose="020B0604020202020204" pitchFamily="34" charset="0"/>
              <a:buChar char="•"/>
            </a:pPr>
            <a:r>
              <a:rPr lang="en-US" sz="2000" dirty="0">
                <a:solidFill>
                  <a:srgbClr val="000000"/>
                </a:solidFill>
                <a:latin typeface="Arial" panose="020B0604020202020204" pitchFamily="34" charset="0"/>
              </a:rPr>
              <a:t>Create a regular view when </a:t>
            </a:r>
            <a:r>
              <a:rPr lang="en-US" sz="2000" b="1" i="1" dirty="0">
                <a:solidFill>
                  <a:srgbClr val="000000"/>
                </a:solidFill>
                <a:latin typeface="Arial" panose="020B0604020202020204" pitchFamily="34" charset="0"/>
              </a:rPr>
              <a:t>any</a:t>
            </a:r>
            <a:r>
              <a:rPr lang="en-US" sz="2000" dirty="0">
                <a:solidFill>
                  <a:srgbClr val="000000"/>
                </a:solidFill>
                <a:latin typeface="Arial" panose="020B0604020202020204" pitchFamily="34" charset="0"/>
              </a:rPr>
              <a:t> of the following are true:</a:t>
            </a:r>
          </a:p>
          <a:p>
            <a:pPr marL="742950" lvl="1" indent="-285750">
              <a:buFont typeface="Arial" panose="020B0604020202020204" pitchFamily="34" charset="0"/>
              <a:buChar char="•"/>
            </a:pPr>
            <a:r>
              <a:rPr lang="en-US" sz="2000" dirty="0">
                <a:solidFill>
                  <a:srgbClr val="000000"/>
                </a:solidFill>
                <a:latin typeface="Arial" panose="020B0604020202020204" pitchFamily="34" charset="0"/>
              </a:rPr>
              <a:t>The results of the view change often</a:t>
            </a:r>
          </a:p>
          <a:p>
            <a:pPr marL="742950" lvl="1" indent="-285750">
              <a:buFont typeface="Arial" panose="020B0604020202020204" pitchFamily="34" charset="0"/>
              <a:buChar char="•"/>
            </a:pPr>
            <a:r>
              <a:rPr lang="en-US" sz="2000" dirty="0">
                <a:solidFill>
                  <a:srgbClr val="000000"/>
                </a:solidFill>
                <a:latin typeface="Arial" panose="020B0604020202020204" pitchFamily="34" charset="0"/>
              </a:rPr>
              <a:t>The results are not used often</a:t>
            </a:r>
          </a:p>
          <a:p>
            <a:pPr marL="742950" lvl="1" indent="-285750">
              <a:buFont typeface="Arial" panose="020B0604020202020204" pitchFamily="34" charset="0"/>
              <a:buChar char="•"/>
            </a:pPr>
            <a:r>
              <a:rPr lang="en-US" sz="2000" dirty="0">
                <a:solidFill>
                  <a:srgbClr val="000000"/>
                </a:solidFill>
                <a:latin typeface="Arial" panose="020B0604020202020204" pitchFamily="34" charset="0"/>
              </a:rPr>
              <a:t>The query is simple</a:t>
            </a:r>
          </a:p>
          <a:p>
            <a:pPr marL="742950" lvl="1" indent="-285750">
              <a:buFont typeface="Arial" panose="020B0604020202020204" pitchFamily="34" charset="0"/>
              <a:buChar char="•"/>
            </a:pPr>
            <a:r>
              <a:rPr lang="en-US" sz="2000" dirty="0">
                <a:solidFill>
                  <a:srgbClr val="000000"/>
                </a:solidFill>
                <a:latin typeface="Arial" panose="020B0604020202020204" pitchFamily="34" charset="0"/>
              </a:rPr>
              <a:t>The query contains multiple tables</a:t>
            </a:r>
          </a:p>
          <a:p>
            <a:endParaRPr lang="mr-IN" dirty="0"/>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When to create Materialized Views</a:t>
            </a:r>
            <a:endParaRPr lang="mr-IN" b="1" dirty="0">
              <a:solidFill>
                <a:schemeClr val="tx1"/>
              </a:solidFill>
            </a:endParaRPr>
          </a:p>
        </p:txBody>
      </p:sp>
    </p:spTree>
    <p:extLst>
      <p:ext uri="{BB962C8B-B14F-4D97-AF65-F5344CB8AC3E}">
        <p14:creationId xmlns:p14="http://schemas.microsoft.com/office/powerpoint/2010/main" val="15911881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22598" y="2564904"/>
            <a:ext cx="10416499" cy="4104456"/>
          </a:xfrm>
        </p:spPr>
        <p:txBody>
          <a:bodyPr>
            <a:normAutofit/>
          </a:bodyPr>
          <a:lstStyle/>
          <a:p>
            <a:pPr marL="285750" indent="-285750">
              <a:spcBef>
                <a:spcPts val="300"/>
              </a:spcBef>
              <a:spcAft>
                <a:spcPts val="300"/>
              </a:spcAft>
              <a:buFont typeface="Arial" panose="020B0604020202020204" pitchFamily="34" charset="0"/>
              <a:buChar char="•"/>
            </a:pPr>
            <a:r>
              <a:rPr lang="en-IN" sz="2000" dirty="0">
                <a:solidFill>
                  <a:schemeClr val="tx1"/>
                </a:solidFill>
                <a:latin typeface="+mj-lt"/>
                <a:ea typeface="Calibri" panose="020F0502020204030204" pitchFamily="34" charset="0"/>
                <a:cs typeface="Arial" panose="020B0604020202020204" pitchFamily="34" charset="0"/>
              </a:rPr>
              <a:t>Snowflake has implemented a powerful and unique form of partitioning, called </a:t>
            </a:r>
            <a:r>
              <a:rPr lang="en-IN" sz="2000" i="1" dirty="0">
                <a:solidFill>
                  <a:schemeClr val="tx1"/>
                </a:solidFill>
                <a:latin typeface="+mj-lt"/>
                <a:cs typeface="Arial" panose="020B0604020202020204" pitchFamily="34" charset="0"/>
              </a:rPr>
              <a:t>micro-partitioning.</a:t>
            </a:r>
          </a:p>
          <a:p>
            <a:pPr marL="285750" indent="-285750">
              <a:spcBef>
                <a:spcPts val="300"/>
              </a:spcBef>
              <a:spcAft>
                <a:spcPts val="300"/>
              </a:spcAft>
              <a:buFont typeface="Arial" panose="020B0604020202020204" pitchFamily="34" charset="0"/>
              <a:buChar char="•"/>
            </a:pPr>
            <a:r>
              <a:rPr lang="en-IN" sz="2000" dirty="0">
                <a:solidFill>
                  <a:schemeClr val="tx1"/>
                </a:solidFill>
                <a:latin typeface="+mj-lt"/>
                <a:ea typeface="Calibri" panose="020F0502020204030204" pitchFamily="34" charset="0"/>
                <a:cs typeface="Arial" panose="020B0604020202020204" pitchFamily="34" charset="0"/>
              </a:rPr>
              <a:t>Micro-partitioning is automatically performed on all Snowflake tables. </a:t>
            </a:r>
          </a:p>
          <a:p>
            <a:pPr marL="285750" indent="-285750">
              <a:spcBef>
                <a:spcPts val="300"/>
              </a:spcBef>
              <a:spcAft>
                <a:spcPts val="300"/>
              </a:spcAft>
              <a:buFont typeface="Arial" panose="020B0604020202020204" pitchFamily="34" charset="0"/>
              <a:buChar char="•"/>
            </a:pPr>
            <a:r>
              <a:rPr lang="en-IN" sz="2000" dirty="0">
                <a:solidFill>
                  <a:schemeClr val="tx1"/>
                </a:solidFill>
                <a:latin typeface="+mj-lt"/>
                <a:ea typeface="Calibri" panose="020F0502020204030204" pitchFamily="34" charset="0"/>
                <a:cs typeface="Arial" panose="020B0604020202020204" pitchFamily="34" charset="0"/>
              </a:rPr>
              <a:t>Tables are transparently partitioned using the ordering of the data as it is inserted/loaded.</a:t>
            </a:r>
          </a:p>
          <a:p>
            <a:pPr marL="285750" indent="-285750">
              <a:spcBef>
                <a:spcPts val="300"/>
              </a:spcBef>
              <a:spcAft>
                <a:spcPts val="300"/>
              </a:spcAft>
              <a:buFont typeface="Arial" panose="020B0604020202020204" pitchFamily="34" charset="0"/>
              <a:buChar char="•"/>
            </a:pPr>
            <a:r>
              <a:rPr lang="en-US" sz="2000" dirty="0">
                <a:solidFill>
                  <a:schemeClr val="tx1"/>
                </a:solidFill>
                <a:latin typeface="+mj-lt"/>
                <a:cs typeface="Arial" panose="020B0604020202020204" pitchFamily="34" charset="0"/>
              </a:rPr>
              <a:t>Micro-partitions are small in size (50 to 500 MB).</a:t>
            </a:r>
          </a:p>
          <a:p>
            <a:pPr marL="285750" indent="-285750">
              <a:spcBef>
                <a:spcPts val="300"/>
              </a:spcBef>
              <a:spcAft>
                <a:spcPts val="300"/>
              </a:spcAft>
              <a:buFont typeface="Arial" panose="020B0604020202020204" pitchFamily="34" charset="0"/>
              <a:buChar char="•"/>
            </a:pPr>
            <a:r>
              <a:rPr lang="en-US" sz="2000" dirty="0">
                <a:solidFill>
                  <a:schemeClr val="tx1"/>
                </a:solidFill>
                <a:latin typeface="+mj-lt"/>
                <a:ea typeface="Calibri" panose="020F0502020204030204" pitchFamily="34" charset="0"/>
                <a:cs typeface="Arial" panose="020B0604020202020204" pitchFamily="34" charset="0"/>
              </a:rPr>
              <a:t>Data is compressed in micro partitions</a:t>
            </a:r>
          </a:p>
          <a:p>
            <a:pPr marL="285750" indent="-285750">
              <a:spcBef>
                <a:spcPts val="300"/>
              </a:spcBef>
              <a:spcAft>
                <a:spcPts val="300"/>
              </a:spcAft>
              <a:buFont typeface="Arial" panose="020B0604020202020204" pitchFamily="34" charset="0"/>
              <a:buChar char="•"/>
            </a:pPr>
            <a:r>
              <a:rPr lang="en-US" sz="2000" dirty="0">
                <a:solidFill>
                  <a:schemeClr val="tx1"/>
                </a:solidFill>
                <a:latin typeface="+mj-lt"/>
                <a:cs typeface="Arial" panose="020B0604020202020204" pitchFamily="34" charset="0"/>
              </a:rPr>
              <a:t>Snowflake automatically determines the most efficient compression algorithm for the columns in each micro-partition.</a:t>
            </a:r>
            <a:endParaRPr lang="en-IN" sz="2000" dirty="0">
              <a:solidFill>
                <a:schemeClr val="tx1"/>
              </a:solidFill>
              <a:latin typeface="+mj-lt"/>
              <a:ea typeface="Calibri" panose="020F0502020204030204" pitchFamily="34" charset="0"/>
              <a:cs typeface="Arial" panose="020B0604020202020204" pitchFamily="34" charset="0"/>
            </a:endParaRPr>
          </a:p>
        </p:txBody>
      </p:sp>
      <p:sp>
        <p:nvSpPr>
          <p:cNvPr id="3" name="Title 2"/>
          <p:cNvSpPr>
            <a:spLocks noGrp="1"/>
          </p:cNvSpPr>
          <p:nvPr>
            <p:ph type="title"/>
          </p:nvPr>
        </p:nvSpPr>
        <p:spPr/>
        <p:txBody>
          <a:bodyPr>
            <a:normAutofit/>
          </a:bodyPr>
          <a:lstStyle/>
          <a:p>
            <a:r>
              <a:rPr lang="en-IN" sz="4800" b="1" dirty="0">
                <a:solidFill>
                  <a:schemeClr val="tx1"/>
                </a:solidFill>
              </a:rPr>
              <a:t>Micro-partitioning</a:t>
            </a:r>
            <a:endParaRPr lang="mr-IN" sz="4800" b="1" dirty="0"/>
          </a:p>
        </p:txBody>
      </p:sp>
    </p:spTree>
    <p:extLst>
      <p:ext uri="{BB962C8B-B14F-4D97-AF65-F5344CB8AC3E}">
        <p14:creationId xmlns:p14="http://schemas.microsoft.com/office/powerpoint/2010/main" val="10177263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mr-IN"/>
          </a:p>
        </p:txBody>
      </p:sp>
      <p:sp>
        <p:nvSpPr>
          <p:cNvPr id="3" name="Title 2"/>
          <p:cNvSpPr>
            <a:spLocks noGrp="1"/>
          </p:cNvSpPr>
          <p:nvPr>
            <p:ph type="title"/>
          </p:nvPr>
        </p:nvSpPr>
        <p:spPr/>
        <p:txBody>
          <a:bodyPr/>
          <a:lstStyle/>
          <a:p>
            <a:endParaRPr lang="mr-IN"/>
          </a:p>
        </p:txBody>
      </p:sp>
      <p:pic>
        <p:nvPicPr>
          <p:cNvPr id="4" name="Picture 2">
            <a:extLst>
              <a:ext uri="{FF2B5EF4-FFF2-40B4-BE49-F238E27FC236}">
                <a16:creationId xmlns:a16="http://schemas.microsoft.com/office/drawing/2014/main" id="{174D5774-E587-4BD0-9A50-8BC3C2015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9388"/>
            <a:ext cx="12192000" cy="6499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23513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162605" y="2492896"/>
            <a:ext cx="9876492" cy="3633267"/>
          </a:xfrm>
        </p:spPr>
        <p:txBody>
          <a:bodyPr>
            <a:normAutofit fontScale="92500" lnSpcReduction="10000"/>
          </a:bodyPr>
          <a:lstStyle/>
          <a:p>
            <a:pPr marL="342900" indent="-342900">
              <a:spcBef>
                <a:spcPts val="300"/>
              </a:spcBef>
              <a:spcAft>
                <a:spcPts val="300"/>
              </a:spcAft>
              <a:buFont typeface="Arial" panose="020B0604020202020204" pitchFamily="34" charset="0"/>
              <a:buChar char="•"/>
            </a:pPr>
            <a:r>
              <a:rPr lang="en-US" sz="2200" dirty="0">
                <a:solidFill>
                  <a:schemeClr val="tx1"/>
                </a:solidFill>
                <a:latin typeface="+mj-lt"/>
                <a:cs typeface="Arial" panose="020B0604020202020204" pitchFamily="34" charset="0"/>
              </a:rPr>
              <a:t>Metadata is also maintained by Snowflake which Includes…</a:t>
            </a:r>
          </a:p>
          <a:p>
            <a:pPr marL="800100" lvl="1" indent="-342900">
              <a:spcBef>
                <a:spcPts val="300"/>
              </a:spcBef>
              <a:spcAft>
                <a:spcPts val="300"/>
              </a:spcAft>
              <a:buFont typeface="Arial" panose="020B0604020202020204" pitchFamily="34" charset="0"/>
              <a:buChar char="•"/>
            </a:pPr>
            <a:r>
              <a:rPr lang="en-US" dirty="0">
                <a:solidFill>
                  <a:schemeClr val="tx1"/>
                </a:solidFill>
                <a:latin typeface="+mj-lt"/>
                <a:cs typeface="Arial" panose="020B0604020202020204" pitchFamily="34" charset="0"/>
              </a:rPr>
              <a:t>the number of distinct values for each field </a:t>
            </a:r>
          </a:p>
          <a:p>
            <a:pPr marL="800100" lvl="1" indent="-342900">
              <a:spcBef>
                <a:spcPts val="300"/>
              </a:spcBef>
              <a:spcAft>
                <a:spcPts val="300"/>
              </a:spcAft>
              <a:buFont typeface="Arial" panose="020B0604020202020204" pitchFamily="34" charset="0"/>
              <a:buChar char="•"/>
            </a:pPr>
            <a:r>
              <a:rPr lang="en-US" dirty="0">
                <a:solidFill>
                  <a:schemeClr val="tx1"/>
                </a:solidFill>
                <a:latin typeface="+mj-lt"/>
                <a:cs typeface="Arial" panose="020B0604020202020204" pitchFamily="34" charset="0"/>
              </a:rPr>
              <a:t>the range of values for each field </a:t>
            </a:r>
          </a:p>
          <a:p>
            <a:pPr marL="800100" lvl="1" indent="-342900">
              <a:spcBef>
                <a:spcPts val="300"/>
              </a:spcBef>
              <a:spcAft>
                <a:spcPts val="300"/>
              </a:spcAft>
              <a:buFont typeface="Arial" panose="020B0604020202020204" pitchFamily="34" charset="0"/>
              <a:buChar char="•"/>
            </a:pPr>
            <a:r>
              <a:rPr lang="en-US" dirty="0">
                <a:solidFill>
                  <a:schemeClr val="tx1"/>
                </a:solidFill>
                <a:latin typeface="+mj-lt"/>
                <a:cs typeface="Arial" panose="020B0604020202020204" pitchFamily="34" charset="0"/>
              </a:rPr>
              <a:t>Other useful information to improve performance.</a:t>
            </a:r>
          </a:p>
          <a:p>
            <a:pPr marL="800100" lvl="1" indent="-342900">
              <a:spcBef>
                <a:spcPts val="300"/>
              </a:spcBef>
              <a:spcAft>
                <a:spcPts val="300"/>
              </a:spcAft>
              <a:buFont typeface="Arial" panose="020B0604020202020204" pitchFamily="34" charset="0"/>
              <a:buChar char="•"/>
            </a:pPr>
            <a:endParaRPr lang="en-US" sz="800" dirty="0">
              <a:solidFill>
                <a:schemeClr val="tx1"/>
              </a:solidFill>
              <a:latin typeface="+mj-lt"/>
              <a:cs typeface="Arial" panose="020B0604020202020204" pitchFamily="34" charset="0"/>
            </a:endParaRPr>
          </a:p>
          <a:p>
            <a:pPr marL="342900" indent="-342900">
              <a:spcBef>
                <a:spcPts val="300"/>
              </a:spcBef>
              <a:spcAft>
                <a:spcPts val="300"/>
              </a:spcAft>
              <a:buFont typeface="Arial" panose="020B0604020202020204" pitchFamily="34" charset="0"/>
              <a:buChar char="•"/>
            </a:pPr>
            <a:r>
              <a:rPr lang="en-US" sz="2200" dirty="0">
                <a:solidFill>
                  <a:schemeClr val="tx1"/>
                </a:solidFill>
                <a:latin typeface="+mj-lt"/>
                <a:cs typeface="Arial" panose="020B0604020202020204" pitchFamily="34" charset="0"/>
              </a:rPr>
              <a:t>Metadata is a key part of the Snowflake architecture as it allows queries to determine whether or not the data inside a micro-partition should be queried. </a:t>
            </a:r>
          </a:p>
          <a:p>
            <a:pPr marL="342900" indent="-342900">
              <a:spcBef>
                <a:spcPts val="300"/>
              </a:spcBef>
              <a:spcAft>
                <a:spcPts val="300"/>
              </a:spcAft>
              <a:buFont typeface="Arial" panose="020B0604020202020204" pitchFamily="34" charset="0"/>
              <a:buChar char="•"/>
            </a:pPr>
            <a:r>
              <a:rPr lang="en-US" sz="2200" dirty="0">
                <a:solidFill>
                  <a:schemeClr val="tx1"/>
                </a:solidFill>
                <a:latin typeface="+mj-lt"/>
                <a:cs typeface="Arial" panose="020B0604020202020204" pitchFamily="34" charset="0"/>
              </a:rPr>
              <a:t>This way, when a query is executed, it does not need to scan the entire dataset but instead only queries the micro-partitions that hold relevant data. </a:t>
            </a:r>
          </a:p>
          <a:p>
            <a:pPr marL="342900" indent="-342900">
              <a:spcBef>
                <a:spcPts val="300"/>
              </a:spcBef>
              <a:spcAft>
                <a:spcPts val="300"/>
              </a:spcAft>
              <a:buFont typeface="Arial" panose="020B0604020202020204" pitchFamily="34" charset="0"/>
              <a:buChar char="•"/>
            </a:pPr>
            <a:r>
              <a:rPr lang="en-US" sz="2200" dirty="0">
                <a:solidFill>
                  <a:schemeClr val="tx1"/>
                </a:solidFill>
                <a:latin typeface="+mj-lt"/>
                <a:cs typeface="Arial" panose="020B0604020202020204" pitchFamily="34" charset="0"/>
              </a:rPr>
              <a:t>This process is known as query pruning, as the data is pruned before the query itself is executed.</a:t>
            </a:r>
            <a:endParaRPr lang="en-IN" sz="2200" dirty="0">
              <a:solidFill>
                <a:schemeClr val="tx1"/>
              </a:solidFill>
              <a:latin typeface="+mj-lt"/>
              <a:cs typeface="Arial" panose="020B0604020202020204" pitchFamily="34" charset="0"/>
            </a:endParaRPr>
          </a:p>
          <a:p>
            <a:pPr>
              <a:spcBef>
                <a:spcPts val="300"/>
              </a:spcBef>
              <a:spcAft>
                <a:spcPts val="300"/>
              </a:spcAft>
            </a:pPr>
            <a:endParaRPr lang="en-IN" sz="2200" dirty="0">
              <a:solidFill>
                <a:schemeClr val="tx1"/>
              </a:solidFill>
              <a:latin typeface="+mj-lt"/>
              <a:cs typeface="Arial" panose="020B0604020202020204" pitchFamily="34" charset="0"/>
            </a:endParaRPr>
          </a:p>
          <a:p>
            <a:endParaRPr lang="mr-IN" dirty="0">
              <a:solidFill>
                <a:schemeClr val="tx1"/>
              </a:solidFill>
              <a:latin typeface="+mj-lt"/>
            </a:endParaRPr>
          </a:p>
        </p:txBody>
      </p:sp>
      <p:sp>
        <p:nvSpPr>
          <p:cNvPr id="3" name="Title 2"/>
          <p:cNvSpPr>
            <a:spLocks noGrp="1"/>
          </p:cNvSpPr>
          <p:nvPr>
            <p:ph type="title"/>
          </p:nvPr>
        </p:nvSpPr>
        <p:spPr/>
        <p:txBody>
          <a:bodyPr>
            <a:normAutofit/>
          </a:bodyPr>
          <a:lstStyle/>
          <a:p>
            <a:r>
              <a:rPr lang="en-US" sz="4800" b="1" dirty="0">
                <a:solidFill>
                  <a:schemeClr val="tx1"/>
                </a:solidFill>
                <a:latin typeface="Arial" panose="020B0604020202020204" pitchFamily="34" charset="0"/>
                <a:cs typeface="Arial" panose="020B0604020202020204" pitchFamily="34" charset="0"/>
              </a:rPr>
              <a:t>Query pruning</a:t>
            </a:r>
            <a:endParaRPr lang="mr-IN" sz="4800" b="1" dirty="0">
              <a:solidFill>
                <a:schemeClr val="tx1"/>
              </a:solidFill>
            </a:endParaRPr>
          </a:p>
        </p:txBody>
      </p:sp>
    </p:spTree>
    <p:extLst>
      <p:ext uri="{BB962C8B-B14F-4D97-AF65-F5344CB8AC3E}">
        <p14:creationId xmlns:p14="http://schemas.microsoft.com/office/powerpoint/2010/main" val="30624251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54646" y="2708920"/>
            <a:ext cx="10297144" cy="3849291"/>
          </a:xfrm>
        </p:spPr>
        <p:txBody>
          <a:bodyPr>
            <a:noAutofit/>
          </a:bodyPr>
          <a:lstStyle/>
          <a:p>
            <a:r>
              <a:rPr lang="en-US" sz="2000" dirty="0">
                <a:solidFill>
                  <a:schemeClr val="tx1"/>
                </a:solidFill>
                <a:latin typeface="+mj-lt"/>
                <a:cs typeface="Arial" panose="020B0604020202020204" pitchFamily="34" charset="0"/>
              </a:rPr>
              <a:t>In contrast to traditional static partitioning, Snowflake micro-partitions are derived automatically; they don’t need to be explicitly defined up-front or maintained by users.</a:t>
            </a:r>
          </a:p>
          <a:p>
            <a:r>
              <a:rPr lang="en-US" sz="2000" dirty="0">
                <a:solidFill>
                  <a:schemeClr val="tx1"/>
                </a:solidFill>
                <a:latin typeface="+mj-lt"/>
                <a:cs typeface="Arial" panose="020B0604020202020204" pitchFamily="34" charset="0"/>
              </a:rPr>
              <a:t>Micro-partitions are small in size (50 to 500 MB), which enables extremely efficient DML and fine-grained pruning for faster queries.</a:t>
            </a:r>
          </a:p>
          <a:p>
            <a:r>
              <a:rPr lang="en-US" sz="2000" dirty="0">
                <a:solidFill>
                  <a:schemeClr val="tx1"/>
                </a:solidFill>
                <a:latin typeface="+mj-lt"/>
                <a:cs typeface="Arial" panose="020B0604020202020204" pitchFamily="34" charset="0"/>
              </a:rPr>
              <a:t>Columns are stored independently within micro-partitions, often referred to as columnar storage. This enables efficient scanning of individual columns; only the columns referenced by a query are scanned.</a:t>
            </a:r>
          </a:p>
          <a:p>
            <a:r>
              <a:rPr lang="en-US" sz="2000" dirty="0">
                <a:solidFill>
                  <a:schemeClr val="tx1"/>
                </a:solidFill>
                <a:latin typeface="+mj-lt"/>
                <a:cs typeface="Arial" panose="020B0604020202020204" pitchFamily="34" charset="0"/>
              </a:rPr>
              <a:t>Columns are also compressed individually within micro-partitions, this optimizes the storage cost.</a:t>
            </a:r>
            <a:endParaRPr lang="en-IN" sz="2000" dirty="0">
              <a:solidFill>
                <a:schemeClr val="tx1"/>
              </a:solidFill>
              <a:latin typeface="+mj-lt"/>
              <a:cs typeface="Arial" panose="020B0604020202020204" pitchFamily="34" charset="0"/>
            </a:endParaRPr>
          </a:p>
        </p:txBody>
      </p:sp>
      <p:sp>
        <p:nvSpPr>
          <p:cNvPr id="3" name="Title 2"/>
          <p:cNvSpPr>
            <a:spLocks noGrp="1"/>
          </p:cNvSpPr>
          <p:nvPr>
            <p:ph type="title"/>
          </p:nvPr>
        </p:nvSpPr>
        <p:spPr/>
        <p:txBody>
          <a:bodyPr/>
          <a:lstStyle/>
          <a:p>
            <a:r>
              <a:rPr lang="en-US" b="1" dirty="0">
                <a:solidFill>
                  <a:schemeClr val="tx1"/>
                </a:solidFill>
                <a:cs typeface="Arial" panose="020B0604020202020204" pitchFamily="34" charset="0"/>
              </a:rPr>
              <a:t>Benefits of Micro partitioning</a:t>
            </a:r>
            <a:endParaRPr lang="mr-IN" b="1" dirty="0">
              <a:solidFill>
                <a:schemeClr val="tx1"/>
              </a:solidFill>
            </a:endParaRPr>
          </a:p>
        </p:txBody>
      </p:sp>
    </p:spTree>
    <p:extLst>
      <p:ext uri="{BB962C8B-B14F-4D97-AF65-F5344CB8AC3E}">
        <p14:creationId xmlns:p14="http://schemas.microsoft.com/office/powerpoint/2010/main" val="5351332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162605" y="2276873"/>
            <a:ext cx="9876492" cy="3528391"/>
          </a:xfrm>
        </p:spPr>
        <p:txBody>
          <a:bodyPr>
            <a:noAutofit/>
          </a:bodyPr>
          <a:lstStyle/>
          <a:p>
            <a:pPr marL="342900" indent="-342900">
              <a:spcBef>
                <a:spcPts val="300"/>
              </a:spcBef>
              <a:spcAft>
                <a:spcPts val="300"/>
              </a:spcAft>
              <a:buFont typeface="Arial" panose="020B0604020202020204" pitchFamily="34" charset="0"/>
              <a:buChar char="•"/>
            </a:pPr>
            <a:r>
              <a:rPr lang="en-US" sz="1800" dirty="0">
                <a:solidFill>
                  <a:schemeClr val="tx1"/>
                </a:solidFill>
                <a:latin typeface="+mj-lt"/>
                <a:cs typeface="Arial" panose="020B0604020202020204" pitchFamily="34" charset="0"/>
              </a:rPr>
              <a:t>Clustering is a key factor in query performance, It reduces the scanning of micro partitions.</a:t>
            </a:r>
          </a:p>
          <a:p>
            <a:pPr marL="342900" indent="-342900">
              <a:spcBef>
                <a:spcPts val="300"/>
              </a:spcBef>
              <a:spcAft>
                <a:spcPts val="300"/>
              </a:spcAft>
              <a:buFont typeface="Arial" panose="020B0604020202020204" pitchFamily="34" charset="0"/>
              <a:buChar char="•"/>
            </a:pPr>
            <a:r>
              <a:rPr lang="en-US" sz="1800" dirty="0">
                <a:solidFill>
                  <a:schemeClr val="tx1"/>
                </a:solidFill>
                <a:latin typeface="+mj-lt"/>
              </a:rPr>
              <a:t>A clustering key is a subset of columns in a table that are explicitly designated to co-locate the data in the table in the micro-partitions.</a:t>
            </a:r>
          </a:p>
          <a:p>
            <a:pPr marL="342900" indent="-342900">
              <a:spcBef>
                <a:spcPts val="300"/>
              </a:spcBef>
              <a:spcAft>
                <a:spcPts val="300"/>
              </a:spcAft>
              <a:buFont typeface="Arial" panose="020B0604020202020204" pitchFamily="34" charset="0"/>
              <a:buChar char="•"/>
            </a:pPr>
            <a:r>
              <a:rPr lang="en-IN" sz="1800" dirty="0">
                <a:solidFill>
                  <a:schemeClr val="tx1"/>
                </a:solidFill>
                <a:latin typeface="+mj-lt"/>
                <a:cs typeface="Arial" panose="020B0604020202020204" pitchFamily="34" charset="0"/>
              </a:rPr>
              <a:t>Initially the data will be stored in micro partitions in the order of inserting records, then will be realigned based on the cluster keys.</a:t>
            </a:r>
          </a:p>
          <a:p>
            <a:pPr marL="342900" indent="-342900">
              <a:spcBef>
                <a:spcPts val="300"/>
              </a:spcBef>
              <a:spcAft>
                <a:spcPts val="300"/>
              </a:spcAft>
              <a:buFont typeface="Arial" panose="020B0604020202020204" pitchFamily="34" charset="0"/>
              <a:buChar char="•"/>
            </a:pPr>
            <a:r>
              <a:rPr lang="en-IN" sz="1800" dirty="0">
                <a:solidFill>
                  <a:schemeClr val="tx1"/>
                </a:solidFill>
                <a:latin typeface="+mj-lt"/>
                <a:cs typeface="Arial" panose="020B0604020202020204" pitchFamily="34" charset="0"/>
              </a:rPr>
              <a:t>We have to choose proper Cluster keys.</a:t>
            </a:r>
          </a:p>
          <a:p>
            <a:pPr marL="342900" indent="-342900">
              <a:spcBef>
                <a:spcPts val="300"/>
              </a:spcBef>
              <a:spcAft>
                <a:spcPts val="300"/>
              </a:spcAft>
              <a:buFont typeface="Arial" panose="020B0604020202020204" pitchFamily="34" charset="0"/>
              <a:buChar char="•"/>
            </a:pPr>
            <a:r>
              <a:rPr lang="en-IN" sz="1800" dirty="0">
                <a:solidFill>
                  <a:schemeClr val="tx1"/>
                </a:solidFill>
                <a:latin typeface="+mj-lt"/>
                <a:cs typeface="Arial" panose="020B0604020202020204" pitchFamily="34" charset="0"/>
              </a:rPr>
              <a:t>We can define cluster keys on multiple columns as well.</a:t>
            </a:r>
          </a:p>
          <a:p>
            <a:pPr marL="342900" indent="-342900">
              <a:spcBef>
                <a:spcPts val="300"/>
              </a:spcBef>
              <a:spcAft>
                <a:spcPts val="300"/>
              </a:spcAft>
              <a:buFont typeface="Arial" panose="020B0604020202020204" pitchFamily="34" charset="0"/>
              <a:buChar char="•"/>
            </a:pPr>
            <a:r>
              <a:rPr lang="en-IN" sz="1800" dirty="0">
                <a:solidFill>
                  <a:schemeClr val="tx1"/>
                </a:solidFill>
                <a:latin typeface="+mj-lt"/>
                <a:cs typeface="Arial" panose="020B0604020202020204" pitchFamily="34" charset="0"/>
              </a:rPr>
              <a:t>We can modify the cluster keys based on our requirements, this is called as re-clustering.</a:t>
            </a:r>
          </a:p>
          <a:p>
            <a:pPr marL="342900" indent="-342900">
              <a:spcBef>
                <a:spcPts val="300"/>
              </a:spcBef>
              <a:spcAft>
                <a:spcPts val="300"/>
              </a:spcAft>
              <a:buFont typeface="Arial" panose="020B0604020202020204" pitchFamily="34" charset="0"/>
              <a:buChar char="•"/>
            </a:pPr>
            <a:r>
              <a:rPr lang="en-IN" sz="1800" dirty="0">
                <a:solidFill>
                  <a:schemeClr val="tx1"/>
                </a:solidFill>
                <a:latin typeface="+mj-lt"/>
                <a:cs typeface="Arial" panose="020B0604020202020204" pitchFamily="34" charset="0"/>
              </a:rPr>
              <a:t>Re-clustering consumes credits, number of credits consumed depends on the size of the table.</a:t>
            </a:r>
          </a:p>
          <a:p>
            <a:pPr marL="342900" indent="-342900">
              <a:spcBef>
                <a:spcPts val="300"/>
              </a:spcBef>
              <a:spcAft>
                <a:spcPts val="300"/>
              </a:spcAft>
              <a:buFont typeface="Arial" panose="020B0604020202020204" pitchFamily="34" charset="0"/>
              <a:buChar char="•"/>
            </a:pPr>
            <a:endParaRPr lang="en-IN" sz="1800" dirty="0">
              <a:solidFill>
                <a:schemeClr val="tx1"/>
              </a:solidFill>
              <a:latin typeface="+mj-lt"/>
              <a:cs typeface="Arial" panose="020B0604020202020204" pitchFamily="34" charset="0"/>
            </a:endParaRPr>
          </a:p>
        </p:txBody>
      </p:sp>
      <p:sp>
        <p:nvSpPr>
          <p:cNvPr id="3" name="Title 2"/>
          <p:cNvSpPr>
            <a:spLocks noGrp="1"/>
          </p:cNvSpPr>
          <p:nvPr>
            <p:ph type="title"/>
          </p:nvPr>
        </p:nvSpPr>
        <p:spPr/>
        <p:txBody>
          <a:bodyPr>
            <a:normAutofit/>
          </a:bodyPr>
          <a:lstStyle/>
          <a:p>
            <a:r>
              <a:rPr lang="en-US" sz="4800" b="1" dirty="0">
                <a:solidFill>
                  <a:schemeClr val="tx1"/>
                </a:solidFill>
                <a:latin typeface="Arial" panose="020B0604020202020204" pitchFamily="34" charset="0"/>
                <a:cs typeface="Arial" panose="020B0604020202020204" pitchFamily="34" charset="0"/>
              </a:rPr>
              <a:t>Clustering</a:t>
            </a:r>
            <a:endParaRPr lang="mr-IN" sz="4800" b="1" dirty="0">
              <a:solidFill>
                <a:schemeClr val="tx1"/>
              </a:solidFill>
            </a:endParaRPr>
          </a:p>
        </p:txBody>
      </p:sp>
      <p:sp>
        <p:nvSpPr>
          <p:cNvPr id="4" name="Title 2"/>
          <p:cNvSpPr txBox="1">
            <a:spLocks/>
          </p:cNvSpPr>
          <p:nvPr/>
        </p:nvSpPr>
        <p:spPr>
          <a:xfrm>
            <a:off x="550590" y="5461426"/>
            <a:ext cx="1656184" cy="52406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mr-IN" sz="2800" b="1" dirty="0">
                <a:solidFill>
                  <a:srgbClr val="FF0000"/>
                </a:solidFill>
              </a:rPr>
              <a:t>📌</a:t>
            </a:r>
            <a:r>
              <a:rPr lang="en-US" sz="2800" b="1" dirty="0"/>
              <a:t> </a:t>
            </a:r>
            <a:r>
              <a:rPr lang="en-US" sz="2800" b="1" dirty="0">
                <a:solidFill>
                  <a:schemeClr val="tx1"/>
                </a:solidFill>
                <a:latin typeface="Helvetica" panose="020B0604020202020204" pitchFamily="34" charset="0"/>
              </a:rPr>
              <a:t>Tip:</a:t>
            </a:r>
            <a:endParaRPr lang="mr-IN" sz="2800" b="1" dirty="0">
              <a:solidFill>
                <a:schemeClr val="tx1"/>
              </a:solidFill>
            </a:endParaRPr>
          </a:p>
        </p:txBody>
      </p:sp>
      <p:sp>
        <p:nvSpPr>
          <p:cNvPr id="5" name="Content Placeholder 1"/>
          <p:cNvSpPr txBox="1">
            <a:spLocks/>
          </p:cNvSpPr>
          <p:nvPr/>
        </p:nvSpPr>
        <p:spPr>
          <a:xfrm>
            <a:off x="1054646" y="5993904"/>
            <a:ext cx="9876492" cy="864096"/>
          </a:xfrm>
          <a:prstGeom prst="rect">
            <a:avLst/>
          </a:prstGeom>
        </p:spPr>
        <p:txBody>
          <a:bodyPr vert="horz" lIns="91440" tIns="45720" rIns="91440" bIns="45720" rtlCol="0">
            <a:normAutofit/>
          </a:bodyPr>
          <a:lst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r>
              <a:rPr lang="en-US" sz="2000" dirty="0">
                <a:solidFill>
                  <a:srgbClr val="00B050"/>
                </a:solidFill>
              </a:rPr>
              <a:t>You should apply clustering only when your data set is </a:t>
            </a:r>
            <a:r>
              <a:rPr lang="en-US" sz="2000" b="1" dirty="0">
                <a:solidFill>
                  <a:srgbClr val="FF0000"/>
                </a:solidFill>
              </a:rPr>
              <a:t>more than 1 million records</a:t>
            </a:r>
          </a:p>
          <a:p>
            <a:r>
              <a:rPr lang="en-IN" sz="2000" dirty="0">
                <a:solidFill>
                  <a:srgbClr val="00B050"/>
                </a:solidFill>
                <a:latin typeface="+mj-lt"/>
                <a:cs typeface="Arial" panose="020B0604020202020204" pitchFamily="34" charset="0"/>
              </a:rPr>
              <a:t>Don’t define cluster keys on more than 4 columns.</a:t>
            </a:r>
          </a:p>
          <a:p>
            <a:endParaRPr lang="mr-IN" sz="2000" dirty="0">
              <a:solidFill>
                <a:srgbClr val="FF0000"/>
              </a:solidFill>
              <a:effectLst/>
            </a:endParaRPr>
          </a:p>
        </p:txBody>
      </p:sp>
    </p:spTree>
    <p:extLst>
      <p:ext uri="{BB962C8B-B14F-4D97-AF65-F5344CB8AC3E}">
        <p14:creationId xmlns:p14="http://schemas.microsoft.com/office/powerpoint/2010/main" val="25669453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18541" y="5328592"/>
            <a:ext cx="11953328" cy="1340768"/>
          </a:xfrm>
        </p:spPr>
        <p:txBody>
          <a:bodyPr>
            <a:noAutofit/>
          </a:bodyPr>
          <a:lstStyle/>
          <a:p>
            <a:pPr marL="285750" indent="-285750">
              <a:buFont typeface="Arial" panose="020B0604020202020204" pitchFamily="34" charset="0"/>
              <a:buChar char="•"/>
            </a:pPr>
            <a:r>
              <a:rPr lang="en-US" sz="1800" dirty="0">
                <a:solidFill>
                  <a:schemeClr val="tx1"/>
                </a:solidFill>
                <a:latin typeface="+mj-lt"/>
                <a:cs typeface="Arial" panose="020B0604020202020204" pitchFamily="34" charset="0"/>
              </a:rPr>
              <a:t>The data is now stored and ordered based on the value of the </a:t>
            </a:r>
            <a:r>
              <a:rPr lang="en-US" sz="1800" b="1" dirty="0">
                <a:solidFill>
                  <a:schemeClr val="tx1"/>
                </a:solidFill>
                <a:latin typeface="+mj-lt"/>
                <a:cs typeface="Arial" panose="020B0604020202020204" pitchFamily="34" charset="0"/>
              </a:rPr>
              <a:t>[name]</a:t>
            </a:r>
            <a:r>
              <a:rPr lang="en-US" sz="1800" dirty="0">
                <a:solidFill>
                  <a:schemeClr val="tx1"/>
                </a:solidFill>
                <a:latin typeface="+mj-lt"/>
                <a:cs typeface="Arial" panose="020B0604020202020204" pitchFamily="34" charset="0"/>
              </a:rPr>
              <a:t> field. </a:t>
            </a:r>
          </a:p>
          <a:p>
            <a:pPr marL="285750" indent="-285750">
              <a:buFont typeface="Arial" panose="020B0604020202020204" pitchFamily="34" charset="0"/>
              <a:buChar char="•"/>
            </a:pPr>
            <a:r>
              <a:rPr lang="en-US" sz="1800" dirty="0">
                <a:solidFill>
                  <a:schemeClr val="tx1"/>
                </a:solidFill>
                <a:latin typeface="+mj-lt"/>
                <a:cs typeface="Arial" panose="020B0604020202020204" pitchFamily="34" charset="0"/>
              </a:rPr>
              <a:t>The micro-partition 4 is now the only micro-partition that contains </a:t>
            </a:r>
            <a:r>
              <a:rPr lang="en-US" sz="1800" b="1" dirty="0">
                <a:solidFill>
                  <a:schemeClr val="tx1"/>
                </a:solidFill>
                <a:latin typeface="+mj-lt"/>
                <a:cs typeface="Arial" panose="020B0604020202020204" pitchFamily="34" charset="0"/>
              </a:rPr>
              <a:t>[name]</a:t>
            </a:r>
            <a:r>
              <a:rPr lang="en-US" sz="1800" dirty="0">
                <a:solidFill>
                  <a:schemeClr val="tx1"/>
                </a:solidFill>
                <a:latin typeface="+mj-lt"/>
                <a:cs typeface="Arial" panose="020B0604020202020204" pitchFamily="34" charset="0"/>
              </a:rPr>
              <a:t> values of </a:t>
            </a:r>
            <a:r>
              <a:rPr lang="en-US" sz="1800" b="1" dirty="0">
                <a:solidFill>
                  <a:schemeClr val="tx1"/>
                </a:solidFill>
                <a:latin typeface="+mj-lt"/>
                <a:cs typeface="Arial" panose="020B0604020202020204" pitchFamily="34" charset="0"/>
              </a:rPr>
              <a:t>Y</a:t>
            </a:r>
            <a:r>
              <a:rPr lang="en-US" sz="1800" dirty="0">
                <a:solidFill>
                  <a:schemeClr val="tx1"/>
                </a:solidFill>
                <a:latin typeface="+mj-lt"/>
                <a:cs typeface="Arial" panose="020B0604020202020204" pitchFamily="34" charset="0"/>
              </a:rPr>
              <a:t>. </a:t>
            </a:r>
          </a:p>
          <a:p>
            <a:pPr marL="285750" indent="-285750">
              <a:buFont typeface="Arial" panose="020B0604020202020204" pitchFamily="34" charset="0"/>
              <a:buChar char="•"/>
            </a:pPr>
            <a:r>
              <a:rPr lang="en-US" sz="1800" dirty="0">
                <a:solidFill>
                  <a:schemeClr val="tx1"/>
                </a:solidFill>
                <a:latin typeface="+mj-lt"/>
                <a:cs typeface="Arial" panose="020B0604020202020204" pitchFamily="34" charset="0"/>
              </a:rPr>
              <a:t>When we execute our earlier query now, the query pruning will reduce our target data down to just micro-partition 4, which means our query has less data to interpret and thus will perform more efficiently.</a:t>
            </a:r>
            <a:endParaRPr lang="en-IN" sz="1800" dirty="0">
              <a:solidFill>
                <a:schemeClr val="tx1"/>
              </a:solidFill>
              <a:latin typeface="+mj-lt"/>
              <a:cs typeface="Arial" panose="020B0604020202020204" pitchFamily="34" charset="0"/>
            </a:endParaRPr>
          </a:p>
        </p:txBody>
      </p:sp>
      <p:sp>
        <p:nvSpPr>
          <p:cNvPr id="3" name="Title 2"/>
          <p:cNvSpPr>
            <a:spLocks noGrp="1"/>
          </p:cNvSpPr>
          <p:nvPr>
            <p:ph type="title"/>
          </p:nvPr>
        </p:nvSpPr>
        <p:spPr/>
        <p:txBody>
          <a:bodyPr/>
          <a:lstStyle/>
          <a:p>
            <a:endParaRPr lang="mr-IN"/>
          </a:p>
        </p:txBody>
      </p:sp>
      <p:pic>
        <p:nvPicPr>
          <p:cNvPr id="4" name="Picture 2">
            <a:extLst>
              <a:ext uri="{FF2B5EF4-FFF2-40B4-BE49-F238E27FC236}">
                <a16:creationId xmlns:a16="http://schemas.microsoft.com/office/drawing/2014/main" id="{F7A06FA9-7E3B-40D4-96C5-4127CBFA04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0413" cy="5328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71134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pPr marL="0" indent="0">
              <a:buNone/>
            </a:pPr>
            <a:r>
              <a:rPr lang="en-IN" sz="2800" b="1" dirty="0">
                <a:solidFill>
                  <a:schemeClr val="tx1">
                    <a:lumMod val="95000"/>
                    <a:lumOff val="5000"/>
                  </a:schemeClr>
                </a:solidFill>
                <a:latin typeface="Arial" panose="020B0604020202020204" pitchFamily="34" charset="0"/>
                <a:cs typeface="Arial" panose="020B0604020202020204" pitchFamily="34" charset="0"/>
              </a:rPr>
              <a:t>Defining Cluster keys on a new table:</a:t>
            </a:r>
            <a:endParaRPr lang="en-IN" sz="2800" b="1" dirty="0">
              <a:latin typeface="Arial" panose="020B0604020202020204" pitchFamily="34" charset="0"/>
              <a:cs typeface="Arial" panose="020B0604020202020204" pitchFamily="34" charset="0"/>
            </a:endParaRPr>
          </a:p>
          <a:p>
            <a:pPr marL="0" indent="0" fontAlgn="base">
              <a:lnSpc>
                <a:spcPct val="100000"/>
              </a:lnSpc>
              <a:spcBef>
                <a:spcPts val="300"/>
              </a:spcBef>
              <a:buNone/>
            </a:pPr>
            <a:r>
              <a:rPr lang="en-US" dirty="0">
                <a:latin typeface="Arial" panose="020B0604020202020204" pitchFamily="34" charset="0"/>
                <a:cs typeface="Arial" panose="020B0604020202020204" pitchFamily="34" charset="0"/>
              </a:rPr>
              <a:t>CREATE TABLE </a:t>
            </a:r>
            <a:r>
              <a:rPr lang="en-US" i="1" dirty="0">
                <a:latin typeface="Arial" panose="020B0604020202020204" pitchFamily="34" charset="0"/>
                <a:cs typeface="Arial" panose="020B0604020202020204" pitchFamily="34" charset="0"/>
              </a:rPr>
              <a:t>MY_TABLE </a:t>
            </a:r>
          </a:p>
          <a:p>
            <a:pPr marL="0" indent="0" fontAlgn="base">
              <a:lnSpc>
                <a:spcPct val="100000"/>
              </a:lnSpc>
              <a:spcBef>
                <a:spcPts val="300"/>
              </a:spcBef>
              <a:buNone/>
            </a:pPr>
            <a:r>
              <a:rPr lang="en-US" dirty="0">
                <a:latin typeface="Arial" panose="020B0604020202020204" pitchFamily="34" charset="0"/>
                <a:cs typeface="Arial" panose="020B0604020202020204" pitchFamily="34" charset="0"/>
              </a:rPr>
              <a:t>(</a:t>
            </a:r>
          </a:p>
          <a:p>
            <a:pPr marL="0" indent="0" fontAlgn="base">
              <a:lnSpc>
                <a:spcPct val="100000"/>
              </a:lnSpc>
              <a:spcBef>
                <a:spcPts val="300"/>
              </a:spcBef>
              <a:buNone/>
            </a:pPr>
            <a:r>
              <a:rPr lang="en-US" dirty="0">
                <a:latin typeface="Arial" panose="020B0604020202020204" pitchFamily="34" charset="0"/>
                <a:cs typeface="Arial" panose="020B0604020202020204" pitchFamily="34" charset="0"/>
              </a:rPr>
              <a:t>type number, </a:t>
            </a:r>
          </a:p>
          <a:p>
            <a:pPr marL="0" indent="0" fontAlgn="base">
              <a:lnSpc>
                <a:spcPct val="100000"/>
              </a:lnSpc>
              <a:spcBef>
                <a:spcPts val="300"/>
              </a:spcBef>
              <a:buNone/>
            </a:pPr>
            <a:r>
              <a:rPr lang="en-US" dirty="0">
                <a:latin typeface="Arial" panose="020B0604020202020204" pitchFamily="34" charset="0"/>
                <a:cs typeface="Arial" panose="020B0604020202020204" pitchFamily="34" charset="0"/>
              </a:rPr>
              <a:t>name string,</a:t>
            </a:r>
          </a:p>
          <a:p>
            <a:pPr marL="0" indent="0" fontAlgn="base">
              <a:lnSpc>
                <a:spcPct val="100000"/>
              </a:lnSpc>
              <a:spcBef>
                <a:spcPts val="300"/>
              </a:spcBef>
              <a:buNone/>
            </a:pPr>
            <a:r>
              <a:rPr lang="en-US" dirty="0">
                <a:latin typeface="Arial" panose="020B0604020202020204" pitchFamily="34" charset="0"/>
                <a:cs typeface="Arial" panose="020B0604020202020204" pitchFamily="34" charset="0"/>
              </a:rPr>
              <a:t>country string,</a:t>
            </a:r>
          </a:p>
          <a:p>
            <a:pPr marL="0" indent="0" fontAlgn="base">
              <a:lnSpc>
                <a:spcPct val="100000"/>
              </a:lnSpc>
              <a:spcBef>
                <a:spcPts val="300"/>
              </a:spcBef>
              <a:buNone/>
            </a:pPr>
            <a:r>
              <a:rPr lang="en-US" dirty="0">
                <a:latin typeface="Arial" panose="020B0604020202020204" pitchFamily="34" charset="0"/>
                <a:cs typeface="Arial" panose="020B0604020202020204" pitchFamily="34" charset="0"/>
              </a:rPr>
              <a:t>date </a:t>
            </a:r>
            <a:r>
              <a:rPr lang="en-US" dirty="0" err="1">
                <a:latin typeface="Arial" panose="020B0604020202020204" pitchFamily="34" charset="0"/>
                <a:cs typeface="Arial" panose="020B0604020202020204" pitchFamily="34" charset="0"/>
              </a:rPr>
              <a:t>date</a:t>
            </a:r>
            <a:r>
              <a:rPr lang="en-US" dirty="0">
                <a:latin typeface="Arial" panose="020B0604020202020204" pitchFamily="34" charset="0"/>
                <a:cs typeface="Arial" panose="020B0604020202020204" pitchFamily="34" charset="0"/>
              </a:rPr>
              <a:t>,</a:t>
            </a:r>
          </a:p>
          <a:p>
            <a:pPr marL="0" indent="0" fontAlgn="base">
              <a:lnSpc>
                <a:spcPct val="100000"/>
              </a:lnSpc>
              <a:spcBef>
                <a:spcPts val="300"/>
              </a:spcBef>
              <a:buNone/>
            </a:pPr>
            <a:r>
              <a:rPr lang="en-US" dirty="0">
                <a:latin typeface="Arial" panose="020B0604020202020204" pitchFamily="34" charset="0"/>
                <a:cs typeface="Arial" panose="020B0604020202020204" pitchFamily="34" charset="0"/>
              </a:rPr>
              <a:t>)</a:t>
            </a:r>
          </a:p>
          <a:p>
            <a:pPr marL="0" indent="0" fontAlgn="base">
              <a:lnSpc>
                <a:spcPct val="100000"/>
              </a:lnSpc>
              <a:spcBef>
                <a:spcPts val="300"/>
              </a:spcBef>
              <a:buNone/>
            </a:pPr>
            <a:r>
              <a:rPr lang="en-US" dirty="0">
                <a:latin typeface="Arial" panose="020B0604020202020204" pitchFamily="34" charset="0"/>
                <a:cs typeface="Arial" panose="020B0604020202020204" pitchFamily="34" charset="0"/>
              </a:rPr>
              <a:t>CLUSTER BY (name);</a:t>
            </a:r>
          </a:p>
          <a:p>
            <a:pPr marL="0" indent="0" fontAlgn="base">
              <a:buNone/>
            </a:pPr>
            <a:endParaRPr lang="en-US" dirty="0">
              <a:solidFill>
                <a:schemeClr val="tx1">
                  <a:lumMod val="95000"/>
                  <a:lumOff val="5000"/>
                </a:schemeClr>
              </a:solidFill>
              <a:latin typeface="Arial" panose="020B0604020202020204" pitchFamily="34" charset="0"/>
              <a:cs typeface="Arial" panose="020B0604020202020204" pitchFamily="34" charset="0"/>
            </a:endParaRPr>
          </a:p>
          <a:p>
            <a:pPr marL="0" indent="0" fontAlgn="base">
              <a:buNone/>
            </a:pPr>
            <a:r>
              <a:rPr lang="en-US" sz="2800" b="1" dirty="0">
                <a:solidFill>
                  <a:schemeClr val="tx1">
                    <a:lumMod val="95000"/>
                    <a:lumOff val="5000"/>
                  </a:schemeClr>
                </a:solidFill>
                <a:latin typeface="Arial" panose="020B0604020202020204" pitchFamily="34" charset="0"/>
                <a:cs typeface="Arial" panose="020B0604020202020204" pitchFamily="34" charset="0"/>
              </a:rPr>
              <a:t>Modifying Cluster keys on existing table:</a:t>
            </a:r>
          </a:p>
          <a:p>
            <a:pPr marL="0" indent="0" fontAlgn="base">
              <a:buNone/>
            </a:pPr>
            <a:endParaRPr lang="en-US" sz="1000" dirty="0">
              <a:solidFill>
                <a:schemeClr val="tx1">
                  <a:lumMod val="95000"/>
                  <a:lumOff val="5000"/>
                </a:schemeClr>
              </a:solidFill>
              <a:latin typeface="Arial" panose="020B0604020202020204" pitchFamily="34" charset="0"/>
              <a:cs typeface="Arial" panose="020B0604020202020204" pitchFamily="34" charset="0"/>
            </a:endParaRPr>
          </a:p>
          <a:p>
            <a:pPr marL="0" indent="0" fontAlgn="base">
              <a:buNone/>
            </a:pPr>
            <a:r>
              <a:rPr lang="en-US" dirty="0">
                <a:latin typeface="Arial" panose="020B0604020202020204" pitchFamily="34" charset="0"/>
                <a:cs typeface="Arial" panose="020B0604020202020204" pitchFamily="34" charset="0"/>
              </a:rPr>
              <a:t>ALTER   TABLE </a:t>
            </a:r>
            <a:r>
              <a:rPr lang="en-US" i="1" dirty="0">
                <a:latin typeface="Arial" panose="020B0604020202020204" pitchFamily="34" charset="0"/>
                <a:cs typeface="Arial" panose="020B0604020202020204" pitchFamily="34" charset="0"/>
              </a:rPr>
              <a:t>MY_TABLE   </a:t>
            </a:r>
            <a:r>
              <a:rPr lang="en-US" dirty="0">
                <a:latin typeface="Arial" panose="020B0604020202020204" pitchFamily="34" charset="0"/>
                <a:cs typeface="Arial" panose="020B0604020202020204" pitchFamily="34" charset="0"/>
              </a:rPr>
              <a:t>CLUSTER BY (name, date);</a:t>
            </a:r>
            <a:endParaRPr lang="en-IN" dirty="0"/>
          </a:p>
          <a:p>
            <a:endParaRPr lang="mr-IN" dirty="0"/>
          </a:p>
        </p:txBody>
      </p:sp>
      <p:sp>
        <p:nvSpPr>
          <p:cNvPr id="3" name="Title 2"/>
          <p:cNvSpPr>
            <a:spLocks noGrp="1"/>
          </p:cNvSpPr>
          <p:nvPr>
            <p:ph type="title"/>
          </p:nvPr>
        </p:nvSpPr>
        <p:spPr/>
        <p:txBody>
          <a:bodyPr>
            <a:normAutofit/>
          </a:bodyPr>
          <a:lstStyle/>
          <a:p>
            <a:r>
              <a:rPr lang="en-US" sz="4800" b="1" dirty="0">
                <a:solidFill>
                  <a:schemeClr val="tx1"/>
                </a:solidFill>
                <a:latin typeface="Arial" panose="020B0604020202020204" pitchFamily="34" charset="0"/>
                <a:cs typeface="Arial" panose="020B0604020202020204" pitchFamily="34" charset="0"/>
              </a:rPr>
              <a:t>Defining Cluster keys</a:t>
            </a:r>
            <a:endParaRPr lang="mr-IN" sz="4800" b="1" dirty="0">
              <a:solidFill>
                <a:schemeClr val="tx1"/>
              </a:solidFill>
            </a:endParaRPr>
          </a:p>
        </p:txBody>
      </p:sp>
    </p:spTree>
    <p:extLst>
      <p:ext uri="{BB962C8B-B14F-4D97-AF65-F5344CB8AC3E}">
        <p14:creationId xmlns:p14="http://schemas.microsoft.com/office/powerpoint/2010/main" val="26619524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162605" y="3645023"/>
            <a:ext cx="6876817" cy="2481139"/>
          </a:xfrm>
        </p:spPr>
        <p:txBody>
          <a:bodyPr/>
          <a:lstStyle/>
          <a:p>
            <a:r>
              <a:rPr lang="en-IN" dirty="0"/>
              <a:t>Bulk loading using Copy</a:t>
            </a:r>
          </a:p>
          <a:p>
            <a:r>
              <a:rPr lang="en-IN" dirty="0"/>
              <a:t>Continuous loading using Snowpipe</a:t>
            </a:r>
          </a:p>
        </p:txBody>
      </p:sp>
      <p:sp>
        <p:nvSpPr>
          <p:cNvPr id="3" name="Title 2"/>
          <p:cNvSpPr>
            <a:spLocks noGrp="1"/>
          </p:cNvSpPr>
          <p:nvPr>
            <p:ph type="title"/>
          </p:nvPr>
        </p:nvSpPr>
        <p:spPr/>
        <p:txBody>
          <a:bodyPr/>
          <a:lstStyle/>
          <a:p>
            <a:r>
              <a:rPr lang="en-US" b="1" dirty="0">
                <a:solidFill>
                  <a:schemeClr val="tx1"/>
                </a:solidFill>
              </a:rPr>
              <a:t>Loading data and Transforming data</a:t>
            </a:r>
            <a:endParaRPr lang="mr-IN" b="1" dirty="0"/>
          </a:p>
        </p:txBody>
      </p:sp>
      <p:sp>
        <p:nvSpPr>
          <p:cNvPr id="4" name="Title 2"/>
          <p:cNvSpPr txBox="1">
            <a:spLocks/>
          </p:cNvSpPr>
          <p:nvPr/>
        </p:nvSpPr>
        <p:spPr>
          <a:xfrm>
            <a:off x="1126654" y="2283764"/>
            <a:ext cx="2952328" cy="125272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Load Types</a:t>
            </a:r>
            <a:endParaRPr lang="mr-IN" b="1" dirty="0">
              <a:solidFill>
                <a:schemeClr val="tx1"/>
              </a:solidFill>
            </a:endParaRPr>
          </a:p>
        </p:txBody>
      </p:sp>
    </p:spTree>
    <p:extLst>
      <p:ext uri="{BB962C8B-B14F-4D97-AF65-F5344CB8AC3E}">
        <p14:creationId xmlns:p14="http://schemas.microsoft.com/office/powerpoint/2010/main" val="7462760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solidFill>
                  <a:srgbClr val="000000"/>
                </a:solidFill>
              </a:rPr>
              <a:t>This option enables loading batches of data from files already available in cloud storage(External Stages)</a:t>
            </a:r>
          </a:p>
          <a:p>
            <a:r>
              <a:rPr lang="en-US" dirty="0">
                <a:solidFill>
                  <a:srgbClr val="000000"/>
                </a:solidFill>
              </a:rPr>
              <a:t>We have to create Storage Integration objects to extract data from these cloud storages.</a:t>
            </a:r>
          </a:p>
          <a:p>
            <a:pPr marL="0" indent="0">
              <a:buNone/>
            </a:pPr>
            <a:r>
              <a:rPr lang="en-US" dirty="0">
                <a:solidFill>
                  <a:srgbClr val="000000"/>
                </a:solidFill>
              </a:rPr>
              <a:t>(Or)</a:t>
            </a:r>
          </a:p>
          <a:p>
            <a:r>
              <a:rPr lang="en-US" dirty="0">
                <a:solidFill>
                  <a:srgbClr val="000000"/>
                </a:solidFill>
              </a:rPr>
              <a:t>Copying data files from a local machine to an Internal  Stage(i.e. Snowflake) before loading the data into table.</a:t>
            </a:r>
          </a:p>
          <a:p>
            <a:r>
              <a:rPr lang="en-US" dirty="0">
                <a:solidFill>
                  <a:srgbClr val="000000"/>
                </a:solidFill>
              </a:rPr>
              <a:t>Bulk loading uses virtual warehouses</a:t>
            </a:r>
          </a:p>
          <a:p>
            <a:r>
              <a:rPr lang="en-US" dirty="0">
                <a:solidFill>
                  <a:srgbClr val="000000"/>
                </a:solidFill>
              </a:rPr>
              <a:t>Users are required to size the warehouse appropriately to accommodate expected loads using the COPY command.</a:t>
            </a:r>
            <a:endParaRPr lang="en-IN" dirty="0"/>
          </a:p>
          <a:p>
            <a:endParaRPr lang="mr-IN" dirty="0"/>
          </a:p>
        </p:txBody>
      </p:sp>
      <p:sp>
        <p:nvSpPr>
          <p:cNvPr id="3" name="Title 2"/>
          <p:cNvSpPr>
            <a:spLocks noGrp="1"/>
          </p:cNvSpPr>
          <p:nvPr>
            <p:ph type="title"/>
          </p:nvPr>
        </p:nvSpPr>
        <p:spPr/>
        <p:txBody>
          <a:bodyPr>
            <a:normAutofit fontScale="90000"/>
          </a:bodyPr>
          <a:lstStyle/>
          <a:p>
            <a:r>
              <a:rPr lang="en-US" b="1" dirty="0">
                <a:solidFill>
                  <a:schemeClr val="tx1"/>
                </a:solidFill>
                <a:latin typeface="Helvetica" panose="020B0604020202020204" pitchFamily="34" charset="0"/>
              </a:rPr>
              <a:t>Bulk Loading Using the COPY Command</a:t>
            </a:r>
            <a:endParaRPr lang="mr-IN" dirty="0"/>
          </a:p>
        </p:txBody>
      </p:sp>
    </p:spTree>
    <p:extLst>
      <p:ext uri="{BB962C8B-B14F-4D97-AF65-F5344CB8AC3E}">
        <p14:creationId xmlns:p14="http://schemas.microsoft.com/office/powerpoint/2010/main" val="42106919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000000"/>
                </a:solidFill>
                <a:latin typeface="+mj-lt"/>
              </a:rPr>
              <a:t>A stage specifies where data files are stored (i.e. “staged”) so that the data in the files can be loaded into a table.</a:t>
            </a:r>
          </a:p>
          <a:p>
            <a:endParaRPr lang="en-US" dirty="0">
              <a:solidFill>
                <a:srgbClr val="000000"/>
              </a:solidFill>
              <a:latin typeface="+mj-lt"/>
            </a:endParaRPr>
          </a:p>
          <a:p>
            <a:r>
              <a:rPr lang="en-US" dirty="0">
                <a:solidFill>
                  <a:srgbClr val="000000"/>
                </a:solidFill>
                <a:latin typeface="+mj-lt"/>
              </a:rPr>
              <a:t>Stage is a location of files, that can be internal or external to snowflake</a:t>
            </a:r>
            <a:endParaRPr lang="en-IN" dirty="0">
              <a:latin typeface="+mj-lt"/>
            </a:endParaRP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What is a Stage?</a:t>
            </a:r>
            <a:endParaRPr lang="mr-IN" b="1" dirty="0">
              <a:solidFill>
                <a:schemeClr val="tx1"/>
              </a:solidFill>
            </a:endParaRPr>
          </a:p>
        </p:txBody>
      </p:sp>
    </p:spTree>
    <p:extLst>
      <p:ext uri="{BB962C8B-B14F-4D97-AF65-F5344CB8AC3E}">
        <p14:creationId xmlns:p14="http://schemas.microsoft.com/office/powerpoint/2010/main" val="37788564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mr-IN"/>
          </a:p>
        </p:txBody>
      </p:sp>
      <p:sp>
        <p:nvSpPr>
          <p:cNvPr id="3" name="Title 2"/>
          <p:cNvSpPr>
            <a:spLocks noGrp="1"/>
          </p:cNvSpPr>
          <p:nvPr>
            <p:ph type="title"/>
          </p:nvPr>
        </p:nvSpPr>
        <p:spPr/>
        <p:txBody>
          <a:bodyPr/>
          <a:lstStyle/>
          <a:p>
            <a:endParaRPr lang="mr-IN"/>
          </a:p>
        </p:txBody>
      </p:sp>
      <p:pic>
        <p:nvPicPr>
          <p:cNvPr id="4" name="Picture 2" descr="Data loading overview">
            <a:extLst>
              <a:ext uri="{FF2B5EF4-FFF2-40B4-BE49-F238E27FC236}">
                <a16:creationId xmlns:a16="http://schemas.microsoft.com/office/drawing/2014/main" id="{F95A46EE-CDAC-441E-BBF6-0BA12E4CAB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574" y="332656"/>
            <a:ext cx="11377264" cy="6429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88390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514350" indent="-514350">
              <a:buAutoNum type="arabicPeriod"/>
            </a:pPr>
            <a:r>
              <a:rPr lang="en-IN" dirty="0"/>
              <a:t>External Stages</a:t>
            </a:r>
          </a:p>
          <a:p>
            <a:pPr marL="514350" indent="-514350">
              <a:buAutoNum type="arabicPeriod"/>
            </a:pPr>
            <a:r>
              <a:rPr lang="en-IN" dirty="0"/>
              <a:t>Internal Stages</a:t>
            </a:r>
          </a:p>
          <a:p>
            <a:pPr marL="971550" lvl="1" indent="-514350"/>
            <a:r>
              <a:rPr lang="en-IN" dirty="0"/>
              <a:t>User Internal Stage</a:t>
            </a:r>
          </a:p>
          <a:p>
            <a:pPr marL="971550" lvl="1" indent="-514350"/>
            <a:r>
              <a:rPr lang="en-IN" dirty="0"/>
              <a:t>Table Internal Stage</a:t>
            </a:r>
          </a:p>
          <a:p>
            <a:pPr marL="971550" lvl="1" indent="-514350"/>
            <a:r>
              <a:rPr lang="en-IN" dirty="0"/>
              <a:t>Named Internal Stage</a:t>
            </a:r>
          </a:p>
          <a:p>
            <a:endParaRPr lang="mr-IN" dirty="0"/>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Stage Types</a:t>
            </a:r>
            <a:endParaRPr lang="mr-IN" b="1" dirty="0">
              <a:solidFill>
                <a:schemeClr val="tx1"/>
              </a:solidFill>
            </a:endParaRPr>
          </a:p>
        </p:txBody>
      </p:sp>
    </p:spTree>
    <p:extLst>
      <p:ext uri="{BB962C8B-B14F-4D97-AF65-F5344CB8AC3E}">
        <p14:creationId xmlns:p14="http://schemas.microsoft.com/office/powerpoint/2010/main" val="4433084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000000"/>
                </a:solidFill>
              </a:rPr>
              <a:t>An external stage is the external cloud storage location where data files are stored.</a:t>
            </a:r>
          </a:p>
          <a:p>
            <a:r>
              <a:rPr lang="en-US" dirty="0">
                <a:solidFill>
                  <a:srgbClr val="000000"/>
                </a:solidFill>
              </a:rPr>
              <a:t>Loading data from any of the following cloud storage services is supported regardless of the cloud platform that hosts your Snowflake account:</a:t>
            </a:r>
          </a:p>
          <a:p>
            <a:pPr lvl="1"/>
            <a:r>
              <a:rPr lang="en-US" dirty="0">
                <a:solidFill>
                  <a:srgbClr val="000000"/>
                </a:solidFill>
              </a:rPr>
              <a:t>Amazon S3</a:t>
            </a:r>
          </a:p>
          <a:p>
            <a:pPr lvl="1"/>
            <a:r>
              <a:rPr lang="en-US" dirty="0">
                <a:solidFill>
                  <a:srgbClr val="000000"/>
                </a:solidFill>
              </a:rPr>
              <a:t>Google Cloud Storage</a:t>
            </a:r>
          </a:p>
          <a:p>
            <a:pPr lvl="1"/>
            <a:r>
              <a:rPr lang="en-US" dirty="0">
                <a:solidFill>
                  <a:srgbClr val="000000"/>
                </a:solidFill>
              </a:rPr>
              <a:t>Microsoft Azure</a:t>
            </a:r>
          </a:p>
          <a:p>
            <a:pPr marL="0" indent="0">
              <a:buNone/>
            </a:pPr>
            <a:endParaRPr lang="en-US" dirty="0">
              <a:solidFill>
                <a:srgbClr val="000000"/>
              </a:solidFill>
            </a:endParaRPr>
          </a:p>
          <a:p>
            <a:endParaRPr lang="mr-IN" dirty="0"/>
          </a:p>
        </p:txBody>
      </p:sp>
      <p:sp>
        <p:nvSpPr>
          <p:cNvPr id="3" name="Title 2"/>
          <p:cNvSpPr>
            <a:spLocks noGrp="1"/>
          </p:cNvSpPr>
          <p:nvPr>
            <p:ph type="title"/>
          </p:nvPr>
        </p:nvSpPr>
        <p:spPr/>
        <p:txBody>
          <a:bodyPr/>
          <a:lstStyle/>
          <a:p>
            <a:r>
              <a:rPr lang="en-US" b="1" dirty="0">
                <a:solidFill>
                  <a:srgbClr val="000000"/>
                </a:solidFill>
              </a:rPr>
              <a:t>External stage</a:t>
            </a:r>
            <a:endParaRPr lang="mr-IN" b="1" dirty="0"/>
          </a:p>
        </p:txBody>
      </p:sp>
    </p:spTree>
    <p:extLst>
      <p:ext uri="{BB962C8B-B14F-4D97-AF65-F5344CB8AC3E}">
        <p14:creationId xmlns:p14="http://schemas.microsoft.com/office/powerpoint/2010/main" val="7160023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Types of Internal Stages:</a:t>
            </a:r>
          </a:p>
          <a:p>
            <a:pPr marL="0" indent="0">
              <a:buNone/>
            </a:pPr>
            <a:endParaRPr lang="en-US" sz="700" dirty="0"/>
          </a:p>
          <a:p>
            <a:pPr marL="514350" indent="-514350">
              <a:buFont typeface="+mj-lt"/>
              <a:buAutoNum type="arabicPeriod"/>
            </a:pPr>
            <a:r>
              <a:rPr lang="en-US" dirty="0"/>
              <a:t>User Stage</a:t>
            </a:r>
          </a:p>
          <a:p>
            <a:pPr marL="514350" indent="-514350">
              <a:buFont typeface="+mj-lt"/>
              <a:buAutoNum type="arabicPeriod"/>
            </a:pPr>
            <a:r>
              <a:rPr lang="en-US" dirty="0"/>
              <a:t>Table Stage</a:t>
            </a:r>
          </a:p>
          <a:p>
            <a:pPr marL="514350" indent="-514350">
              <a:buFont typeface="+mj-lt"/>
              <a:buAutoNum type="arabicPeriod"/>
            </a:pPr>
            <a:r>
              <a:rPr lang="en-US" dirty="0"/>
              <a:t>Named Internal Stage</a:t>
            </a:r>
          </a:p>
          <a:p>
            <a:endParaRPr lang="en-US" dirty="0"/>
          </a:p>
          <a:p>
            <a:endParaRPr lang="en-US" dirty="0"/>
          </a:p>
          <a:p>
            <a:pPr marL="0" indent="0">
              <a:buNone/>
            </a:pPr>
            <a:endParaRPr lang="en-US" dirty="0"/>
          </a:p>
          <a:p>
            <a:endParaRPr lang="en-US" dirty="0"/>
          </a:p>
          <a:p>
            <a:endParaRPr lang="en-IN" dirty="0"/>
          </a:p>
          <a:p>
            <a:endParaRPr lang="mr-IN" dirty="0"/>
          </a:p>
        </p:txBody>
      </p:sp>
      <p:sp>
        <p:nvSpPr>
          <p:cNvPr id="3" name="Title 2"/>
          <p:cNvSpPr>
            <a:spLocks noGrp="1"/>
          </p:cNvSpPr>
          <p:nvPr>
            <p:ph type="title"/>
          </p:nvPr>
        </p:nvSpPr>
        <p:spPr/>
        <p:txBody>
          <a:bodyPr>
            <a:normAutofit/>
          </a:bodyPr>
          <a:lstStyle/>
          <a:p>
            <a:r>
              <a:rPr lang="en-US" b="1" dirty="0">
                <a:solidFill>
                  <a:schemeClr val="tx1"/>
                </a:solidFill>
              </a:rPr>
              <a:t>Internal Stages</a:t>
            </a:r>
            <a:endParaRPr lang="mr-IN" b="1" dirty="0">
              <a:solidFill>
                <a:schemeClr val="tx1"/>
              </a:solidFill>
            </a:endParaRPr>
          </a:p>
        </p:txBody>
      </p:sp>
    </p:spTree>
    <p:extLst>
      <p:ext uri="{BB962C8B-B14F-4D97-AF65-F5344CB8AC3E}">
        <p14:creationId xmlns:p14="http://schemas.microsoft.com/office/powerpoint/2010/main" val="30852144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chemeClr val="tx1"/>
                </a:solidFill>
              </a:rPr>
              <a:t>A user stage is allocated to each user for storing files. </a:t>
            </a:r>
          </a:p>
          <a:p>
            <a:r>
              <a:rPr lang="en-US" dirty="0">
                <a:solidFill>
                  <a:schemeClr val="tx1"/>
                </a:solidFill>
              </a:rPr>
              <a:t>To store files that are staged and managed by a single user but can be loaded into multiple tables. </a:t>
            </a:r>
          </a:p>
          <a:p>
            <a:r>
              <a:rPr lang="en-US" dirty="0">
                <a:solidFill>
                  <a:schemeClr val="tx1"/>
                </a:solidFill>
              </a:rPr>
              <a:t>User stages cannot be altered or dropped.</a:t>
            </a:r>
          </a:p>
          <a:p>
            <a:r>
              <a:rPr lang="en-US" dirty="0">
                <a:solidFill>
                  <a:schemeClr val="tx1"/>
                </a:solidFill>
              </a:rPr>
              <a:t>This option is not appropriate if multiple users require access to the files.</a:t>
            </a:r>
          </a:p>
          <a:p>
            <a:endParaRPr lang="en-US" dirty="0">
              <a:solidFill>
                <a:schemeClr val="tx1"/>
              </a:solidFill>
            </a:endParaRPr>
          </a:p>
          <a:p>
            <a:endParaRPr lang="en-IN" dirty="0">
              <a:solidFill>
                <a:schemeClr val="tx1"/>
              </a:solidFill>
            </a:endParaRPr>
          </a:p>
          <a:p>
            <a:endParaRPr lang="mr-IN" dirty="0">
              <a:solidFill>
                <a:schemeClr val="tx1"/>
              </a:solidFill>
            </a:endParaRP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User Stage </a:t>
            </a:r>
            <a:r>
              <a:rPr lang="en-US" b="1" dirty="0">
                <a:solidFill>
                  <a:schemeClr val="tx1"/>
                </a:solidFill>
                <a:latin typeface="Helvetica" panose="020B0604020202020204" pitchFamily="34" charset="0"/>
              </a:rPr>
              <a:t>(@~)</a:t>
            </a:r>
            <a:endParaRPr lang="mr-IN" b="1" dirty="0">
              <a:solidFill>
                <a:schemeClr val="tx1"/>
              </a:solidFill>
            </a:endParaRPr>
          </a:p>
        </p:txBody>
      </p:sp>
    </p:spTree>
    <p:extLst>
      <p:ext uri="{BB962C8B-B14F-4D97-AF65-F5344CB8AC3E}">
        <p14:creationId xmlns:p14="http://schemas.microsoft.com/office/powerpoint/2010/main" val="40929352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table stage is available for each table created in Snowflake. </a:t>
            </a:r>
          </a:p>
          <a:p>
            <a:r>
              <a:rPr lang="en-US" dirty="0"/>
              <a:t>Table stages have the same name as the table. </a:t>
            </a:r>
          </a:p>
          <a:p>
            <a:pPr marL="0" indent="0">
              <a:buNone/>
            </a:pPr>
            <a:r>
              <a:rPr lang="en-US" dirty="0"/>
              <a:t>   e.g. a table named </a:t>
            </a:r>
            <a:r>
              <a:rPr lang="en-US" dirty="0" err="1"/>
              <a:t>mytable</a:t>
            </a:r>
            <a:r>
              <a:rPr lang="en-US" dirty="0"/>
              <a:t> has a stage referenced as @%</a:t>
            </a:r>
            <a:r>
              <a:rPr lang="en-US" dirty="0" err="1"/>
              <a:t>mytable</a:t>
            </a:r>
            <a:endParaRPr lang="en-US" dirty="0"/>
          </a:p>
          <a:p>
            <a:r>
              <a:rPr lang="en-US" dirty="0"/>
              <a:t>To store files that are staged and managed by one or more users but only loaded into a single table. </a:t>
            </a:r>
          </a:p>
          <a:p>
            <a:r>
              <a:rPr lang="en-US" dirty="0"/>
              <a:t>Table stages cannot be altered or dropped.</a:t>
            </a:r>
          </a:p>
          <a:p>
            <a:r>
              <a:rPr lang="en-US" dirty="0"/>
              <a:t>Note that a table stage is not a separate database object, rather it is an implicit stage tied to the table itself.</a:t>
            </a: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Table Stage (@%)</a:t>
            </a:r>
            <a:endParaRPr lang="mr-IN" b="1" dirty="0">
              <a:solidFill>
                <a:schemeClr val="tx1"/>
              </a:solidFill>
            </a:endParaRPr>
          </a:p>
        </p:txBody>
      </p:sp>
    </p:spTree>
    <p:extLst>
      <p:ext uri="{BB962C8B-B14F-4D97-AF65-F5344CB8AC3E}">
        <p14:creationId xmlns:p14="http://schemas.microsoft.com/office/powerpoint/2010/main" val="2346352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named internal stage is a database object created in a schema</a:t>
            </a:r>
          </a:p>
          <a:p>
            <a:r>
              <a:rPr lang="en-US" dirty="0"/>
              <a:t>To store files that are staged and managed by one or more users and loaded into one or more tables. </a:t>
            </a:r>
          </a:p>
          <a:p>
            <a:r>
              <a:rPr lang="en-US" dirty="0"/>
              <a:t>Create stages using the CREATE STAGE command (similar to external stages)</a:t>
            </a:r>
          </a:p>
          <a:p>
            <a:endParaRPr lang="en-US" dirty="0"/>
          </a:p>
          <a:p>
            <a:pPr marL="0" indent="0">
              <a:buNone/>
            </a:pPr>
            <a:r>
              <a:rPr lang="en-US" dirty="0">
                <a:solidFill>
                  <a:srgbClr val="000000"/>
                </a:solidFill>
              </a:rPr>
              <a:t>   CREATE OR REPLACE STAGE </a:t>
            </a:r>
            <a:r>
              <a:rPr lang="en-US" dirty="0" err="1">
                <a:solidFill>
                  <a:srgbClr val="000000"/>
                </a:solidFill>
              </a:rPr>
              <a:t>MYDB.internal_stages.sample_stage</a:t>
            </a:r>
            <a:endParaRPr lang="en-US" dirty="0">
              <a:solidFill>
                <a:srgbClr val="000000"/>
              </a:solidFill>
            </a:endParaRPr>
          </a:p>
        </p:txBody>
      </p:sp>
      <p:sp>
        <p:nvSpPr>
          <p:cNvPr id="3" name="Title 2"/>
          <p:cNvSpPr>
            <a:spLocks noGrp="1"/>
          </p:cNvSpPr>
          <p:nvPr>
            <p:ph type="title"/>
          </p:nvPr>
        </p:nvSpPr>
        <p:spPr/>
        <p:txBody>
          <a:bodyPr/>
          <a:lstStyle/>
          <a:p>
            <a:r>
              <a:rPr lang="en-IN" dirty="0">
                <a:solidFill>
                  <a:schemeClr val="tx1"/>
                </a:solidFill>
                <a:latin typeface="Helvetica" panose="020B0604020202020204" pitchFamily="34" charset="0"/>
              </a:rPr>
              <a:t>Named Internal Stage (@)</a:t>
            </a:r>
            <a:endParaRPr lang="mr-IN" dirty="0">
              <a:solidFill>
                <a:schemeClr val="tx1"/>
              </a:solidFill>
            </a:endParaRPr>
          </a:p>
        </p:txBody>
      </p:sp>
    </p:spTree>
    <p:extLst>
      <p:ext uri="{BB962C8B-B14F-4D97-AF65-F5344CB8AC3E}">
        <p14:creationId xmlns:p14="http://schemas.microsoft.com/office/powerpoint/2010/main" val="32312906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78582" y="2564904"/>
            <a:ext cx="11449272" cy="4176463"/>
          </a:xfrm>
        </p:spPr>
        <p:txBody>
          <a:bodyPr>
            <a:noAutofit/>
          </a:bodyPr>
          <a:lstStyle/>
          <a:p>
            <a:pPr marL="0" indent="0">
              <a:buNone/>
            </a:pPr>
            <a:r>
              <a:rPr lang="en-US" sz="1700" dirty="0">
                <a:solidFill>
                  <a:schemeClr val="tx1"/>
                </a:solidFill>
              </a:rPr>
              <a:t>       A Snowflake file format is a named database object that encapsulates information about a data file. This information includes the file's type (CSV, JSON, etc.), formatting options, and compression method. Snowflake file formats are used to simplify the process of loading and unloading data from Snowflake tables.</a:t>
            </a:r>
          </a:p>
          <a:p>
            <a:pPr marL="0" indent="0">
              <a:buNone/>
            </a:pPr>
            <a:r>
              <a:rPr lang="en-US" sz="1700" dirty="0">
                <a:solidFill>
                  <a:schemeClr val="tx1"/>
                </a:solidFill>
              </a:rPr>
              <a:t>      In Snowflake we have to create file format to load data and as per our data/files we can change our </a:t>
            </a:r>
            <a:r>
              <a:rPr lang="en-US" sz="1700" dirty="0" err="1">
                <a:solidFill>
                  <a:schemeClr val="tx1"/>
                </a:solidFill>
              </a:rPr>
              <a:t>Parameteres</a:t>
            </a:r>
            <a:r>
              <a:rPr lang="en-US" sz="1700" dirty="0">
                <a:solidFill>
                  <a:schemeClr val="tx1"/>
                </a:solidFill>
              </a:rPr>
              <a:t>.</a:t>
            </a:r>
          </a:p>
          <a:p>
            <a:pPr marL="0" indent="0">
              <a:buNone/>
            </a:pPr>
            <a:endParaRPr lang="en-US" sz="1700" dirty="0">
              <a:solidFill>
                <a:schemeClr val="tx1"/>
              </a:solidFill>
            </a:endParaRPr>
          </a:p>
          <a:p>
            <a:pPr marL="0" indent="0">
              <a:buNone/>
            </a:pPr>
            <a:r>
              <a:rPr lang="en-US" sz="1700" dirty="0">
                <a:solidFill>
                  <a:schemeClr val="tx1"/>
                </a:solidFill>
              </a:rPr>
              <a:t>  Here are the list of supported Snowflake file formats:</a:t>
            </a:r>
          </a:p>
          <a:p>
            <a:r>
              <a:rPr lang="en-US" sz="1700" b="1" dirty="0">
                <a:solidFill>
                  <a:schemeClr val="tx1"/>
                </a:solidFill>
              </a:rPr>
              <a:t>CSV</a:t>
            </a:r>
            <a:r>
              <a:rPr lang="en-US" sz="1700" dirty="0">
                <a:solidFill>
                  <a:schemeClr val="tx1"/>
                </a:solidFill>
              </a:rPr>
              <a:t> (Comma-separated values): This is the most common file format for loading data into Snowflake.</a:t>
            </a:r>
          </a:p>
          <a:p>
            <a:r>
              <a:rPr lang="en-US" sz="1700" b="1" dirty="0">
                <a:solidFill>
                  <a:schemeClr val="tx1"/>
                </a:solidFill>
              </a:rPr>
              <a:t>JSON</a:t>
            </a:r>
            <a:r>
              <a:rPr lang="en-US" sz="1700" dirty="0">
                <a:solidFill>
                  <a:schemeClr val="tx1"/>
                </a:solidFill>
              </a:rPr>
              <a:t> (JavaScript Object Notation): This is a flexible and lightweight file format that is often used for semi-structured data.</a:t>
            </a:r>
          </a:p>
          <a:p>
            <a:r>
              <a:rPr lang="en-US" sz="1700" b="1" dirty="0">
                <a:solidFill>
                  <a:schemeClr val="tx1"/>
                </a:solidFill>
              </a:rPr>
              <a:t>Avro</a:t>
            </a:r>
            <a:r>
              <a:rPr lang="en-US" sz="1700" dirty="0">
                <a:solidFill>
                  <a:schemeClr val="tx1"/>
                </a:solidFill>
              </a:rPr>
              <a:t>: A binary file format that is efficient for storing and querying large datasets.</a:t>
            </a:r>
          </a:p>
          <a:p>
            <a:r>
              <a:rPr lang="en-US" sz="1700" b="1" dirty="0">
                <a:solidFill>
                  <a:schemeClr val="tx1"/>
                </a:solidFill>
              </a:rPr>
              <a:t>ORC</a:t>
            </a:r>
            <a:r>
              <a:rPr lang="en-US" sz="1700" dirty="0">
                <a:solidFill>
                  <a:schemeClr val="tx1"/>
                </a:solidFill>
              </a:rPr>
              <a:t> (Optimized Row Columnar): A columnar file format that is optimized for analytical queries.</a:t>
            </a:r>
          </a:p>
          <a:p>
            <a:r>
              <a:rPr lang="en-US" sz="1700" b="1" dirty="0">
                <a:solidFill>
                  <a:schemeClr val="tx1"/>
                </a:solidFill>
              </a:rPr>
              <a:t>Parquet</a:t>
            </a:r>
            <a:r>
              <a:rPr lang="en-US" sz="1700" dirty="0">
                <a:solidFill>
                  <a:schemeClr val="tx1"/>
                </a:solidFill>
              </a:rPr>
              <a:t>: A columnar file format that is similar to ORC, but it is more widely supported.</a:t>
            </a:r>
          </a:p>
          <a:p>
            <a:r>
              <a:rPr lang="en-US" sz="1700" b="1" dirty="0">
                <a:solidFill>
                  <a:schemeClr val="tx1"/>
                </a:solidFill>
              </a:rPr>
              <a:t>XML</a:t>
            </a:r>
            <a:r>
              <a:rPr lang="en-US" sz="1700" dirty="0">
                <a:solidFill>
                  <a:schemeClr val="tx1"/>
                </a:solidFill>
              </a:rPr>
              <a:t> (Extensible Markup Language): This is a text-based file format that is often used for storing structured data.</a:t>
            </a:r>
          </a:p>
        </p:txBody>
      </p:sp>
      <p:sp>
        <p:nvSpPr>
          <p:cNvPr id="3" name="Title 2"/>
          <p:cNvSpPr>
            <a:spLocks noGrp="1"/>
          </p:cNvSpPr>
          <p:nvPr>
            <p:ph type="title"/>
          </p:nvPr>
        </p:nvSpPr>
        <p:spPr/>
        <p:txBody>
          <a:bodyPr>
            <a:normAutofit/>
          </a:bodyPr>
          <a:lstStyle/>
          <a:p>
            <a:r>
              <a:rPr lang="en-US" b="1" dirty="0">
                <a:solidFill>
                  <a:schemeClr val="tx1"/>
                </a:solidFill>
              </a:rPr>
              <a:t>FILE FORMAT in SNOWFLAKE</a:t>
            </a:r>
            <a:endParaRPr lang="mr-IN" b="1" dirty="0">
              <a:solidFill>
                <a:schemeClr val="tx1"/>
              </a:solidFill>
            </a:endParaRPr>
          </a:p>
        </p:txBody>
      </p:sp>
    </p:spTree>
    <p:extLst>
      <p:ext uri="{BB962C8B-B14F-4D97-AF65-F5344CB8AC3E}">
        <p14:creationId xmlns:p14="http://schemas.microsoft.com/office/powerpoint/2010/main" val="37288419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50590" y="2564904"/>
            <a:ext cx="10488507" cy="4176464"/>
          </a:xfrm>
        </p:spPr>
        <p:txBody>
          <a:bodyPr>
            <a:normAutofit fontScale="77500" lnSpcReduction="20000"/>
          </a:bodyPr>
          <a:lstStyle/>
          <a:p>
            <a:r>
              <a:rPr lang="en-US" dirty="0">
                <a:solidFill>
                  <a:schemeClr val="tx1"/>
                </a:solidFill>
              </a:rPr>
              <a:t>Loads data from staged files to an existing table. The files must already be staged in one of the following locations. LOAD data </a:t>
            </a:r>
            <a:r>
              <a:rPr lang="en-US" dirty="0" err="1">
                <a:solidFill>
                  <a:schemeClr val="tx1"/>
                </a:solidFill>
              </a:rPr>
              <a:t>Inot</a:t>
            </a:r>
            <a:r>
              <a:rPr lang="en-US" dirty="0">
                <a:solidFill>
                  <a:schemeClr val="tx1"/>
                </a:solidFill>
              </a:rPr>
              <a:t> Tables from Stages.</a:t>
            </a:r>
          </a:p>
          <a:p>
            <a:pPr marL="0" indent="0">
              <a:buNone/>
            </a:pPr>
            <a:endParaRPr lang="en-US" dirty="0">
              <a:solidFill>
                <a:schemeClr val="tx1"/>
              </a:solidFill>
            </a:endParaRPr>
          </a:p>
          <a:p>
            <a:pPr marL="301943" lvl="1" indent="0">
              <a:buNone/>
            </a:pPr>
            <a:r>
              <a:rPr lang="en-US" b="1" dirty="0">
                <a:solidFill>
                  <a:srgbClr val="FF0000"/>
                </a:solidFill>
              </a:rPr>
              <a:t>Syntax:</a:t>
            </a:r>
            <a:r>
              <a:rPr lang="en-US" dirty="0">
                <a:solidFill>
                  <a:schemeClr val="tx1"/>
                </a:solidFill>
              </a:rPr>
              <a:t> COPY INTO &lt;</a:t>
            </a:r>
            <a:r>
              <a:rPr lang="en-US" dirty="0" err="1">
                <a:solidFill>
                  <a:schemeClr val="tx1"/>
                </a:solidFill>
              </a:rPr>
              <a:t>Tablename</a:t>
            </a:r>
            <a:r>
              <a:rPr lang="en-US" dirty="0">
                <a:solidFill>
                  <a:schemeClr val="tx1"/>
                </a:solidFill>
              </a:rPr>
              <a:t>&gt;</a:t>
            </a:r>
          </a:p>
          <a:p>
            <a:pPr marL="301943" lvl="1" indent="0">
              <a:buNone/>
            </a:pPr>
            <a:r>
              <a:rPr lang="en-US" dirty="0">
                <a:solidFill>
                  <a:schemeClr val="tx1"/>
                </a:solidFill>
              </a:rPr>
              <a:t>From &lt;</a:t>
            </a:r>
            <a:r>
              <a:rPr lang="en-US" dirty="0" err="1">
                <a:solidFill>
                  <a:schemeClr val="tx1"/>
                </a:solidFill>
              </a:rPr>
              <a:t>stagename</a:t>
            </a:r>
            <a:r>
              <a:rPr lang="en-US" dirty="0">
                <a:solidFill>
                  <a:schemeClr val="tx1"/>
                </a:solidFill>
              </a:rPr>
              <a:t>&gt;;</a:t>
            </a:r>
          </a:p>
          <a:p>
            <a:pPr marL="301943" lvl="1" indent="0">
              <a:buNone/>
            </a:pPr>
            <a:endParaRPr lang="en-US" dirty="0">
              <a:solidFill>
                <a:schemeClr val="tx1"/>
              </a:solidFill>
            </a:endParaRPr>
          </a:p>
          <a:p>
            <a:pPr marL="301943" lvl="1" indent="0">
              <a:buNone/>
            </a:pPr>
            <a:r>
              <a:rPr lang="en-US" b="1" dirty="0">
                <a:solidFill>
                  <a:srgbClr val="FF0000"/>
                </a:solidFill>
              </a:rPr>
              <a:t>PARAMETERS</a:t>
            </a:r>
            <a:r>
              <a:rPr lang="en-US" dirty="0">
                <a:solidFill>
                  <a:srgbClr val="FF0000"/>
                </a:solidFill>
              </a:rPr>
              <a:t>:</a:t>
            </a:r>
          </a:p>
          <a:p>
            <a:pPr marL="301943" lvl="1" indent="0">
              <a:buNone/>
            </a:pPr>
            <a:r>
              <a:rPr lang="en-US" dirty="0">
                <a:solidFill>
                  <a:schemeClr val="tx1"/>
                </a:solidFill>
              </a:rPr>
              <a:t>ON_ERROR= {CONTINUE | SKIP_FILE | ABORT_STATEMENT }</a:t>
            </a:r>
          </a:p>
          <a:p>
            <a:pPr marL="301943" lvl="1" indent="0">
              <a:buNone/>
            </a:pPr>
            <a:r>
              <a:rPr lang="en-US" dirty="0">
                <a:solidFill>
                  <a:schemeClr val="tx1"/>
                </a:solidFill>
              </a:rPr>
              <a:t>FORCE=TRUE</a:t>
            </a:r>
          </a:p>
          <a:p>
            <a:pPr marL="301943" lvl="1" indent="0">
              <a:buNone/>
            </a:pPr>
            <a:r>
              <a:rPr lang="en-US" dirty="0">
                <a:solidFill>
                  <a:schemeClr val="tx1"/>
                </a:solidFill>
              </a:rPr>
              <a:t>VALIDATION_MODE=RETURN_ALL_ERRORS/RETURN_ERRORS;</a:t>
            </a:r>
          </a:p>
          <a:p>
            <a:pPr marL="301943" lvl="1" indent="0">
              <a:buNone/>
            </a:pPr>
            <a:r>
              <a:rPr lang="en-US" dirty="0">
                <a:solidFill>
                  <a:schemeClr val="tx1"/>
                </a:solidFill>
              </a:rPr>
              <a:t>MAX_FILE_SIZE=BYTES; --COPY INTO LOCATION</a:t>
            </a:r>
          </a:p>
          <a:p>
            <a:pPr marL="301943" lvl="1" indent="0">
              <a:buNone/>
            </a:pPr>
            <a:r>
              <a:rPr lang="en-US" dirty="0">
                <a:solidFill>
                  <a:schemeClr val="tx1"/>
                </a:solidFill>
              </a:rPr>
              <a:t>RETURN_FAILED_ONLY=TRUE;</a:t>
            </a:r>
          </a:p>
          <a:p>
            <a:pPr marL="301943" lvl="1" indent="0">
              <a:buNone/>
            </a:pPr>
            <a:r>
              <a:rPr lang="en-US" dirty="0">
                <a:solidFill>
                  <a:schemeClr val="tx1"/>
                </a:solidFill>
              </a:rPr>
              <a:t>PURGE=TRUE</a:t>
            </a:r>
          </a:p>
          <a:p>
            <a:pPr marL="301943" lvl="1" indent="0">
              <a:buNone/>
            </a:pPr>
            <a:r>
              <a:rPr lang="en-US" dirty="0">
                <a:solidFill>
                  <a:schemeClr val="tx1"/>
                </a:solidFill>
              </a:rPr>
              <a:t>MATCH_BY_COLUMN_NAME=CASE_INSENSITIVE</a:t>
            </a:r>
          </a:p>
          <a:p>
            <a:pPr marL="301943" lvl="1" indent="0">
              <a:buNone/>
            </a:pPr>
            <a:r>
              <a:rPr lang="en-US" dirty="0">
                <a:solidFill>
                  <a:schemeClr val="tx1"/>
                </a:solidFill>
              </a:rPr>
              <a:t>INCLUDE_METADATA=(</a:t>
            </a:r>
            <a:r>
              <a:rPr lang="en-US" dirty="0" err="1">
                <a:solidFill>
                  <a:schemeClr val="tx1"/>
                </a:solidFill>
              </a:rPr>
              <a:t>Columnanme</a:t>
            </a:r>
            <a:r>
              <a:rPr lang="en-US" dirty="0">
                <a:solidFill>
                  <a:schemeClr val="tx1"/>
                </a:solidFill>
              </a:rPr>
              <a:t> =</a:t>
            </a:r>
            <a:r>
              <a:rPr lang="en-US" dirty="0" err="1">
                <a:solidFill>
                  <a:schemeClr val="tx1"/>
                </a:solidFill>
              </a:rPr>
              <a:t>METADATA$field</a:t>
            </a:r>
            <a:r>
              <a:rPr lang="en-US" dirty="0">
                <a:solidFill>
                  <a:schemeClr val="tx1"/>
                </a:solidFill>
              </a:rPr>
              <a:t>)</a:t>
            </a:r>
            <a:endParaRPr lang="mr-IN" dirty="0">
              <a:solidFill>
                <a:schemeClr val="tx1"/>
              </a:solidFill>
            </a:endParaRPr>
          </a:p>
        </p:txBody>
      </p:sp>
      <p:sp>
        <p:nvSpPr>
          <p:cNvPr id="3" name="Title 2"/>
          <p:cNvSpPr>
            <a:spLocks noGrp="1"/>
          </p:cNvSpPr>
          <p:nvPr>
            <p:ph type="title"/>
          </p:nvPr>
        </p:nvSpPr>
        <p:spPr/>
        <p:txBody>
          <a:bodyPr>
            <a:normAutofit/>
          </a:bodyPr>
          <a:lstStyle/>
          <a:p>
            <a:r>
              <a:rPr lang="en-US" b="1" dirty="0">
                <a:solidFill>
                  <a:schemeClr val="tx1"/>
                </a:solidFill>
              </a:rPr>
              <a:t>COPY Command for Data loading</a:t>
            </a:r>
            <a:endParaRPr lang="mr-IN" b="1" dirty="0">
              <a:solidFill>
                <a:schemeClr val="tx1"/>
              </a:solidFill>
            </a:endParaRPr>
          </a:p>
        </p:txBody>
      </p:sp>
      <p:sp>
        <p:nvSpPr>
          <p:cNvPr id="4" name="Title 2"/>
          <p:cNvSpPr txBox="1">
            <a:spLocks/>
          </p:cNvSpPr>
          <p:nvPr/>
        </p:nvSpPr>
        <p:spPr>
          <a:xfrm>
            <a:off x="478582" y="1812283"/>
            <a:ext cx="4824536" cy="690720"/>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dirty="0">
              <a:solidFill>
                <a:schemeClr val="tx1"/>
              </a:solidFill>
            </a:endParaRPr>
          </a:p>
        </p:txBody>
      </p:sp>
    </p:spTree>
    <p:extLst>
      <p:ext uri="{BB962C8B-B14F-4D97-AF65-F5344CB8AC3E}">
        <p14:creationId xmlns:p14="http://schemas.microsoft.com/office/powerpoint/2010/main" val="37259570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chemeClr val="tx1"/>
                </a:solidFill>
              </a:rPr>
              <a:t>METADATA$FILENAME</a:t>
            </a:r>
          </a:p>
          <a:p>
            <a:r>
              <a:rPr lang="en-US" dirty="0">
                <a:solidFill>
                  <a:schemeClr val="tx1"/>
                </a:solidFill>
              </a:rPr>
              <a:t>METADATA$FILE_ROW_NUMBER</a:t>
            </a:r>
          </a:p>
          <a:p>
            <a:r>
              <a:rPr lang="en-US" dirty="0">
                <a:solidFill>
                  <a:schemeClr val="tx1"/>
                </a:solidFill>
              </a:rPr>
              <a:t>METADATA$FILE_CONTENT_KEY</a:t>
            </a:r>
          </a:p>
          <a:p>
            <a:r>
              <a:rPr lang="en-US" dirty="0">
                <a:solidFill>
                  <a:schemeClr val="tx1"/>
                </a:solidFill>
              </a:rPr>
              <a:t>METADATA$FILE_LAST_MODIFIED</a:t>
            </a:r>
          </a:p>
          <a:p>
            <a:r>
              <a:rPr lang="en-US" dirty="0">
                <a:solidFill>
                  <a:schemeClr val="tx1"/>
                </a:solidFill>
              </a:rPr>
              <a:t>METADATA$START_SCAN_TIME</a:t>
            </a:r>
            <a:endParaRPr lang="mr-IN" dirty="0">
              <a:solidFill>
                <a:schemeClr val="tx1"/>
              </a:solidFill>
            </a:endParaRPr>
          </a:p>
        </p:txBody>
      </p:sp>
      <p:sp>
        <p:nvSpPr>
          <p:cNvPr id="3" name="Title 2"/>
          <p:cNvSpPr>
            <a:spLocks noGrp="1"/>
          </p:cNvSpPr>
          <p:nvPr>
            <p:ph type="title"/>
          </p:nvPr>
        </p:nvSpPr>
        <p:spPr/>
        <p:txBody>
          <a:bodyPr>
            <a:normAutofit/>
          </a:bodyPr>
          <a:lstStyle/>
          <a:p>
            <a:r>
              <a:rPr lang="en-US" sz="4800" b="1" dirty="0">
                <a:solidFill>
                  <a:schemeClr val="tx1"/>
                </a:solidFill>
              </a:rPr>
              <a:t>Metadata columns</a:t>
            </a:r>
            <a:endParaRPr lang="mr-IN" sz="4800" b="1" dirty="0">
              <a:solidFill>
                <a:schemeClr val="tx1"/>
              </a:solidFill>
            </a:endParaRPr>
          </a:p>
        </p:txBody>
      </p:sp>
    </p:spTree>
    <p:extLst>
      <p:ext uri="{BB962C8B-B14F-4D97-AF65-F5344CB8AC3E}">
        <p14:creationId xmlns:p14="http://schemas.microsoft.com/office/powerpoint/2010/main" val="25496133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solidFill>
                  <a:srgbClr val="000000"/>
                </a:solidFill>
              </a:rPr>
              <a:t>Designed to load small volumes of data (i.e. micro-batches) and incrementally make them available for analysis. </a:t>
            </a:r>
          </a:p>
          <a:p>
            <a:r>
              <a:rPr lang="en-US" dirty="0">
                <a:solidFill>
                  <a:srgbClr val="000000"/>
                </a:solidFill>
              </a:rPr>
              <a:t>Live or real time data</a:t>
            </a:r>
          </a:p>
          <a:p>
            <a:r>
              <a:rPr lang="en-US" dirty="0" err="1">
                <a:solidFill>
                  <a:srgbClr val="000000"/>
                </a:solidFill>
              </a:rPr>
              <a:t>Snowpipe</a:t>
            </a:r>
            <a:r>
              <a:rPr lang="en-US" dirty="0">
                <a:solidFill>
                  <a:srgbClr val="000000"/>
                </a:solidFill>
              </a:rPr>
              <a:t> loads data within minutes after files are added to a stage and submitted for ingestion. </a:t>
            </a:r>
          </a:p>
          <a:p>
            <a:r>
              <a:rPr lang="en-US" dirty="0">
                <a:solidFill>
                  <a:srgbClr val="000000"/>
                </a:solidFill>
              </a:rPr>
              <a:t>This ensures users have the latest data for business analysis.</a:t>
            </a:r>
          </a:p>
          <a:p>
            <a:r>
              <a:rPr lang="en-US" dirty="0" err="1">
                <a:solidFill>
                  <a:srgbClr val="000000"/>
                </a:solidFill>
              </a:rPr>
              <a:t>Snowpipe</a:t>
            </a:r>
            <a:r>
              <a:rPr lang="en-US" dirty="0">
                <a:solidFill>
                  <a:srgbClr val="000000"/>
                </a:solidFill>
              </a:rPr>
              <a:t> uses compute resources provided by Snowflake, It is a </a:t>
            </a:r>
            <a:r>
              <a:rPr lang="en-US" dirty="0" err="1">
                <a:solidFill>
                  <a:srgbClr val="000000"/>
                </a:solidFill>
              </a:rPr>
              <a:t>serverless</a:t>
            </a:r>
            <a:r>
              <a:rPr lang="en-US" dirty="0">
                <a:solidFill>
                  <a:srgbClr val="000000"/>
                </a:solidFill>
              </a:rPr>
              <a:t> task and there will be separate charge for these </a:t>
            </a:r>
            <a:r>
              <a:rPr lang="en-US" dirty="0" err="1">
                <a:solidFill>
                  <a:srgbClr val="000000"/>
                </a:solidFill>
              </a:rPr>
              <a:t>serverless</a:t>
            </a:r>
            <a:r>
              <a:rPr lang="en-US" dirty="0">
                <a:solidFill>
                  <a:srgbClr val="000000"/>
                </a:solidFill>
              </a:rPr>
              <a:t> tasks.</a:t>
            </a:r>
          </a:p>
          <a:p>
            <a:r>
              <a:rPr lang="en-US" dirty="0">
                <a:solidFill>
                  <a:srgbClr val="000000"/>
                </a:solidFill>
              </a:rPr>
              <a:t>The COPY statement in the pipe definition supports the same COPY transformation options as when bulk loading data.</a:t>
            </a: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Continuous Loading Using Snowpipe</a:t>
            </a:r>
            <a:endParaRPr lang="mr-IN" b="1" dirty="0">
              <a:solidFill>
                <a:schemeClr val="tx1"/>
              </a:solidFill>
            </a:endParaRPr>
          </a:p>
        </p:txBody>
      </p:sp>
    </p:spTree>
    <p:extLst>
      <p:ext uri="{BB962C8B-B14F-4D97-AF65-F5344CB8AC3E}">
        <p14:creationId xmlns:p14="http://schemas.microsoft.com/office/powerpoint/2010/main" val="5144416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How Snowpipe works?</a:t>
            </a:r>
            <a:endParaRPr lang="mr-IN" b="1" dirty="0">
              <a:solidFill>
                <a:schemeClr val="tx1"/>
              </a:solidFill>
            </a:endParaRPr>
          </a:p>
        </p:txBody>
      </p:sp>
      <p:pic>
        <p:nvPicPr>
          <p:cNvPr id="4" name="Content Placeholder 4">
            <a:extLst>
              <a:ext uri="{FF2B5EF4-FFF2-40B4-BE49-F238E27FC236}">
                <a16:creationId xmlns:a16="http://schemas.microsoft.com/office/drawing/2014/main" id="{996A0FE3-0023-89E9-1A71-4FD4AC1C03A1}"/>
              </a:ext>
            </a:extLst>
          </p:cNvPr>
          <p:cNvPicPr>
            <a:picLocks noGrp="1" noChangeAspect="1"/>
          </p:cNvPicPr>
          <p:nvPr>
            <p:ph idx="1"/>
          </p:nvPr>
        </p:nvPicPr>
        <p:blipFill>
          <a:blip r:embed="rId2"/>
          <a:stretch>
            <a:fillRect/>
          </a:stretch>
        </p:blipFill>
        <p:spPr>
          <a:xfrm>
            <a:off x="838622" y="2420888"/>
            <a:ext cx="9001000" cy="2112059"/>
          </a:xfrm>
        </p:spPr>
      </p:pic>
      <p:sp>
        <p:nvSpPr>
          <p:cNvPr id="5" name="Rectangle 4"/>
          <p:cNvSpPr/>
          <p:nvPr/>
        </p:nvSpPr>
        <p:spPr>
          <a:xfrm>
            <a:off x="1126654" y="4725144"/>
            <a:ext cx="6696744" cy="1200329"/>
          </a:xfrm>
          <a:prstGeom prst="rect">
            <a:avLst/>
          </a:prstGeom>
        </p:spPr>
        <p:txBody>
          <a:bodyPr wrap="square">
            <a:spAutoFit/>
          </a:bodyPr>
          <a:lstStyle/>
          <a:p>
            <a:pPr lvl="1"/>
            <a:r>
              <a:rPr lang="en-US" dirty="0"/>
              <a:t>CREATE OR REPLACE   PIPE   </a:t>
            </a:r>
            <a:r>
              <a:rPr lang="en-US" i="1" dirty="0"/>
              <a:t>PIPE_NAME</a:t>
            </a:r>
          </a:p>
          <a:p>
            <a:pPr lvl="1"/>
            <a:r>
              <a:rPr lang="en-US" dirty="0"/>
              <a:t>  	AUTO_INGEST = [ TRUE | FALSE ] ]</a:t>
            </a:r>
          </a:p>
          <a:p>
            <a:pPr lvl="1"/>
            <a:r>
              <a:rPr lang="en-US" dirty="0"/>
              <a:t>	AS </a:t>
            </a:r>
          </a:p>
          <a:p>
            <a:pPr lvl="1"/>
            <a:r>
              <a:rPr lang="en-US" dirty="0"/>
              <a:t>	&lt;</a:t>
            </a:r>
            <a:r>
              <a:rPr lang="en-US" dirty="0" err="1"/>
              <a:t>Copy_Statement</a:t>
            </a:r>
            <a:r>
              <a:rPr lang="en-US" dirty="0"/>
              <a:t>&gt;</a:t>
            </a:r>
            <a:endParaRPr lang="en-IN" dirty="0"/>
          </a:p>
        </p:txBody>
      </p:sp>
    </p:spTree>
    <p:extLst>
      <p:ext uri="{BB962C8B-B14F-4D97-AF65-F5344CB8AC3E}">
        <p14:creationId xmlns:p14="http://schemas.microsoft.com/office/powerpoint/2010/main" val="29924465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pPr marL="0" indent="0">
              <a:buNone/>
            </a:pPr>
            <a:r>
              <a:rPr lang="en-US" dirty="0">
                <a:solidFill>
                  <a:srgbClr val="000000"/>
                </a:solidFill>
              </a:rPr>
              <a:t>The process for unloading data into files is the same as the loading process, except in reverse.</a:t>
            </a:r>
          </a:p>
          <a:p>
            <a:pPr marL="0" indent="0">
              <a:buNone/>
            </a:pPr>
            <a:endParaRPr lang="en-US" dirty="0"/>
          </a:p>
          <a:p>
            <a:pPr marL="0" indent="0">
              <a:buNone/>
            </a:pPr>
            <a:r>
              <a:rPr lang="en-US" b="1" dirty="0"/>
              <a:t>COPY INTO LOCATION: </a:t>
            </a:r>
            <a:r>
              <a:rPr lang="en-US" dirty="0"/>
              <a:t>Loads data from table to Stages.</a:t>
            </a:r>
          </a:p>
          <a:p>
            <a:pPr marL="0" indent="0">
              <a:buNone/>
            </a:pPr>
            <a:r>
              <a:rPr lang="en-US" b="1" dirty="0">
                <a:solidFill>
                  <a:srgbClr val="FF0000"/>
                </a:solidFill>
              </a:rPr>
              <a:t>Syntax</a:t>
            </a:r>
            <a:r>
              <a:rPr lang="en-US" dirty="0">
                <a:solidFill>
                  <a:srgbClr val="FF0000"/>
                </a:solidFill>
              </a:rPr>
              <a:t>: </a:t>
            </a:r>
            <a:r>
              <a:rPr lang="en-US" dirty="0"/>
              <a:t>COPY INTO &lt;</a:t>
            </a:r>
            <a:r>
              <a:rPr lang="en-US" dirty="0" err="1"/>
              <a:t>Stagename</a:t>
            </a:r>
            <a:r>
              <a:rPr lang="en-US" dirty="0"/>
              <a:t>&gt; From &lt;</a:t>
            </a:r>
            <a:r>
              <a:rPr lang="en-US" dirty="0" err="1"/>
              <a:t>Tablename</a:t>
            </a:r>
            <a:r>
              <a:rPr lang="en-US" dirty="0"/>
              <a:t>&gt;;</a:t>
            </a:r>
          </a:p>
          <a:p>
            <a:pPr marL="0" indent="0">
              <a:buNone/>
            </a:pPr>
            <a:endParaRPr lang="en-US" dirty="0"/>
          </a:p>
          <a:p>
            <a:pPr marL="0" indent="0">
              <a:buNone/>
            </a:pPr>
            <a:r>
              <a:rPr lang="en-US" b="1" dirty="0">
                <a:solidFill>
                  <a:srgbClr val="FF0000"/>
                </a:solidFill>
              </a:rPr>
              <a:t>PARAMETERS</a:t>
            </a:r>
            <a:r>
              <a:rPr lang="en-US" dirty="0">
                <a:solidFill>
                  <a:srgbClr val="FF0000"/>
                </a:solidFill>
              </a:rPr>
              <a:t>:</a:t>
            </a:r>
          </a:p>
          <a:p>
            <a:pPr marL="301943" lvl="1" indent="0">
              <a:buNone/>
            </a:pPr>
            <a:r>
              <a:rPr lang="en-US" dirty="0"/>
              <a:t>VALIDATION_MODE = RETURN_ROWS</a:t>
            </a:r>
          </a:p>
          <a:p>
            <a:pPr marL="301943" lvl="1" indent="0">
              <a:buNone/>
            </a:pPr>
            <a:r>
              <a:rPr lang="en-US" dirty="0"/>
              <a:t>INCLUDE_QUERY_ID = TRUE</a:t>
            </a:r>
          </a:p>
          <a:p>
            <a:pPr marL="301943" lvl="1" indent="0">
              <a:buNone/>
            </a:pPr>
            <a:r>
              <a:rPr lang="en-US" dirty="0"/>
              <a:t>DETAILED OUTPUT = TRUE</a:t>
            </a:r>
          </a:p>
          <a:p>
            <a:pPr marL="301943" lvl="1" indent="0">
              <a:buNone/>
            </a:pPr>
            <a:r>
              <a:rPr lang="en-US" dirty="0"/>
              <a:t>OVERWRITE=TRUE</a:t>
            </a:r>
          </a:p>
          <a:p>
            <a:pPr marL="301943" lvl="1" indent="0">
              <a:buNone/>
            </a:pPr>
            <a:r>
              <a:rPr lang="en-US" dirty="0"/>
              <a:t>SINGLE=TRUE</a:t>
            </a:r>
          </a:p>
          <a:p>
            <a:pPr marL="301943" lvl="1" indent="0">
              <a:buNone/>
            </a:pPr>
            <a:r>
              <a:rPr lang="en-US" dirty="0"/>
              <a:t>MAX_FILE_SIZE= Default 16MB (16777216)</a:t>
            </a:r>
            <a:endParaRPr lang="mr-IN" dirty="0"/>
          </a:p>
        </p:txBody>
      </p:sp>
      <p:sp>
        <p:nvSpPr>
          <p:cNvPr id="3" name="Title 2"/>
          <p:cNvSpPr>
            <a:spLocks noGrp="1"/>
          </p:cNvSpPr>
          <p:nvPr>
            <p:ph type="title"/>
          </p:nvPr>
        </p:nvSpPr>
        <p:spPr/>
        <p:txBody>
          <a:bodyPr/>
          <a:lstStyle/>
          <a:p>
            <a:r>
              <a:rPr lang="en-US" b="1" dirty="0">
                <a:solidFill>
                  <a:schemeClr val="tx1"/>
                </a:solidFill>
              </a:rPr>
              <a:t>COPY Command for Data Unloading</a:t>
            </a:r>
            <a:endParaRPr lang="mr-IN" dirty="0"/>
          </a:p>
        </p:txBody>
      </p:sp>
    </p:spTree>
    <p:extLst>
      <p:ext uri="{BB962C8B-B14F-4D97-AF65-F5344CB8AC3E}">
        <p14:creationId xmlns:p14="http://schemas.microsoft.com/office/powerpoint/2010/main" val="17336076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6614" y="2492896"/>
            <a:ext cx="10272483" cy="3633267"/>
          </a:xfrm>
        </p:spPr>
        <p:txBody>
          <a:bodyPr>
            <a:normAutofit fontScale="92500" lnSpcReduction="10000"/>
          </a:bodyPr>
          <a:lstStyle/>
          <a:p>
            <a:pPr lvl="1"/>
            <a:r>
              <a:rPr lang="en-US" b="1" dirty="0"/>
              <a:t>OVERWRITE</a:t>
            </a:r>
            <a:r>
              <a:rPr lang="en-US" dirty="0"/>
              <a:t> = TRUE | FALSE - Specifies to Overwrite existing files</a:t>
            </a:r>
          </a:p>
          <a:p>
            <a:pPr lvl="1"/>
            <a:endParaRPr lang="en-US" dirty="0"/>
          </a:p>
          <a:p>
            <a:pPr lvl="1"/>
            <a:r>
              <a:rPr lang="en-US" b="1" dirty="0"/>
              <a:t>SINGLE</a:t>
            </a:r>
            <a:r>
              <a:rPr lang="en-US" dirty="0"/>
              <a:t> = TRUE | FALSE - Specifies whether to generate a single file or multiple files</a:t>
            </a:r>
          </a:p>
          <a:p>
            <a:pPr lvl="1"/>
            <a:endParaRPr lang="en-US" dirty="0"/>
          </a:p>
          <a:p>
            <a:pPr lvl="1"/>
            <a:r>
              <a:rPr lang="en-US" b="1" dirty="0"/>
              <a:t>MAX_FILE_SIZE</a:t>
            </a:r>
            <a:r>
              <a:rPr lang="en-US" dirty="0"/>
              <a:t> = &lt;</a:t>
            </a:r>
            <a:r>
              <a:rPr lang="en-US" dirty="0" err="1"/>
              <a:t>num</a:t>
            </a:r>
            <a:r>
              <a:rPr lang="en-US" dirty="0"/>
              <a:t>&gt; - Maximum file size</a:t>
            </a:r>
          </a:p>
          <a:p>
            <a:pPr lvl="1"/>
            <a:endParaRPr lang="en-US" dirty="0"/>
          </a:p>
          <a:p>
            <a:pPr lvl="1"/>
            <a:r>
              <a:rPr lang="en-US" b="1" dirty="0"/>
              <a:t>INCLUDE_QUERY_ID</a:t>
            </a:r>
            <a:r>
              <a:rPr lang="en-US" dirty="0"/>
              <a:t> = TRUE | FALSE - Specifies whether to uniquely identify unloaded files by including a universally unique identifier</a:t>
            </a:r>
          </a:p>
          <a:p>
            <a:pPr lvl="1"/>
            <a:endParaRPr lang="en-US" dirty="0"/>
          </a:p>
          <a:p>
            <a:pPr lvl="1"/>
            <a:r>
              <a:rPr lang="en-US" b="1" dirty="0"/>
              <a:t>DETAILED_OUTPUT</a:t>
            </a:r>
            <a:r>
              <a:rPr lang="en-US" dirty="0"/>
              <a:t> = TRUE | FALSE - Shows the path and name for each file, its size, and the number of rows that were unloaded to the file.</a:t>
            </a:r>
            <a:endParaRPr lang="en-IN" dirty="0"/>
          </a:p>
          <a:p>
            <a:endParaRPr lang="mr-IN" dirty="0"/>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Unloading Options</a:t>
            </a:r>
            <a:endParaRPr lang="mr-IN" b="1" dirty="0">
              <a:solidFill>
                <a:schemeClr val="tx1"/>
              </a:solidFill>
            </a:endParaRPr>
          </a:p>
        </p:txBody>
      </p:sp>
    </p:spTree>
    <p:extLst>
      <p:ext uri="{BB962C8B-B14F-4D97-AF65-F5344CB8AC3E}">
        <p14:creationId xmlns:p14="http://schemas.microsoft.com/office/powerpoint/2010/main" val="21379476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22598" y="1916832"/>
            <a:ext cx="11017224" cy="4680520"/>
          </a:xfrm>
        </p:spPr>
        <p:txBody>
          <a:bodyPr numCol="1">
            <a:noAutofit/>
          </a:bodyPr>
          <a:lstStyle/>
          <a:p>
            <a:r>
              <a:rPr lang="en-US" sz="1800" b="1" dirty="0">
                <a:solidFill>
                  <a:schemeClr val="tx1"/>
                </a:solidFill>
              </a:rPr>
              <a:t>// Creating AWS free account, s3 bucket, IAM Policy</a:t>
            </a:r>
            <a:r>
              <a:rPr lang="en-US" sz="1800" dirty="0">
                <a:solidFill>
                  <a:schemeClr val="tx1"/>
                </a:solidFill>
              </a:rPr>
              <a:t>,</a:t>
            </a:r>
            <a:r>
              <a:rPr lang="en-US" sz="1800" b="1" dirty="0">
                <a:solidFill>
                  <a:schemeClr val="tx1"/>
                </a:solidFill>
              </a:rPr>
              <a:t> IAM Role</a:t>
            </a:r>
          </a:p>
          <a:p>
            <a:pPr marL="0" indent="0">
              <a:buNone/>
            </a:pPr>
            <a:r>
              <a:rPr lang="en-US" sz="1800" i="1" dirty="0">
                <a:solidFill>
                  <a:schemeClr val="tx1"/>
                </a:solidFill>
              </a:rPr>
              <a:t>	</a:t>
            </a:r>
            <a:r>
              <a:rPr lang="en-US" sz="1800" i="1" dirty="0">
                <a:solidFill>
                  <a:srgbClr val="7030A0"/>
                </a:solidFill>
              </a:rPr>
              <a:t>Role ARN from the role summary page.</a:t>
            </a:r>
          </a:p>
          <a:p>
            <a:pPr marL="0" indent="0">
              <a:buNone/>
            </a:pPr>
            <a:endParaRPr lang="en-US" sz="1800" i="1" dirty="0">
              <a:solidFill>
                <a:schemeClr val="tx1"/>
              </a:solidFill>
            </a:endParaRPr>
          </a:p>
          <a:p>
            <a:r>
              <a:rPr lang="en-US" sz="1800" b="1" dirty="0">
                <a:solidFill>
                  <a:schemeClr val="tx1"/>
                </a:solidFill>
              </a:rPr>
              <a:t>// Create storage integration object</a:t>
            </a:r>
          </a:p>
          <a:p>
            <a:pPr marL="868680" lvl="3" indent="0">
              <a:buNone/>
            </a:pPr>
            <a:r>
              <a:rPr lang="en-US" dirty="0">
                <a:solidFill>
                  <a:srgbClr val="7030A0"/>
                </a:solidFill>
              </a:rPr>
              <a:t>create or replace storage integration s3_int</a:t>
            </a:r>
          </a:p>
          <a:p>
            <a:pPr marL="868680" lvl="3" indent="0">
              <a:buNone/>
            </a:pPr>
            <a:r>
              <a:rPr lang="en-US" dirty="0">
                <a:solidFill>
                  <a:srgbClr val="7030A0"/>
                </a:solidFill>
              </a:rPr>
              <a:t>  TYPE = EXTERNAL_STAGE</a:t>
            </a:r>
          </a:p>
          <a:p>
            <a:pPr marL="868680" lvl="3" indent="0">
              <a:buNone/>
            </a:pPr>
            <a:r>
              <a:rPr lang="en-US" dirty="0">
                <a:solidFill>
                  <a:srgbClr val="7030A0"/>
                </a:solidFill>
              </a:rPr>
              <a:t>  STORAGE_PROVIDER = S3</a:t>
            </a:r>
          </a:p>
          <a:p>
            <a:pPr marL="868680" lvl="3" indent="0">
              <a:buNone/>
            </a:pPr>
            <a:r>
              <a:rPr lang="en-US" dirty="0">
                <a:solidFill>
                  <a:srgbClr val="7030A0"/>
                </a:solidFill>
              </a:rPr>
              <a:t>  ENABLED = TRUE </a:t>
            </a:r>
          </a:p>
          <a:p>
            <a:pPr marL="868680" lvl="3" indent="0">
              <a:buNone/>
            </a:pPr>
            <a:r>
              <a:rPr lang="en-US" dirty="0">
                <a:solidFill>
                  <a:srgbClr val="7030A0"/>
                </a:solidFill>
              </a:rPr>
              <a:t>  STORAGE_AWS_ROLE_ARN = '</a:t>
            </a:r>
            <a:r>
              <a:rPr lang="en-US" dirty="0" err="1">
                <a:solidFill>
                  <a:srgbClr val="7030A0"/>
                </a:solidFill>
              </a:rPr>
              <a:t>arn:aws:iam</a:t>
            </a:r>
            <a:r>
              <a:rPr lang="en-US" dirty="0">
                <a:solidFill>
                  <a:srgbClr val="7030A0"/>
                </a:solidFill>
              </a:rPr>
              <a:t>::555064756008:role/aws_s3_snowflake_intg'</a:t>
            </a:r>
          </a:p>
          <a:p>
            <a:pPr marL="868680" lvl="3" indent="0">
              <a:buNone/>
            </a:pPr>
            <a:r>
              <a:rPr lang="en-US" dirty="0">
                <a:solidFill>
                  <a:srgbClr val="7030A0"/>
                </a:solidFill>
              </a:rPr>
              <a:t>  STORAGE_ALLOWED_LOCATIONS = ('s3://bucket-name/path/‘)</a:t>
            </a:r>
          </a:p>
          <a:p>
            <a:pPr marL="868680" lvl="3" indent="0">
              <a:buNone/>
            </a:pPr>
            <a:r>
              <a:rPr lang="en-US" dirty="0">
                <a:solidFill>
                  <a:srgbClr val="7030A0"/>
                </a:solidFill>
              </a:rPr>
              <a:t>  COMMENT = 'Integration with </a:t>
            </a:r>
            <a:r>
              <a:rPr lang="en-US" dirty="0" err="1">
                <a:solidFill>
                  <a:srgbClr val="7030A0"/>
                </a:solidFill>
              </a:rPr>
              <a:t>aws</a:t>
            </a:r>
            <a:r>
              <a:rPr lang="en-US" dirty="0">
                <a:solidFill>
                  <a:srgbClr val="7030A0"/>
                </a:solidFill>
              </a:rPr>
              <a:t> s3 buckets' ;</a:t>
            </a:r>
            <a:endParaRPr lang="en-US" sz="1200" dirty="0">
              <a:solidFill>
                <a:srgbClr val="7030A0"/>
              </a:solidFill>
            </a:endParaRPr>
          </a:p>
          <a:p>
            <a:pPr marL="868680" lvl="3" indent="0">
              <a:buNone/>
            </a:pPr>
            <a:r>
              <a:rPr lang="en-US" sz="1200" dirty="0">
                <a:solidFill>
                  <a:srgbClr val="7030A0"/>
                </a:solidFill>
              </a:rPr>
              <a:t>	</a:t>
            </a:r>
            <a:r>
              <a:rPr lang="en-US" sz="1100" dirty="0">
                <a:solidFill>
                  <a:srgbClr val="7030A0"/>
                </a:solidFill>
              </a:rPr>
              <a:t>	</a:t>
            </a:r>
            <a:r>
              <a:rPr lang="en-US" sz="1600" dirty="0">
                <a:solidFill>
                  <a:schemeClr val="tx2">
                    <a:lumMod val="60000"/>
                    <a:lumOff val="40000"/>
                  </a:schemeClr>
                </a:solidFill>
              </a:rPr>
              <a:t>// ARN -- Amazon Resource Names</a:t>
            </a:r>
          </a:p>
          <a:p>
            <a:pPr marL="868680" lvl="3" indent="0">
              <a:buNone/>
            </a:pPr>
            <a:r>
              <a:rPr lang="en-US" sz="1600" dirty="0">
                <a:solidFill>
                  <a:schemeClr val="tx2">
                    <a:lumMod val="60000"/>
                    <a:lumOff val="40000"/>
                  </a:schemeClr>
                </a:solidFill>
              </a:rPr>
              <a:t>		// S3 -- Simple Storage Service</a:t>
            </a:r>
          </a:p>
          <a:p>
            <a:pPr marL="868680" lvl="3" indent="0">
              <a:buNone/>
            </a:pPr>
            <a:r>
              <a:rPr lang="en-US" sz="1600" dirty="0">
                <a:solidFill>
                  <a:schemeClr val="tx2">
                    <a:lumMod val="60000"/>
                    <a:lumOff val="40000"/>
                  </a:schemeClr>
                </a:solidFill>
              </a:rPr>
              <a:t>		// IAM -- Integrated Account Management</a:t>
            </a:r>
          </a:p>
          <a:p>
            <a:endParaRPr lang="en-US" sz="1800" dirty="0"/>
          </a:p>
        </p:txBody>
      </p:sp>
      <p:sp>
        <p:nvSpPr>
          <p:cNvPr id="3" name="Title 2"/>
          <p:cNvSpPr>
            <a:spLocks noGrp="1"/>
          </p:cNvSpPr>
          <p:nvPr>
            <p:ph type="title"/>
          </p:nvPr>
        </p:nvSpPr>
        <p:spPr/>
        <p:txBody>
          <a:bodyPr>
            <a:normAutofit/>
          </a:bodyPr>
          <a:lstStyle/>
          <a:p>
            <a:r>
              <a:rPr lang="en-IN" b="1" dirty="0">
                <a:solidFill>
                  <a:schemeClr val="tx1"/>
                </a:solidFill>
                <a:latin typeface="Helvetica" panose="020B0604020202020204" pitchFamily="34" charset="0"/>
              </a:rPr>
              <a:t>Loading Data from AWS</a:t>
            </a:r>
            <a:endParaRPr lang="mr-IN" b="1" dirty="0">
              <a:solidFill>
                <a:schemeClr val="tx1"/>
              </a:solidFill>
            </a:endParaRPr>
          </a:p>
        </p:txBody>
      </p:sp>
    </p:spTree>
    <p:extLst>
      <p:ext uri="{BB962C8B-B14F-4D97-AF65-F5344CB8AC3E}">
        <p14:creationId xmlns:p14="http://schemas.microsoft.com/office/powerpoint/2010/main" val="18912256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50590" y="1916832"/>
            <a:ext cx="10488507" cy="4209331"/>
          </a:xfrm>
        </p:spPr>
        <p:txBody>
          <a:bodyPr>
            <a:noAutofit/>
          </a:bodyPr>
          <a:lstStyle/>
          <a:p>
            <a:r>
              <a:rPr lang="en-US" sz="1800" b="1" dirty="0">
                <a:solidFill>
                  <a:schemeClr val="tx1"/>
                </a:solidFill>
              </a:rPr>
              <a:t>// Create database and schema</a:t>
            </a:r>
          </a:p>
          <a:p>
            <a:pPr marL="868680" lvl="3" indent="0">
              <a:buNone/>
            </a:pPr>
            <a:r>
              <a:rPr lang="en-US" sz="1400" dirty="0">
                <a:solidFill>
                  <a:srgbClr val="7030A0"/>
                </a:solidFill>
              </a:rPr>
              <a:t>CREATE DATABASE IF NOT EXISTS MYDB;</a:t>
            </a:r>
          </a:p>
          <a:p>
            <a:pPr marL="868680" lvl="3" indent="0">
              <a:buNone/>
            </a:pPr>
            <a:r>
              <a:rPr lang="en-US" sz="1400" dirty="0">
                <a:solidFill>
                  <a:srgbClr val="7030A0"/>
                </a:solidFill>
              </a:rPr>
              <a:t>CREATE SCHEMA IF NOT EXISTS </a:t>
            </a:r>
            <a:r>
              <a:rPr lang="en-US" sz="1400" dirty="0" err="1">
                <a:solidFill>
                  <a:srgbClr val="7030A0"/>
                </a:solidFill>
              </a:rPr>
              <a:t>MYDB.file_formats</a:t>
            </a:r>
            <a:r>
              <a:rPr lang="en-US" sz="1400" dirty="0">
                <a:solidFill>
                  <a:srgbClr val="7030A0"/>
                </a:solidFill>
              </a:rPr>
              <a:t>;</a:t>
            </a:r>
          </a:p>
          <a:p>
            <a:pPr marL="868680" lvl="3" indent="0">
              <a:buNone/>
            </a:pPr>
            <a:r>
              <a:rPr lang="en-US" sz="1400" dirty="0">
                <a:solidFill>
                  <a:srgbClr val="7030A0"/>
                </a:solidFill>
              </a:rPr>
              <a:t>CREATE SCHEMA IF NOT EXISTS </a:t>
            </a:r>
            <a:r>
              <a:rPr lang="en-US" sz="1400" dirty="0" err="1">
                <a:solidFill>
                  <a:srgbClr val="7030A0"/>
                </a:solidFill>
              </a:rPr>
              <a:t>MYDB.external_stages</a:t>
            </a:r>
            <a:r>
              <a:rPr lang="en-US" sz="1400" dirty="0">
                <a:solidFill>
                  <a:srgbClr val="7030A0"/>
                </a:solidFill>
              </a:rPr>
              <a:t>;</a:t>
            </a:r>
            <a:endParaRPr lang="en-US" sz="4000" dirty="0">
              <a:solidFill>
                <a:srgbClr val="7030A0"/>
              </a:solidFill>
            </a:endParaRPr>
          </a:p>
          <a:p>
            <a:endParaRPr lang="en-US" sz="1600" dirty="0"/>
          </a:p>
          <a:p>
            <a:r>
              <a:rPr lang="en-US" sz="1600" b="1" dirty="0">
                <a:solidFill>
                  <a:schemeClr val="tx1"/>
                </a:solidFill>
              </a:rPr>
              <a:t>// Create file format object</a:t>
            </a:r>
          </a:p>
          <a:p>
            <a:pPr marL="868680" lvl="3" indent="0">
              <a:buNone/>
            </a:pPr>
            <a:r>
              <a:rPr lang="en-US" sz="1400" dirty="0">
                <a:solidFill>
                  <a:srgbClr val="7030A0"/>
                </a:solidFill>
              </a:rPr>
              <a:t>CREATE OR REPLACE file format </a:t>
            </a:r>
            <a:r>
              <a:rPr lang="en-US" sz="1400" dirty="0" err="1">
                <a:solidFill>
                  <a:srgbClr val="7030A0"/>
                </a:solidFill>
              </a:rPr>
              <a:t>mydb.file_formats.csv_fileformat</a:t>
            </a:r>
            <a:endParaRPr lang="en-US" sz="1400" dirty="0">
              <a:solidFill>
                <a:srgbClr val="7030A0"/>
              </a:solidFill>
            </a:endParaRPr>
          </a:p>
          <a:p>
            <a:pPr marL="868680" lvl="3" indent="0">
              <a:buNone/>
            </a:pPr>
            <a:r>
              <a:rPr lang="en-US" sz="1400" dirty="0">
                <a:solidFill>
                  <a:srgbClr val="7030A0"/>
                </a:solidFill>
              </a:rPr>
              <a:t>    type = </a:t>
            </a:r>
            <a:r>
              <a:rPr lang="en-US" sz="1400" dirty="0" err="1">
                <a:solidFill>
                  <a:srgbClr val="7030A0"/>
                </a:solidFill>
              </a:rPr>
              <a:t>csv</a:t>
            </a:r>
            <a:endParaRPr lang="en-US" sz="1400" dirty="0">
              <a:solidFill>
                <a:srgbClr val="7030A0"/>
              </a:solidFill>
            </a:endParaRPr>
          </a:p>
          <a:p>
            <a:pPr marL="868680" lvl="3" indent="0">
              <a:buNone/>
            </a:pPr>
            <a:r>
              <a:rPr lang="en-US" sz="1400" dirty="0">
                <a:solidFill>
                  <a:srgbClr val="7030A0"/>
                </a:solidFill>
              </a:rPr>
              <a:t>    </a:t>
            </a:r>
            <a:r>
              <a:rPr lang="en-US" sz="1400" dirty="0" err="1">
                <a:solidFill>
                  <a:srgbClr val="7030A0"/>
                </a:solidFill>
              </a:rPr>
              <a:t>field_delimiter</a:t>
            </a:r>
            <a:r>
              <a:rPr lang="en-US" sz="1400" dirty="0">
                <a:solidFill>
                  <a:srgbClr val="7030A0"/>
                </a:solidFill>
              </a:rPr>
              <a:t> = '|'</a:t>
            </a:r>
          </a:p>
          <a:p>
            <a:pPr marL="868680" lvl="3" indent="0">
              <a:buNone/>
            </a:pPr>
            <a:r>
              <a:rPr lang="en-US" sz="1400" dirty="0">
                <a:solidFill>
                  <a:srgbClr val="7030A0"/>
                </a:solidFill>
              </a:rPr>
              <a:t>    </a:t>
            </a:r>
            <a:r>
              <a:rPr lang="en-US" sz="1400" dirty="0" err="1">
                <a:solidFill>
                  <a:srgbClr val="7030A0"/>
                </a:solidFill>
              </a:rPr>
              <a:t>skip_header</a:t>
            </a:r>
            <a:r>
              <a:rPr lang="en-US" sz="1400" dirty="0">
                <a:solidFill>
                  <a:srgbClr val="7030A0"/>
                </a:solidFill>
              </a:rPr>
              <a:t> = 1</a:t>
            </a:r>
          </a:p>
          <a:p>
            <a:pPr marL="868680" lvl="3" indent="0">
              <a:buNone/>
            </a:pPr>
            <a:r>
              <a:rPr lang="en-US" sz="1400" dirty="0">
                <a:solidFill>
                  <a:srgbClr val="7030A0"/>
                </a:solidFill>
              </a:rPr>
              <a:t>    </a:t>
            </a:r>
            <a:r>
              <a:rPr lang="en-US" sz="1400" dirty="0" err="1">
                <a:solidFill>
                  <a:srgbClr val="7030A0"/>
                </a:solidFill>
              </a:rPr>
              <a:t>empty_field_as_null</a:t>
            </a:r>
            <a:r>
              <a:rPr lang="en-US" sz="1400" dirty="0">
                <a:solidFill>
                  <a:srgbClr val="7030A0"/>
                </a:solidFill>
              </a:rPr>
              <a:t> = TRUE;    </a:t>
            </a:r>
          </a:p>
          <a:p>
            <a:pPr marL="0" indent="0">
              <a:buNone/>
            </a:pPr>
            <a:endParaRPr lang="en-US" sz="1600" dirty="0"/>
          </a:p>
          <a:p>
            <a:r>
              <a:rPr lang="en-US" sz="1600" b="1" dirty="0">
                <a:solidFill>
                  <a:schemeClr val="tx1"/>
                </a:solidFill>
              </a:rPr>
              <a:t>// Create External Stage on AWS S3 location using Cloud Storage Integration.</a:t>
            </a:r>
          </a:p>
          <a:p>
            <a:pPr marL="868680" lvl="3" indent="0">
              <a:buNone/>
            </a:pPr>
            <a:r>
              <a:rPr lang="en-US" sz="1600" dirty="0">
                <a:solidFill>
                  <a:srgbClr val="7030A0"/>
                </a:solidFill>
              </a:rPr>
              <a:t>CREATE OR REPLACE STAGE mydb.external_stages.aws_s3_csv</a:t>
            </a:r>
          </a:p>
          <a:p>
            <a:pPr marL="868680" lvl="3" indent="0">
              <a:buNone/>
            </a:pPr>
            <a:r>
              <a:rPr lang="en-US" sz="1600" dirty="0">
                <a:solidFill>
                  <a:srgbClr val="7030A0"/>
                </a:solidFill>
              </a:rPr>
              <a:t>    URL = 's3://awss3bucketjana/</a:t>
            </a:r>
            <a:r>
              <a:rPr lang="en-US" sz="1600" dirty="0" err="1">
                <a:solidFill>
                  <a:srgbClr val="7030A0"/>
                </a:solidFill>
              </a:rPr>
              <a:t>csv</a:t>
            </a:r>
            <a:r>
              <a:rPr lang="en-US" sz="1600" dirty="0">
                <a:solidFill>
                  <a:srgbClr val="7030A0"/>
                </a:solidFill>
              </a:rPr>
              <a:t>/'</a:t>
            </a:r>
          </a:p>
          <a:p>
            <a:pPr marL="868680" lvl="3" indent="0">
              <a:buNone/>
            </a:pPr>
            <a:r>
              <a:rPr lang="en-US" sz="1600" dirty="0">
                <a:solidFill>
                  <a:srgbClr val="7030A0"/>
                </a:solidFill>
              </a:rPr>
              <a:t>    STORAGE_INTEGRATION = s3_int</a:t>
            </a:r>
          </a:p>
          <a:p>
            <a:pPr marL="868680" lvl="3" indent="0">
              <a:buNone/>
            </a:pPr>
            <a:r>
              <a:rPr lang="en-US" sz="1600" dirty="0">
                <a:solidFill>
                  <a:srgbClr val="7030A0"/>
                </a:solidFill>
              </a:rPr>
              <a:t>    FILE_FORMAT = </a:t>
            </a:r>
            <a:r>
              <a:rPr lang="en-US" sz="1600" dirty="0" err="1">
                <a:solidFill>
                  <a:srgbClr val="7030A0"/>
                </a:solidFill>
              </a:rPr>
              <a:t>mydb.file_formats.csv_fileformat</a:t>
            </a:r>
            <a:r>
              <a:rPr lang="en-US" sz="1600" dirty="0">
                <a:solidFill>
                  <a:srgbClr val="7030A0"/>
                </a:solidFill>
              </a:rPr>
              <a:t> ;</a:t>
            </a:r>
          </a:p>
          <a:p>
            <a:pPr marL="0" indent="0">
              <a:buNone/>
            </a:pPr>
            <a:endParaRPr lang="en-US" sz="1600" dirty="0"/>
          </a:p>
        </p:txBody>
      </p:sp>
    </p:spTree>
    <p:extLst>
      <p:ext uri="{BB962C8B-B14F-4D97-AF65-F5344CB8AC3E}">
        <p14:creationId xmlns:p14="http://schemas.microsoft.com/office/powerpoint/2010/main" val="20940188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4606" y="1916832"/>
            <a:ext cx="10344491" cy="4752528"/>
          </a:xfrm>
        </p:spPr>
        <p:txBody>
          <a:bodyPr>
            <a:normAutofit fontScale="55000" lnSpcReduction="20000"/>
          </a:bodyPr>
          <a:lstStyle/>
          <a:p>
            <a:r>
              <a:rPr lang="en-US" sz="3500" b="1" dirty="0">
                <a:solidFill>
                  <a:schemeClr val="tx1"/>
                </a:solidFill>
              </a:rPr>
              <a:t>// Create a table first</a:t>
            </a:r>
          </a:p>
          <a:p>
            <a:pPr marL="868680" lvl="3" indent="0">
              <a:buNone/>
            </a:pPr>
            <a:r>
              <a:rPr lang="en-US" sz="2900" dirty="0">
                <a:solidFill>
                  <a:srgbClr val="7030A0"/>
                </a:solidFill>
              </a:rPr>
              <a:t>CREATE OR REPLACE TABLE </a:t>
            </a:r>
            <a:r>
              <a:rPr lang="en-US" sz="2900" dirty="0" err="1">
                <a:solidFill>
                  <a:srgbClr val="7030A0"/>
                </a:solidFill>
              </a:rPr>
              <a:t>mydb.public.customer_data</a:t>
            </a:r>
            <a:r>
              <a:rPr lang="en-US" sz="2900" dirty="0">
                <a:solidFill>
                  <a:srgbClr val="7030A0"/>
                </a:solidFill>
              </a:rPr>
              <a:t> (</a:t>
            </a:r>
          </a:p>
          <a:p>
            <a:pPr marL="868680" lvl="3" indent="0">
              <a:buNone/>
            </a:pPr>
            <a:r>
              <a:rPr lang="en-US" sz="2900" dirty="0" err="1">
                <a:solidFill>
                  <a:srgbClr val="7030A0"/>
                </a:solidFill>
              </a:rPr>
              <a:t>customerid</a:t>
            </a:r>
            <a:r>
              <a:rPr lang="en-US" sz="2900" dirty="0">
                <a:solidFill>
                  <a:srgbClr val="7030A0"/>
                </a:solidFill>
              </a:rPr>
              <a:t> NUMBER,</a:t>
            </a:r>
          </a:p>
          <a:p>
            <a:pPr marL="868680" lvl="3" indent="0">
              <a:buNone/>
            </a:pPr>
            <a:r>
              <a:rPr lang="en-US" sz="2900" dirty="0" err="1">
                <a:solidFill>
                  <a:srgbClr val="7030A0"/>
                </a:solidFill>
              </a:rPr>
              <a:t>custname</a:t>
            </a:r>
            <a:r>
              <a:rPr lang="en-US" sz="2900" dirty="0">
                <a:solidFill>
                  <a:srgbClr val="7030A0"/>
                </a:solidFill>
              </a:rPr>
              <a:t> STRING,</a:t>
            </a:r>
          </a:p>
          <a:p>
            <a:pPr marL="868680" lvl="3" indent="0">
              <a:buNone/>
            </a:pPr>
            <a:r>
              <a:rPr lang="en-US" sz="2900" dirty="0">
                <a:solidFill>
                  <a:srgbClr val="7030A0"/>
                </a:solidFill>
              </a:rPr>
              <a:t>email STRING,</a:t>
            </a:r>
          </a:p>
          <a:p>
            <a:pPr marL="868680" lvl="3" indent="0">
              <a:buNone/>
            </a:pPr>
            <a:r>
              <a:rPr lang="en-US" sz="2900" dirty="0">
                <a:solidFill>
                  <a:srgbClr val="7030A0"/>
                </a:solidFill>
              </a:rPr>
              <a:t>city STRING,</a:t>
            </a:r>
          </a:p>
          <a:p>
            <a:pPr marL="868680" lvl="3" indent="0">
              <a:buNone/>
            </a:pPr>
            <a:r>
              <a:rPr lang="en-US" sz="2900" dirty="0">
                <a:solidFill>
                  <a:srgbClr val="7030A0"/>
                </a:solidFill>
              </a:rPr>
              <a:t>state STRING,</a:t>
            </a:r>
          </a:p>
          <a:p>
            <a:pPr marL="868680" lvl="3" indent="0">
              <a:buNone/>
            </a:pPr>
            <a:r>
              <a:rPr lang="en-US" sz="2900" dirty="0">
                <a:solidFill>
                  <a:srgbClr val="7030A0"/>
                </a:solidFill>
              </a:rPr>
              <a:t>DOB DATE</a:t>
            </a:r>
          </a:p>
          <a:p>
            <a:pPr marL="868680" lvl="3" indent="0">
              <a:buNone/>
            </a:pPr>
            <a:r>
              <a:rPr lang="en-US" sz="2900" dirty="0">
                <a:solidFill>
                  <a:srgbClr val="7030A0"/>
                </a:solidFill>
              </a:rPr>
              <a:t>); </a:t>
            </a:r>
          </a:p>
          <a:p>
            <a:endParaRPr lang="en-US" sz="3500" dirty="0"/>
          </a:p>
          <a:p>
            <a:r>
              <a:rPr lang="en-US" sz="3500" b="1" dirty="0">
                <a:solidFill>
                  <a:schemeClr val="tx1"/>
                </a:solidFill>
              </a:rPr>
              <a:t>// Use Copy command to load the files</a:t>
            </a:r>
          </a:p>
          <a:p>
            <a:pPr marL="868680" lvl="3" indent="0">
              <a:buNone/>
            </a:pPr>
            <a:r>
              <a:rPr lang="en-US" sz="2900" dirty="0">
                <a:solidFill>
                  <a:srgbClr val="7030A0"/>
                </a:solidFill>
              </a:rPr>
              <a:t>COPY INTO </a:t>
            </a:r>
            <a:r>
              <a:rPr lang="en-US" sz="2900" dirty="0" err="1">
                <a:solidFill>
                  <a:srgbClr val="7030A0"/>
                </a:solidFill>
              </a:rPr>
              <a:t>mydb.public.customer_data</a:t>
            </a:r>
            <a:endParaRPr lang="en-US" sz="2900" dirty="0">
              <a:solidFill>
                <a:srgbClr val="7030A0"/>
              </a:solidFill>
            </a:endParaRPr>
          </a:p>
          <a:p>
            <a:pPr marL="868680" lvl="3" indent="0">
              <a:buNone/>
            </a:pPr>
            <a:r>
              <a:rPr lang="en-US" sz="2900" dirty="0">
                <a:solidFill>
                  <a:srgbClr val="7030A0"/>
                </a:solidFill>
              </a:rPr>
              <a:t>    FROM @mydb.external_stages.aws_s3_csv</a:t>
            </a:r>
          </a:p>
          <a:p>
            <a:pPr marL="868680" lvl="3" indent="0">
              <a:buNone/>
            </a:pPr>
            <a:r>
              <a:rPr lang="en-US" sz="2900" dirty="0">
                <a:solidFill>
                  <a:srgbClr val="7030A0"/>
                </a:solidFill>
              </a:rPr>
              <a:t>    PATTERN = '.*customer.*';    </a:t>
            </a:r>
          </a:p>
          <a:p>
            <a:pPr marL="0" indent="0">
              <a:buNone/>
            </a:pPr>
            <a:endParaRPr lang="en-US" sz="3500" dirty="0"/>
          </a:p>
          <a:p>
            <a:r>
              <a:rPr lang="en-US" sz="3500" b="1" dirty="0">
                <a:solidFill>
                  <a:schemeClr val="tx1"/>
                </a:solidFill>
              </a:rPr>
              <a:t>//Validate the data</a:t>
            </a:r>
          </a:p>
          <a:p>
            <a:pPr marL="301943" lvl="1" indent="0">
              <a:buNone/>
            </a:pPr>
            <a:r>
              <a:rPr lang="en-US" sz="3300" dirty="0">
                <a:solidFill>
                  <a:srgbClr val="7030A0"/>
                </a:solidFill>
              </a:rPr>
              <a:t>	SELECT * FROM </a:t>
            </a:r>
            <a:r>
              <a:rPr lang="en-US" sz="3300" dirty="0" err="1">
                <a:solidFill>
                  <a:srgbClr val="7030A0"/>
                </a:solidFill>
              </a:rPr>
              <a:t>mydb.public.customer_data</a:t>
            </a:r>
            <a:r>
              <a:rPr lang="en-US" sz="3300" dirty="0">
                <a:solidFill>
                  <a:srgbClr val="7030A0"/>
                </a:solidFill>
              </a:rPr>
              <a:t>;</a:t>
            </a:r>
            <a:endParaRPr lang="mr-IN" sz="3300" dirty="0">
              <a:solidFill>
                <a:srgbClr val="7030A0"/>
              </a:solidFill>
            </a:endParaRPr>
          </a:p>
          <a:p>
            <a:endParaRPr lang="mr-IN" dirty="0"/>
          </a:p>
        </p:txBody>
      </p:sp>
    </p:spTree>
    <p:extLst>
      <p:ext uri="{BB962C8B-B14F-4D97-AF65-F5344CB8AC3E}">
        <p14:creationId xmlns:p14="http://schemas.microsoft.com/office/powerpoint/2010/main" val="13083188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chemeClr val="tx1"/>
                </a:solidFill>
              </a:rPr>
              <a:t>Cache is a temporary storage location that stores copies of files or data, so that they can be accessed faster in near future.</a:t>
            </a:r>
          </a:p>
          <a:p>
            <a:r>
              <a:rPr lang="en-US" dirty="0">
                <a:solidFill>
                  <a:schemeClr val="tx1"/>
                </a:solidFill>
              </a:rPr>
              <a:t>Cache plays vital role in saving costs and speeding up results.</a:t>
            </a:r>
          </a:p>
          <a:p>
            <a:r>
              <a:rPr lang="en-US" dirty="0">
                <a:solidFill>
                  <a:schemeClr val="tx1"/>
                </a:solidFill>
              </a:rPr>
              <a:t>Improves query performance.</a:t>
            </a:r>
          </a:p>
          <a:p>
            <a:r>
              <a:rPr lang="en-US" dirty="0">
                <a:solidFill>
                  <a:schemeClr val="tx1"/>
                </a:solidFill>
              </a:rPr>
              <a:t>2 Types of caches in Snowflake</a:t>
            </a:r>
          </a:p>
          <a:p>
            <a:pPr lvl="1">
              <a:spcBef>
                <a:spcPts val="1200"/>
              </a:spcBef>
            </a:pPr>
            <a:r>
              <a:rPr lang="en-US" dirty="0">
                <a:solidFill>
                  <a:schemeClr val="tx1"/>
                </a:solidFill>
              </a:rPr>
              <a:t>Query Results Cache</a:t>
            </a:r>
          </a:p>
          <a:p>
            <a:pPr lvl="1"/>
            <a:r>
              <a:rPr lang="en-US" dirty="0">
                <a:solidFill>
                  <a:schemeClr val="tx1"/>
                </a:solidFill>
              </a:rPr>
              <a:t>Local Disk Cache</a:t>
            </a:r>
            <a:endParaRPr lang="en-IN" dirty="0">
              <a:solidFill>
                <a:schemeClr val="tx1"/>
              </a:solidFill>
            </a:endParaRPr>
          </a:p>
          <a:p>
            <a:endParaRPr lang="en-US" dirty="0">
              <a:solidFill>
                <a:schemeClr val="tx1"/>
              </a:solidFill>
            </a:endParaRPr>
          </a:p>
        </p:txBody>
      </p:sp>
      <p:sp>
        <p:nvSpPr>
          <p:cNvPr id="3" name="Title 2"/>
          <p:cNvSpPr>
            <a:spLocks noGrp="1"/>
          </p:cNvSpPr>
          <p:nvPr>
            <p:ph type="title"/>
          </p:nvPr>
        </p:nvSpPr>
        <p:spPr/>
        <p:txBody>
          <a:bodyPr>
            <a:normAutofit/>
          </a:bodyPr>
          <a:lstStyle/>
          <a:p>
            <a:r>
              <a:rPr lang="en-US" b="1" dirty="0">
                <a:solidFill>
                  <a:schemeClr val="tx1"/>
                </a:solidFill>
              </a:rPr>
              <a:t>Snowflake Caching </a:t>
            </a:r>
            <a:endParaRPr lang="mr-IN" b="1" dirty="0"/>
          </a:p>
        </p:txBody>
      </p:sp>
    </p:spTree>
    <p:extLst>
      <p:ext uri="{BB962C8B-B14F-4D97-AF65-F5344CB8AC3E}">
        <p14:creationId xmlns:p14="http://schemas.microsoft.com/office/powerpoint/2010/main" val="36272656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nowflake Caching">
            <a:extLst>
              <a:ext uri="{FF2B5EF4-FFF2-40B4-BE49-F238E27FC236}">
                <a16:creationId xmlns:a16="http://schemas.microsoft.com/office/drawing/2014/main" id="{F018A9D5-CD04-4BAA-B6D9-EA9E857AE6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582" y="380126"/>
            <a:ext cx="7915422" cy="621722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4B7DDCBB-858E-46D8-AEAD-E025F033D781}"/>
              </a:ext>
            </a:extLst>
          </p:cNvPr>
          <p:cNvSpPr txBox="1"/>
          <p:nvPr/>
        </p:nvSpPr>
        <p:spPr>
          <a:xfrm>
            <a:off x="9019946" y="2444873"/>
            <a:ext cx="3046828" cy="369332"/>
          </a:xfrm>
          <a:prstGeom prst="rect">
            <a:avLst/>
          </a:prstGeom>
          <a:noFill/>
          <a:ln>
            <a:noFill/>
          </a:ln>
        </p:spPr>
        <p:txBody>
          <a:bodyPr wrap="square">
            <a:spAutoFit/>
          </a:bodyPr>
          <a:lstStyle/>
          <a:p>
            <a:r>
              <a:rPr lang="en-IN" b="1" dirty="0"/>
              <a:t>Query ‘RESULTS’</a:t>
            </a:r>
          </a:p>
        </p:txBody>
      </p:sp>
      <p:sp>
        <p:nvSpPr>
          <p:cNvPr id="17" name="TextBox 16">
            <a:extLst>
              <a:ext uri="{FF2B5EF4-FFF2-40B4-BE49-F238E27FC236}">
                <a16:creationId xmlns:a16="http://schemas.microsoft.com/office/drawing/2014/main" id="{50D36256-4D48-4CFD-B079-5D265A56A759}"/>
              </a:ext>
            </a:extLst>
          </p:cNvPr>
          <p:cNvSpPr txBox="1"/>
          <p:nvPr/>
        </p:nvSpPr>
        <p:spPr>
          <a:xfrm>
            <a:off x="9006178" y="3536455"/>
            <a:ext cx="2386517" cy="369332"/>
          </a:xfrm>
          <a:prstGeom prst="rect">
            <a:avLst/>
          </a:prstGeom>
          <a:noFill/>
          <a:ln>
            <a:noFill/>
          </a:ln>
        </p:spPr>
        <p:txBody>
          <a:bodyPr wrap="square">
            <a:spAutoFit/>
          </a:bodyPr>
          <a:lstStyle/>
          <a:p>
            <a:r>
              <a:rPr lang="en-IN" b="1" dirty="0"/>
              <a:t>‘DATA’</a:t>
            </a:r>
          </a:p>
        </p:txBody>
      </p:sp>
      <p:cxnSp>
        <p:nvCxnSpPr>
          <p:cNvPr id="18" name="Straight Arrow Connector 17">
            <a:extLst>
              <a:ext uri="{FF2B5EF4-FFF2-40B4-BE49-F238E27FC236}">
                <a16:creationId xmlns:a16="http://schemas.microsoft.com/office/drawing/2014/main" id="{C8BF5935-F256-4CAF-A55A-AFF62CDCF3C5}"/>
              </a:ext>
            </a:extLst>
          </p:cNvPr>
          <p:cNvCxnSpPr/>
          <p:nvPr/>
        </p:nvCxnSpPr>
        <p:spPr>
          <a:xfrm flipV="1">
            <a:off x="8127492" y="2711572"/>
            <a:ext cx="825128" cy="69251"/>
          </a:xfrm>
          <a:prstGeom prst="straightConnector1">
            <a:avLst/>
          </a:prstGeom>
          <a:ln w="57150">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9" name="Straight Arrow Connector 18">
            <a:extLst>
              <a:ext uri="{FF2B5EF4-FFF2-40B4-BE49-F238E27FC236}">
                <a16:creationId xmlns:a16="http://schemas.microsoft.com/office/drawing/2014/main" id="{357C9221-C088-49B6-A921-07588C5DCD09}"/>
              </a:ext>
            </a:extLst>
          </p:cNvPr>
          <p:cNvCxnSpPr/>
          <p:nvPr/>
        </p:nvCxnSpPr>
        <p:spPr>
          <a:xfrm>
            <a:off x="8127492" y="3821574"/>
            <a:ext cx="847904" cy="1"/>
          </a:xfrm>
          <a:prstGeom prst="straightConnector1">
            <a:avLst/>
          </a:prstGeom>
          <a:ln w="57150">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20" name="TextBox 19">
            <a:extLst>
              <a:ext uri="{FF2B5EF4-FFF2-40B4-BE49-F238E27FC236}">
                <a16:creationId xmlns:a16="http://schemas.microsoft.com/office/drawing/2014/main" id="{E44FD4AB-6E7C-4B15-9ED2-26CDC608A53D}"/>
              </a:ext>
            </a:extLst>
          </p:cNvPr>
          <p:cNvSpPr txBox="1"/>
          <p:nvPr/>
        </p:nvSpPr>
        <p:spPr>
          <a:xfrm>
            <a:off x="8952620" y="3889474"/>
            <a:ext cx="2550733" cy="646331"/>
          </a:xfrm>
          <a:prstGeom prst="rect">
            <a:avLst/>
          </a:prstGeom>
          <a:noFill/>
          <a:ln>
            <a:noFill/>
          </a:ln>
        </p:spPr>
        <p:txBody>
          <a:bodyPr wrap="square">
            <a:spAutoFit/>
          </a:bodyPr>
          <a:lstStyle/>
          <a:p>
            <a:r>
              <a:rPr lang="en-IN" b="1" dirty="0"/>
              <a:t>(until VW is UP and running)</a:t>
            </a:r>
            <a:endParaRPr lang="en-IN" dirty="0"/>
          </a:p>
        </p:txBody>
      </p:sp>
      <p:sp>
        <p:nvSpPr>
          <p:cNvPr id="21" name="TextBox 20">
            <a:extLst>
              <a:ext uri="{FF2B5EF4-FFF2-40B4-BE49-F238E27FC236}">
                <a16:creationId xmlns:a16="http://schemas.microsoft.com/office/drawing/2014/main" id="{35BF13E9-7C66-4A64-A41D-5DB19CAD1939}"/>
              </a:ext>
            </a:extLst>
          </p:cNvPr>
          <p:cNvSpPr txBox="1"/>
          <p:nvPr/>
        </p:nvSpPr>
        <p:spPr>
          <a:xfrm>
            <a:off x="8975396" y="2780822"/>
            <a:ext cx="1837747" cy="369332"/>
          </a:xfrm>
          <a:prstGeom prst="rect">
            <a:avLst/>
          </a:prstGeom>
          <a:noFill/>
          <a:ln>
            <a:noFill/>
          </a:ln>
        </p:spPr>
        <p:txBody>
          <a:bodyPr wrap="square">
            <a:spAutoFit/>
          </a:bodyPr>
          <a:lstStyle/>
          <a:p>
            <a:r>
              <a:rPr lang="en-IN" b="1" dirty="0"/>
              <a:t> (up to 24 hours)</a:t>
            </a:r>
            <a:endParaRPr lang="en-IN" dirty="0"/>
          </a:p>
        </p:txBody>
      </p:sp>
    </p:spTree>
    <p:extLst>
      <p:ext uri="{BB962C8B-B14F-4D97-AF65-F5344CB8AC3E}">
        <p14:creationId xmlns:p14="http://schemas.microsoft.com/office/powerpoint/2010/main" val="2719985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ppt_x"/>
                                          </p:val>
                                        </p:tav>
                                        <p:tav tm="100000">
                                          <p:val>
                                            <p:strVal val="#ppt_x"/>
                                          </p:val>
                                        </p:tav>
                                      </p:tavLst>
                                    </p:anim>
                                    <p:anim calcmode="lin" valueType="num">
                                      <p:cBhvr additive="base">
                                        <p:cTn id="2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500" fill="hold"/>
                                        <p:tgtEl>
                                          <p:spTgt spid="20"/>
                                        </p:tgtEl>
                                        <p:attrNameLst>
                                          <p:attrName>ppt_x</p:attrName>
                                        </p:attrNameLst>
                                      </p:cBhvr>
                                      <p:tavLst>
                                        <p:tav tm="0">
                                          <p:val>
                                            <p:strVal val="#ppt_x"/>
                                          </p:val>
                                        </p:tav>
                                        <p:tav tm="100000">
                                          <p:val>
                                            <p:strVal val="#ppt_x"/>
                                          </p:val>
                                        </p:tav>
                                      </p:tavLst>
                                    </p:anim>
                                    <p:anim calcmode="lin" valueType="num">
                                      <p:cBhvr additive="base">
                                        <p:cTn id="2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additive="base">
                                        <p:cTn id="33" dur="500" fill="hold"/>
                                        <p:tgtEl>
                                          <p:spTgt spid="21"/>
                                        </p:tgtEl>
                                        <p:attrNameLst>
                                          <p:attrName>ppt_x</p:attrName>
                                        </p:attrNameLst>
                                      </p:cBhvr>
                                      <p:tavLst>
                                        <p:tav tm="0">
                                          <p:val>
                                            <p:strVal val="#ppt_x"/>
                                          </p:val>
                                        </p:tav>
                                        <p:tav tm="100000">
                                          <p:val>
                                            <p:strVal val="#ppt_x"/>
                                          </p:val>
                                        </p:tav>
                                      </p:tavLst>
                                    </p:anim>
                                    <p:anim calcmode="lin" valueType="num">
                                      <p:cBhvr additive="base">
                                        <p:cTn id="3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0" grpId="0"/>
      <p:bldP spid="21"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IN" dirty="0">
                <a:solidFill>
                  <a:schemeClr val="tx1"/>
                </a:solidFill>
              </a:rPr>
              <a:t>Results Cache is located in cloud services layer. This Cached data will be available for next 24 hours.</a:t>
            </a:r>
          </a:p>
          <a:p>
            <a:r>
              <a:rPr lang="en-US" dirty="0">
                <a:solidFill>
                  <a:schemeClr val="tx1"/>
                </a:solidFill>
              </a:rPr>
              <a:t>Results Cache will be available and can be accessed across different virtual warehouses.</a:t>
            </a:r>
          </a:p>
          <a:p>
            <a:r>
              <a:rPr lang="en-US" dirty="0">
                <a:solidFill>
                  <a:schemeClr val="tx1"/>
                </a:solidFill>
              </a:rPr>
              <a:t>Query results returned to one user is available to any other user on the system who executes the same query. </a:t>
            </a:r>
          </a:p>
          <a:p>
            <a:r>
              <a:rPr lang="en-US" dirty="0">
                <a:solidFill>
                  <a:schemeClr val="tx1"/>
                </a:solidFill>
              </a:rPr>
              <a:t>Results cache works until underlying data has not changed.</a:t>
            </a:r>
          </a:p>
          <a:p>
            <a:r>
              <a:rPr lang="en-US" dirty="0">
                <a:solidFill>
                  <a:schemeClr val="tx1"/>
                </a:solidFill>
              </a:rPr>
              <a:t>Here mandatory condition is query should be same, won’t work for subset of data, and even won’t work if we re-order columns.</a:t>
            </a:r>
            <a:endParaRPr lang="en-IN" dirty="0">
              <a:solidFill>
                <a:schemeClr val="tx1"/>
              </a:solidFill>
            </a:endParaRPr>
          </a:p>
        </p:txBody>
      </p:sp>
      <p:sp>
        <p:nvSpPr>
          <p:cNvPr id="3" name="Title 2"/>
          <p:cNvSpPr>
            <a:spLocks noGrp="1"/>
          </p:cNvSpPr>
          <p:nvPr>
            <p:ph type="title"/>
          </p:nvPr>
        </p:nvSpPr>
        <p:spPr/>
        <p:txBody>
          <a:bodyPr/>
          <a:lstStyle/>
          <a:p>
            <a:r>
              <a:rPr lang="en-US" b="1" dirty="0">
                <a:solidFill>
                  <a:schemeClr val="tx1"/>
                </a:solidFill>
                <a:latin typeface="Arial" panose="020B0604020202020204" pitchFamily="34" charset="0"/>
                <a:cs typeface="Arial" panose="020B0604020202020204" pitchFamily="34" charset="0"/>
              </a:rPr>
              <a:t>Results Cache</a:t>
            </a:r>
            <a:endParaRPr lang="mr-IN" b="1" dirty="0">
              <a:solidFill>
                <a:schemeClr val="tx1"/>
              </a:solidFill>
            </a:endParaRPr>
          </a:p>
        </p:txBody>
      </p:sp>
    </p:spTree>
    <p:extLst>
      <p:ext uri="{BB962C8B-B14F-4D97-AF65-F5344CB8AC3E}">
        <p14:creationId xmlns:p14="http://schemas.microsoft.com/office/powerpoint/2010/main" val="16045343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IN" dirty="0"/>
              <a:t>Cached data is only available until the VW is up, once VW is suspended, cache gets deleted.</a:t>
            </a:r>
          </a:p>
          <a:p>
            <a:r>
              <a:rPr lang="en-IN" dirty="0"/>
              <a:t>Even works when we query subset of data that is available in Local disk cache.</a:t>
            </a:r>
          </a:p>
          <a:p>
            <a:pPr marL="0" indent="0">
              <a:buNone/>
            </a:pPr>
            <a:r>
              <a:rPr lang="en-IN" dirty="0"/>
              <a:t>    </a:t>
            </a:r>
            <a:r>
              <a:rPr lang="en-IN" dirty="0" err="1"/>
              <a:t>Eg</a:t>
            </a:r>
            <a:r>
              <a:rPr lang="en-IN" dirty="0"/>
              <a:t>. Suppose when we query 10k records for the first time, Local disk cache will hold this 10 k records data and next time if we try to query only 2k or 3k records which is subset of above 10k, it will fetch from Local disk cache itself.</a:t>
            </a:r>
          </a:p>
          <a:p>
            <a:r>
              <a:rPr lang="en-IN" dirty="0"/>
              <a:t>This Cache depends on the Virtual Warehouse Size we are using. </a:t>
            </a:r>
          </a:p>
          <a:p>
            <a:pPr marL="0" indent="0">
              <a:buNone/>
            </a:pPr>
            <a:r>
              <a:rPr lang="en-IN" dirty="0"/>
              <a:t>    </a:t>
            </a:r>
            <a:r>
              <a:rPr lang="en-IN" dirty="0" err="1"/>
              <a:t>Eg</a:t>
            </a:r>
            <a:r>
              <a:rPr lang="en-IN" dirty="0"/>
              <a:t>. X-Small  VW can’t hold Millions of records, but can fetch part of the data from Local disk cache and remaining from Remote disk.</a:t>
            </a:r>
          </a:p>
        </p:txBody>
      </p:sp>
      <p:sp>
        <p:nvSpPr>
          <p:cNvPr id="3" name="Title 2"/>
          <p:cNvSpPr>
            <a:spLocks noGrp="1"/>
          </p:cNvSpPr>
          <p:nvPr>
            <p:ph type="title"/>
          </p:nvPr>
        </p:nvSpPr>
        <p:spPr/>
        <p:txBody>
          <a:bodyPr/>
          <a:lstStyle/>
          <a:p>
            <a:r>
              <a:rPr lang="en-US" b="1" dirty="0">
                <a:solidFill>
                  <a:schemeClr val="tx1"/>
                </a:solidFill>
                <a:latin typeface="Arial" panose="020B0604020202020204" pitchFamily="34" charset="0"/>
                <a:cs typeface="Arial" panose="020B0604020202020204" pitchFamily="34" charset="0"/>
              </a:rPr>
              <a:t>Local Disk Cache</a:t>
            </a:r>
            <a:endParaRPr lang="mr-IN" b="1" dirty="0">
              <a:solidFill>
                <a:schemeClr val="tx1"/>
              </a:solidFill>
            </a:endParaRPr>
          </a:p>
        </p:txBody>
      </p:sp>
    </p:spTree>
    <p:extLst>
      <p:ext uri="{BB962C8B-B14F-4D97-AF65-F5344CB8AC3E}">
        <p14:creationId xmlns:p14="http://schemas.microsoft.com/office/powerpoint/2010/main" val="17212850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4606" y="2564904"/>
            <a:ext cx="10945216" cy="4032447"/>
          </a:xfrm>
        </p:spPr>
        <p:txBody>
          <a:bodyPr>
            <a:normAutofit fontScale="77500" lnSpcReduction="20000"/>
          </a:bodyPr>
          <a:lstStyle/>
          <a:p>
            <a:pPr marL="0" indent="0">
              <a:buNone/>
            </a:pPr>
            <a:r>
              <a:rPr lang="en-US" dirty="0"/>
              <a:t>SnowSQL is the command-line interface (CLI) client designed for connecting to the Snowflake platform. It allows users to execute SQL queries and carry out a wide range of DDL and DML operations, load and unload data, manage databases &amp; warehouses, and perform a whole lot of other administrative tasks.</a:t>
            </a:r>
          </a:p>
          <a:p>
            <a:pPr marL="0" indent="0">
              <a:buNone/>
            </a:pPr>
            <a:endParaRPr lang="en-US" dirty="0"/>
          </a:p>
          <a:p>
            <a:pPr marL="0" indent="0">
              <a:buNone/>
            </a:pPr>
            <a:r>
              <a:rPr lang="en-US" dirty="0"/>
              <a:t>Here are some key features about SnowSQL:</a:t>
            </a:r>
          </a:p>
          <a:p>
            <a:pPr marL="457200" indent="-457200">
              <a:buFont typeface="+mj-lt"/>
              <a:buAutoNum type="alphaUcPeriod"/>
            </a:pPr>
            <a:r>
              <a:rPr lang="en-US" dirty="0"/>
              <a:t>Available on all OS Linux, Windows, and </a:t>
            </a:r>
            <a:r>
              <a:rPr lang="en-US" dirty="0" err="1"/>
              <a:t>MacOS</a:t>
            </a:r>
            <a:endParaRPr lang="en-US" dirty="0"/>
          </a:p>
          <a:p>
            <a:pPr marL="457200" indent="-457200">
              <a:buFont typeface="+mj-lt"/>
              <a:buAutoNum type="alphaUcPeriod"/>
            </a:pPr>
            <a:r>
              <a:rPr lang="en-US" dirty="0"/>
              <a:t>EASY installation</a:t>
            </a:r>
          </a:p>
          <a:p>
            <a:pPr marL="457200" indent="-457200">
              <a:buFont typeface="+mj-lt"/>
              <a:buAutoNum type="alphaUcPeriod"/>
            </a:pPr>
            <a:r>
              <a:rPr lang="en-US" dirty="0"/>
              <a:t>Provides an interactive shell for executing SQL commands</a:t>
            </a:r>
          </a:p>
          <a:p>
            <a:pPr marL="457200" indent="-457200">
              <a:buFont typeface="+mj-lt"/>
              <a:buAutoNum type="alphaUcPeriod"/>
            </a:pPr>
            <a:r>
              <a:rPr lang="en-US" dirty="0"/>
              <a:t>Supports batch mode execution</a:t>
            </a:r>
          </a:p>
          <a:p>
            <a:pPr marL="457200" indent="-457200">
              <a:buFont typeface="+mj-lt"/>
              <a:buAutoNum type="alphaUcPeriod"/>
            </a:pPr>
            <a:r>
              <a:rPr lang="en-US" dirty="0"/>
              <a:t>Includes output formatting options for result sets</a:t>
            </a:r>
          </a:p>
          <a:p>
            <a:pPr marL="457200" indent="-457200">
              <a:buFont typeface="+mj-lt"/>
              <a:buAutoNum type="alphaUcPeriod"/>
            </a:pPr>
            <a:r>
              <a:rPr lang="en-US" dirty="0"/>
              <a:t>Comes with command history</a:t>
            </a:r>
          </a:p>
          <a:p>
            <a:pPr marL="457200" indent="-457200">
              <a:buFont typeface="+mj-lt"/>
              <a:buAutoNum type="alphaUcPeriod"/>
            </a:pPr>
            <a:r>
              <a:rPr lang="en-US" dirty="0"/>
              <a:t>Allows configuration profiles to save connection details</a:t>
            </a:r>
          </a:p>
          <a:p>
            <a:pPr marL="457200" indent="-457200">
              <a:buFont typeface="+mj-lt"/>
              <a:buAutoNum type="alphaUcPeriod"/>
            </a:pPr>
            <a:r>
              <a:rPr lang="en-US" dirty="0" err="1"/>
              <a:t>upports</a:t>
            </a:r>
            <a:r>
              <a:rPr lang="en-US" dirty="0"/>
              <a:t> variables for parameterizing SQL statements</a:t>
            </a:r>
            <a:endParaRPr lang="mr-IN" dirty="0"/>
          </a:p>
        </p:txBody>
      </p:sp>
      <p:sp>
        <p:nvSpPr>
          <p:cNvPr id="3" name="Title 2"/>
          <p:cNvSpPr>
            <a:spLocks noGrp="1"/>
          </p:cNvSpPr>
          <p:nvPr>
            <p:ph type="title"/>
          </p:nvPr>
        </p:nvSpPr>
        <p:spPr/>
        <p:txBody>
          <a:bodyPr>
            <a:normAutofit/>
          </a:bodyPr>
          <a:lstStyle/>
          <a:p>
            <a:r>
              <a:rPr lang="en-US" b="1" dirty="0">
                <a:solidFill>
                  <a:schemeClr val="tx1"/>
                </a:solidFill>
              </a:rPr>
              <a:t>SNOWSQL/SNOWFLAKE CLI</a:t>
            </a:r>
            <a:endParaRPr lang="mr-IN" b="1" dirty="0">
              <a:solidFill>
                <a:schemeClr val="tx1"/>
              </a:solidFill>
            </a:endParaRPr>
          </a:p>
        </p:txBody>
      </p:sp>
    </p:spTree>
    <p:extLst>
      <p:ext uri="{BB962C8B-B14F-4D97-AF65-F5344CB8AC3E}">
        <p14:creationId xmlns:p14="http://schemas.microsoft.com/office/powerpoint/2010/main" val="3990502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50590" y="2348880"/>
            <a:ext cx="10585176" cy="4032448"/>
          </a:xfrm>
        </p:spPr>
        <p:txBody>
          <a:bodyPr>
            <a:normAutofit fontScale="92500" lnSpcReduction="20000"/>
          </a:bodyPr>
          <a:lstStyle/>
          <a:p>
            <a:pPr marL="0" indent="0">
              <a:buNone/>
            </a:pPr>
            <a:r>
              <a:rPr lang="en-US" dirty="0"/>
              <a:t>-a: Account Name </a:t>
            </a:r>
          </a:p>
          <a:p>
            <a:pPr marL="0" indent="0">
              <a:buNone/>
            </a:pPr>
            <a:r>
              <a:rPr lang="en-US" dirty="0"/>
              <a:t>-u: User Name </a:t>
            </a:r>
          </a:p>
          <a:p>
            <a:pPr marL="0" indent="0">
              <a:buNone/>
            </a:pPr>
            <a:r>
              <a:rPr lang="en-US" dirty="0"/>
              <a:t>-w: Warehouse Name </a:t>
            </a:r>
          </a:p>
          <a:p>
            <a:pPr marL="0" indent="0">
              <a:buNone/>
            </a:pPr>
            <a:r>
              <a:rPr lang="en-US" dirty="0"/>
              <a:t>-</a:t>
            </a:r>
            <a:r>
              <a:rPr lang="en-US" dirty="0" err="1"/>
              <a:t>d:Database</a:t>
            </a:r>
            <a:r>
              <a:rPr lang="en-US" dirty="0"/>
              <a:t> Name </a:t>
            </a:r>
          </a:p>
          <a:p>
            <a:pPr marL="0" indent="0">
              <a:buNone/>
            </a:pPr>
            <a:r>
              <a:rPr lang="en-US" dirty="0"/>
              <a:t>-r: Role Name </a:t>
            </a:r>
          </a:p>
          <a:p>
            <a:pPr marL="0" indent="0">
              <a:buNone/>
            </a:pPr>
            <a:r>
              <a:rPr lang="en-US" dirty="0"/>
              <a:t>-s: Schema Name </a:t>
            </a:r>
          </a:p>
          <a:p>
            <a:pPr marL="0" indent="0">
              <a:buNone/>
            </a:pPr>
            <a:endParaRPr lang="en-US" dirty="0"/>
          </a:p>
          <a:p>
            <a:pPr marL="0" indent="0">
              <a:buNone/>
            </a:pPr>
            <a:r>
              <a:rPr lang="en-US" dirty="0" err="1"/>
              <a:t>Snowsql</a:t>
            </a:r>
            <a:r>
              <a:rPr lang="en-US" dirty="0"/>
              <a:t>-v: Version Name </a:t>
            </a:r>
          </a:p>
          <a:p>
            <a:pPr marL="0" indent="0">
              <a:buNone/>
            </a:pPr>
            <a:endParaRPr lang="en-US" dirty="0"/>
          </a:p>
          <a:p>
            <a:pPr marL="0" indent="0">
              <a:buNone/>
            </a:pPr>
            <a:r>
              <a:rPr lang="en-US" dirty="0" err="1"/>
              <a:t>Snowsql</a:t>
            </a:r>
            <a:r>
              <a:rPr lang="en-US" dirty="0"/>
              <a:t>-a &lt;</a:t>
            </a:r>
            <a:r>
              <a:rPr lang="en-US" dirty="0" err="1"/>
              <a:t>accountname</a:t>
            </a:r>
            <a:r>
              <a:rPr lang="en-US" dirty="0"/>
              <a:t>&gt; -u &lt;username&gt; - w &lt;</a:t>
            </a:r>
            <a:r>
              <a:rPr lang="en-US" dirty="0" err="1"/>
              <a:t>warehousename</a:t>
            </a:r>
            <a:r>
              <a:rPr lang="en-US" dirty="0"/>
              <a:t>&gt; -d &lt;</a:t>
            </a:r>
            <a:r>
              <a:rPr lang="en-US" dirty="0" err="1"/>
              <a:t>databasename</a:t>
            </a:r>
            <a:r>
              <a:rPr lang="en-US" dirty="0"/>
              <a:t>&gt; </a:t>
            </a:r>
          </a:p>
          <a:p>
            <a:pPr marL="0" indent="0">
              <a:buNone/>
            </a:pPr>
            <a:r>
              <a:rPr lang="en-US" dirty="0" err="1"/>
              <a:t>Pswd</a:t>
            </a:r>
            <a:r>
              <a:rPr lang="en-US" dirty="0"/>
              <a:t>:</a:t>
            </a:r>
            <a:endParaRPr lang="mr-IN" dirty="0"/>
          </a:p>
        </p:txBody>
      </p:sp>
      <p:sp>
        <p:nvSpPr>
          <p:cNvPr id="3" name="Title 2"/>
          <p:cNvSpPr>
            <a:spLocks noGrp="1"/>
          </p:cNvSpPr>
          <p:nvPr>
            <p:ph type="title"/>
          </p:nvPr>
        </p:nvSpPr>
        <p:spPr/>
        <p:txBody>
          <a:bodyPr/>
          <a:lstStyle/>
          <a:p>
            <a:r>
              <a:rPr lang="en-US" b="1" dirty="0">
                <a:solidFill>
                  <a:schemeClr val="tx1"/>
                </a:solidFill>
              </a:rPr>
              <a:t>SNOWSQL COMMANDS</a:t>
            </a:r>
            <a:endParaRPr lang="mr-IN" b="1" dirty="0">
              <a:solidFill>
                <a:schemeClr val="tx1"/>
              </a:solidFill>
            </a:endParaRPr>
          </a:p>
        </p:txBody>
      </p:sp>
    </p:spTree>
    <p:extLst>
      <p:ext uri="{BB962C8B-B14F-4D97-AF65-F5344CB8AC3E}">
        <p14:creationId xmlns:p14="http://schemas.microsoft.com/office/powerpoint/2010/main" val="32768649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22598" y="2492896"/>
            <a:ext cx="11233247" cy="4104456"/>
          </a:xfrm>
        </p:spPr>
        <p:txBody>
          <a:bodyPr>
            <a:normAutofit fontScale="70000" lnSpcReduction="20000"/>
          </a:bodyPr>
          <a:lstStyle/>
          <a:p>
            <a:pPr marL="0" indent="0">
              <a:buNone/>
            </a:pPr>
            <a:r>
              <a:rPr lang="en-US" dirty="0">
                <a:solidFill>
                  <a:schemeClr val="tx1"/>
                </a:solidFill>
              </a:rPr>
              <a:t>Uploads (i.e. stages) data files from a local directory/folder on a client machine to one of the following Snowflake stages: </a:t>
            </a:r>
          </a:p>
          <a:p>
            <a:pPr marL="0" indent="0">
              <a:buNone/>
            </a:pPr>
            <a:endParaRPr lang="en-US" dirty="0">
              <a:solidFill>
                <a:schemeClr val="tx1"/>
              </a:solidFill>
            </a:endParaRPr>
          </a:p>
          <a:p>
            <a:r>
              <a:rPr lang="en-US" dirty="0">
                <a:solidFill>
                  <a:schemeClr val="tx1"/>
                </a:solidFill>
              </a:rPr>
              <a:t>Named internal stage.</a:t>
            </a:r>
          </a:p>
          <a:p>
            <a:r>
              <a:rPr lang="en-US" dirty="0">
                <a:solidFill>
                  <a:schemeClr val="tx1"/>
                </a:solidFill>
              </a:rPr>
              <a:t>Internal stage for a specified table. </a:t>
            </a:r>
          </a:p>
          <a:p>
            <a:r>
              <a:rPr lang="en-US" dirty="0">
                <a:solidFill>
                  <a:schemeClr val="tx1"/>
                </a:solidFill>
              </a:rPr>
              <a:t>Internal stage for the current user. </a:t>
            </a:r>
          </a:p>
          <a:p>
            <a:pPr marL="0" indent="0">
              <a:buNone/>
            </a:pPr>
            <a:endParaRPr lang="en-US" dirty="0">
              <a:solidFill>
                <a:schemeClr val="tx1"/>
              </a:solidFill>
            </a:endParaRPr>
          </a:p>
          <a:p>
            <a:pPr marL="0" indent="0">
              <a:buNone/>
            </a:pPr>
            <a:r>
              <a:rPr lang="en-US" b="1" dirty="0">
                <a:solidFill>
                  <a:schemeClr val="tx1"/>
                </a:solidFill>
              </a:rPr>
              <a:t>Syntax</a:t>
            </a:r>
            <a:r>
              <a:rPr lang="en-US" dirty="0">
                <a:solidFill>
                  <a:schemeClr val="tx1"/>
                </a:solidFill>
              </a:rPr>
              <a:t>: PUT file://&lt;path_to_file&gt;/&lt;filename&gt; </a:t>
            </a:r>
            <a:r>
              <a:rPr lang="en-US" dirty="0" err="1">
                <a:solidFill>
                  <a:schemeClr val="tx1"/>
                </a:solidFill>
              </a:rPr>
              <a:t>internalStage</a:t>
            </a:r>
            <a:r>
              <a:rPr lang="en-US" dirty="0">
                <a:solidFill>
                  <a:schemeClr val="tx1"/>
                </a:solidFill>
              </a:rPr>
              <a:t> </a:t>
            </a:r>
          </a:p>
          <a:p>
            <a:pPr marL="0" indent="0">
              <a:buNone/>
            </a:pPr>
            <a:r>
              <a:rPr lang="en-US" sz="1900" i="1" dirty="0">
                <a:solidFill>
                  <a:schemeClr val="tx1"/>
                </a:solidFill>
              </a:rPr>
              <a:t>You must include the drive and backslash in the path (e.g. </a:t>
            </a:r>
            <a:r>
              <a:rPr lang="en-US" sz="1900" i="1" dirty="0">
                <a:solidFill>
                  <a:schemeClr val="accent1">
                    <a:lumMod val="75000"/>
                  </a:schemeClr>
                </a:solidFill>
              </a:rPr>
              <a:t>file://C:\temp\load</a:t>
            </a:r>
            <a:r>
              <a:rPr lang="en-US" sz="1900" i="1" dirty="0">
                <a:solidFill>
                  <a:schemeClr val="tx1"/>
                </a:solidFill>
              </a:rPr>
              <a:t>) If the stage name or path includes spaces or special characters, it must be enclosed in single quotes (e.g. '@"my stage"" for a stage named "my stage") </a:t>
            </a:r>
          </a:p>
          <a:p>
            <a:pPr marL="0" indent="0">
              <a:buNone/>
            </a:pPr>
            <a:endParaRPr lang="en-US" sz="1900" i="1" dirty="0">
              <a:solidFill>
                <a:schemeClr val="tx1"/>
              </a:solidFill>
            </a:endParaRPr>
          </a:p>
          <a:p>
            <a:pPr marL="0" indent="0">
              <a:buNone/>
            </a:pPr>
            <a:r>
              <a:rPr lang="en-US" i="1" dirty="0">
                <a:solidFill>
                  <a:schemeClr val="tx1"/>
                </a:solidFill>
              </a:rPr>
              <a:t>Folder name with Space: </a:t>
            </a:r>
          </a:p>
          <a:p>
            <a:pPr marL="0" indent="0">
              <a:buNone/>
            </a:pPr>
            <a:endParaRPr lang="en-US" dirty="0">
              <a:solidFill>
                <a:schemeClr val="tx1"/>
              </a:solidFill>
            </a:endParaRPr>
          </a:p>
          <a:p>
            <a:pPr marL="0" indent="0">
              <a:buNone/>
            </a:pPr>
            <a:r>
              <a:rPr lang="en-US" dirty="0">
                <a:solidFill>
                  <a:schemeClr val="tx1"/>
                </a:solidFill>
              </a:rPr>
              <a:t>PUT 'file://C:/Users/91800/Desktop/Snowflake training/Customerdata.csv' @~; </a:t>
            </a:r>
          </a:p>
          <a:p>
            <a:pPr marL="0" indent="0">
              <a:buNone/>
            </a:pPr>
            <a:r>
              <a:rPr lang="en-US" dirty="0">
                <a:solidFill>
                  <a:schemeClr val="tx1"/>
                </a:solidFill>
              </a:rPr>
              <a:t>PUT 'file://C:\\Users\\91800\\Desktop\\Snowflake training\\Customerdata.csv' @COPIED_STAGE;</a:t>
            </a:r>
            <a:endParaRPr lang="mr-IN" dirty="0">
              <a:solidFill>
                <a:schemeClr val="tx1"/>
              </a:solidFill>
            </a:endParaRPr>
          </a:p>
        </p:txBody>
      </p:sp>
      <p:sp>
        <p:nvSpPr>
          <p:cNvPr id="3" name="Title 2"/>
          <p:cNvSpPr>
            <a:spLocks noGrp="1"/>
          </p:cNvSpPr>
          <p:nvPr>
            <p:ph type="title"/>
          </p:nvPr>
        </p:nvSpPr>
        <p:spPr/>
        <p:txBody>
          <a:bodyPr/>
          <a:lstStyle/>
          <a:p>
            <a:r>
              <a:rPr lang="en-US" b="1" dirty="0">
                <a:solidFill>
                  <a:schemeClr val="tx1"/>
                </a:solidFill>
              </a:rPr>
              <a:t>PUT Command</a:t>
            </a:r>
            <a:endParaRPr lang="mr-IN" b="1" dirty="0"/>
          </a:p>
        </p:txBody>
      </p:sp>
    </p:spTree>
    <p:extLst>
      <p:ext uri="{BB962C8B-B14F-4D97-AF65-F5344CB8AC3E}">
        <p14:creationId xmlns:p14="http://schemas.microsoft.com/office/powerpoint/2010/main" val="4155902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0" indent="0">
              <a:buNone/>
            </a:pPr>
            <a:r>
              <a:rPr lang="en-US" dirty="0"/>
              <a:t>Downloads data files from one of the following Snowflake stages to a local directory/folder on a client machine:</a:t>
            </a:r>
          </a:p>
          <a:p>
            <a:pPr marL="0" indent="0">
              <a:buNone/>
            </a:pPr>
            <a:endParaRPr lang="en-US" dirty="0"/>
          </a:p>
          <a:p>
            <a:r>
              <a:rPr lang="en-US" dirty="0"/>
              <a:t>Named internal stage.</a:t>
            </a:r>
          </a:p>
          <a:p>
            <a:r>
              <a:rPr lang="en-US" dirty="0"/>
              <a:t>Internal stage for a specified table.</a:t>
            </a:r>
          </a:p>
          <a:p>
            <a:r>
              <a:rPr lang="en-US" dirty="0"/>
              <a:t>Internal stage for the current user.</a:t>
            </a:r>
          </a:p>
          <a:p>
            <a:pPr marL="0" indent="0">
              <a:buNone/>
            </a:pPr>
            <a:endParaRPr lang="en-US" dirty="0"/>
          </a:p>
          <a:p>
            <a:pPr marL="0" indent="0">
              <a:buNone/>
            </a:pPr>
            <a:r>
              <a:rPr lang="en-US" dirty="0"/>
              <a:t>Get does not support download the data from external stages.</a:t>
            </a:r>
          </a:p>
          <a:p>
            <a:pPr marL="0" indent="0">
              <a:buNone/>
            </a:pPr>
            <a:r>
              <a:rPr lang="en-US" dirty="0">
                <a:solidFill>
                  <a:srgbClr val="FF0000"/>
                </a:solidFill>
              </a:rPr>
              <a:t>	Syntax</a:t>
            </a:r>
            <a:r>
              <a:rPr lang="en-US" dirty="0"/>
              <a:t>: get @%</a:t>
            </a:r>
            <a:r>
              <a:rPr lang="en-US" dirty="0" err="1"/>
              <a:t>mytable</a:t>
            </a:r>
            <a:r>
              <a:rPr lang="en-US" dirty="0"/>
              <a:t> </a:t>
            </a:r>
            <a:r>
              <a:rPr lang="en-US" dirty="0">
                <a:solidFill>
                  <a:srgbClr val="00B0F0"/>
                </a:solidFill>
              </a:rPr>
              <a:t>file:///tmp/data/;</a:t>
            </a:r>
            <a:endParaRPr lang="mr-IN" dirty="0">
              <a:solidFill>
                <a:srgbClr val="00B0F0"/>
              </a:solidFill>
            </a:endParaRPr>
          </a:p>
        </p:txBody>
      </p:sp>
      <p:sp>
        <p:nvSpPr>
          <p:cNvPr id="3" name="Title 2"/>
          <p:cNvSpPr>
            <a:spLocks noGrp="1"/>
          </p:cNvSpPr>
          <p:nvPr>
            <p:ph type="title"/>
          </p:nvPr>
        </p:nvSpPr>
        <p:spPr/>
        <p:txBody>
          <a:bodyPr/>
          <a:lstStyle/>
          <a:p>
            <a:r>
              <a:rPr lang="en-US" b="1" dirty="0">
                <a:solidFill>
                  <a:schemeClr val="tx1"/>
                </a:solidFill>
              </a:rPr>
              <a:t>GET Command</a:t>
            </a:r>
            <a:endParaRPr lang="mr-IN" b="1" dirty="0"/>
          </a:p>
        </p:txBody>
      </p:sp>
    </p:spTree>
    <p:extLst>
      <p:ext uri="{BB962C8B-B14F-4D97-AF65-F5344CB8AC3E}">
        <p14:creationId xmlns:p14="http://schemas.microsoft.com/office/powerpoint/2010/main" val="7898430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4606" y="2420888"/>
            <a:ext cx="10945216" cy="3738728"/>
          </a:xfrm>
        </p:spPr>
        <p:txBody>
          <a:bodyPr>
            <a:normAutofit/>
          </a:bodyPr>
          <a:lstStyle/>
          <a:p>
            <a:pPr marL="0" indent="0">
              <a:lnSpc>
                <a:spcPct val="110000"/>
              </a:lnSpc>
              <a:spcBef>
                <a:spcPts val="600"/>
              </a:spcBef>
              <a:spcAft>
                <a:spcPts val="600"/>
              </a:spcAft>
              <a:buNone/>
            </a:pPr>
            <a:r>
              <a:rPr lang="en-IN" sz="2200" b="1" dirty="0">
                <a:solidFill>
                  <a:schemeClr val="tx1"/>
                </a:solidFill>
                <a:latin typeface="Arial" panose="020B0604020202020204" pitchFamily="34" charset="0"/>
                <a:cs typeface="Arial" panose="020B0604020202020204" pitchFamily="34" charset="0"/>
              </a:rPr>
              <a:t>What is Access Control?</a:t>
            </a:r>
          </a:p>
          <a:p>
            <a:pPr>
              <a:lnSpc>
                <a:spcPct val="110000"/>
              </a:lnSpc>
              <a:spcBef>
                <a:spcPts val="600"/>
              </a:spcBef>
              <a:spcAft>
                <a:spcPts val="600"/>
              </a:spcAft>
            </a:pPr>
            <a:r>
              <a:rPr lang="en-US" dirty="0">
                <a:solidFill>
                  <a:schemeClr val="tx1"/>
                </a:solidFill>
                <a:latin typeface="Arial" panose="020B0604020202020204" pitchFamily="34" charset="0"/>
              </a:rPr>
              <a:t>Access control determines who can access database objects and perform operations on specific objects in Snowflake.</a:t>
            </a:r>
            <a:endParaRPr lang="en-IN" dirty="0">
              <a:solidFill>
                <a:schemeClr val="tx1"/>
              </a:solidFill>
              <a:latin typeface="Arial" panose="020B0604020202020204" pitchFamily="34" charset="0"/>
              <a:cs typeface="Arial" panose="020B0604020202020204" pitchFamily="34" charset="0"/>
            </a:endParaRPr>
          </a:p>
          <a:p>
            <a:pPr>
              <a:lnSpc>
                <a:spcPct val="110000"/>
              </a:lnSpc>
              <a:spcBef>
                <a:spcPts val="600"/>
              </a:spcBef>
              <a:spcAft>
                <a:spcPts val="600"/>
              </a:spcAft>
            </a:pPr>
            <a:r>
              <a:rPr lang="en-IN" sz="2200" dirty="0">
                <a:solidFill>
                  <a:schemeClr val="tx1"/>
                </a:solidFill>
                <a:latin typeface="Arial" panose="020B0604020202020204" pitchFamily="34" charset="0"/>
                <a:cs typeface="Arial" panose="020B0604020202020204" pitchFamily="34" charset="0"/>
              </a:rPr>
              <a:t>Snowflake supports and combines both of below access control models.</a:t>
            </a:r>
          </a:p>
          <a:p>
            <a:pPr lvl="1">
              <a:buFont typeface="Wingdings" pitchFamily="2" charset="2"/>
              <a:buChar char="v"/>
            </a:pPr>
            <a:r>
              <a:rPr lang="en-US" sz="2000" b="1" dirty="0">
                <a:solidFill>
                  <a:schemeClr val="tx1"/>
                </a:solidFill>
                <a:latin typeface="Arial" panose="020B0604020202020204" pitchFamily="34" charset="0"/>
              </a:rPr>
              <a:t>Discretionary Access Control (DAC):</a:t>
            </a:r>
            <a:r>
              <a:rPr lang="en-US" sz="2000" dirty="0">
                <a:solidFill>
                  <a:schemeClr val="tx1"/>
                </a:solidFill>
                <a:latin typeface="Arial" panose="020B0604020202020204" pitchFamily="34" charset="0"/>
              </a:rPr>
              <a:t> Each object has an owner, who can in turn grant access to that object.</a:t>
            </a:r>
          </a:p>
          <a:p>
            <a:pPr lvl="1">
              <a:buFont typeface="Wingdings" pitchFamily="2" charset="2"/>
              <a:buChar char="v"/>
            </a:pPr>
            <a:r>
              <a:rPr lang="en-US" sz="2000" b="1" dirty="0">
                <a:solidFill>
                  <a:schemeClr val="tx1"/>
                </a:solidFill>
                <a:latin typeface="Arial" panose="020B0604020202020204" pitchFamily="34" charset="0"/>
              </a:rPr>
              <a:t>Role-based Access Control (RBAC):</a:t>
            </a:r>
            <a:r>
              <a:rPr lang="en-US" sz="2000" dirty="0">
                <a:solidFill>
                  <a:schemeClr val="tx1"/>
                </a:solidFill>
                <a:latin typeface="Arial" panose="020B0604020202020204" pitchFamily="34" charset="0"/>
              </a:rPr>
              <a:t> Access privileges are assigned to roles, which are in turn assigned to users.</a:t>
            </a:r>
          </a:p>
          <a:p>
            <a:pPr marL="457200" lvl="1" indent="0">
              <a:buNone/>
            </a:pPr>
            <a:endParaRPr lang="en-IN" sz="1800" dirty="0">
              <a:solidFill>
                <a:schemeClr val="tx1"/>
              </a:solidFill>
              <a:latin typeface="Arial" panose="020B0604020202020204" pitchFamily="34" charset="0"/>
              <a:cs typeface="Arial" panose="020B0604020202020204" pitchFamily="34" charset="0"/>
            </a:endParaRPr>
          </a:p>
          <a:p>
            <a:pPr lvl="1"/>
            <a:endParaRPr lang="en-IN" sz="1800" dirty="0">
              <a:solidFill>
                <a:schemeClr val="tx1"/>
              </a:solidFill>
              <a:latin typeface="Arial" panose="020B0604020202020204" pitchFamily="34" charset="0"/>
              <a:cs typeface="Arial" panose="020B0604020202020204" pitchFamily="34" charset="0"/>
            </a:endParaRPr>
          </a:p>
        </p:txBody>
      </p:sp>
      <p:sp>
        <p:nvSpPr>
          <p:cNvPr id="3" name="Title 2"/>
          <p:cNvSpPr>
            <a:spLocks noGrp="1"/>
          </p:cNvSpPr>
          <p:nvPr>
            <p:ph type="title"/>
          </p:nvPr>
        </p:nvSpPr>
        <p:spPr/>
        <p:txBody>
          <a:bodyPr>
            <a:normAutofit/>
          </a:bodyPr>
          <a:lstStyle/>
          <a:p>
            <a:r>
              <a:rPr lang="en-US" b="1" dirty="0">
                <a:solidFill>
                  <a:schemeClr val="tx1"/>
                </a:solidFill>
              </a:rPr>
              <a:t>Access Control</a:t>
            </a:r>
            <a:endParaRPr lang="mr-IN" b="1" dirty="0"/>
          </a:p>
        </p:txBody>
      </p:sp>
    </p:spTree>
    <p:extLst>
      <p:ext uri="{BB962C8B-B14F-4D97-AF65-F5344CB8AC3E}">
        <p14:creationId xmlns:p14="http://schemas.microsoft.com/office/powerpoint/2010/main" val="7267767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78582" y="2420888"/>
            <a:ext cx="10560515" cy="3705275"/>
          </a:xfrm>
        </p:spPr>
        <p:txBody>
          <a:bodyPr/>
          <a:lstStyle/>
          <a:p>
            <a:pPr marL="0" indent="0">
              <a:lnSpc>
                <a:spcPct val="110000"/>
              </a:lnSpc>
              <a:spcBef>
                <a:spcPts val="0"/>
              </a:spcBef>
              <a:spcAft>
                <a:spcPts val="600"/>
              </a:spcAft>
              <a:buNone/>
            </a:pPr>
            <a:r>
              <a:rPr lang="en-IN" sz="2200" dirty="0">
                <a:solidFill>
                  <a:schemeClr val="tx1"/>
                </a:solidFill>
                <a:latin typeface="Arial" panose="020B0604020202020204" pitchFamily="34" charset="0"/>
                <a:cs typeface="Arial" panose="020B0604020202020204" pitchFamily="34" charset="0"/>
              </a:rPr>
              <a:t>Below are the key concepts of Snowflake Access Control mechanism.</a:t>
            </a:r>
          </a:p>
          <a:p>
            <a:pPr lvl="1"/>
            <a:r>
              <a:rPr lang="en-US" sz="2000" b="1" dirty="0">
                <a:solidFill>
                  <a:schemeClr val="tx1"/>
                </a:solidFill>
                <a:latin typeface="Arial" panose="020B0604020202020204" pitchFamily="34" charset="0"/>
              </a:rPr>
              <a:t>Securable object:</a:t>
            </a:r>
            <a:r>
              <a:rPr lang="en-US" sz="2000" dirty="0">
                <a:solidFill>
                  <a:schemeClr val="tx1"/>
                </a:solidFill>
                <a:latin typeface="Arial" panose="020B0604020202020204" pitchFamily="34" charset="0"/>
              </a:rPr>
              <a:t> An entity to which access can be granted. Tables, schemas, views etc.</a:t>
            </a:r>
          </a:p>
          <a:p>
            <a:pPr lvl="1"/>
            <a:r>
              <a:rPr lang="en-US" sz="2000" b="1" dirty="0">
                <a:solidFill>
                  <a:schemeClr val="tx1"/>
                </a:solidFill>
                <a:latin typeface="Arial" panose="020B0604020202020204" pitchFamily="34" charset="0"/>
              </a:rPr>
              <a:t>Role:</a:t>
            </a:r>
            <a:r>
              <a:rPr lang="en-US" sz="2000" dirty="0">
                <a:solidFill>
                  <a:schemeClr val="tx1"/>
                </a:solidFill>
                <a:latin typeface="Arial" panose="020B0604020202020204" pitchFamily="34" charset="0"/>
              </a:rPr>
              <a:t> An entity to which privileges can be granted. Roles are in turn assigned to users. Note that roles can also be assigned to other roles, creating a role hierarchy.</a:t>
            </a:r>
          </a:p>
          <a:p>
            <a:pPr lvl="1">
              <a:spcBef>
                <a:spcPts val="1200"/>
              </a:spcBef>
            </a:pPr>
            <a:r>
              <a:rPr lang="en-US" sz="2000" b="1" dirty="0">
                <a:solidFill>
                  <a:schemeClr val="tx1"/>
                </a:solidFill>
                <a:latin typeface="Arial" panose="020B0604020202020204" pitchFamily="34" charset="0"/>
              </a:rPr>
              <a:t>Privilege:</a:t>
            </a:r>
            <a:r>
              <a:rPr lang="en-US" sz="2000" dirty="0">
                <a:solidFill>
                  <a:schemeClr val="tx1"/>
                </a:solidFill>
                <a:latin typeface="Arial" panose="020B0604020202020204" pitchFamily="34" charset="0"/>
              </a:rPr>
              <a:t> It is level of access that can be granted to any object. Like select, create, drop, insert etc.</a:t>
            </a:r>
          </a:p>
          <a:p>
            <a:pPr lvl="1">
              <a:spcBef>
                <a:spcPts val="1200"/>
              </a:spcBef>
            </a:pPr>
            <a:r>
              <a:rPr lang="en-US" sz="2000" b="1" dirty="0">
                <a:solidFill>
                  <a:schemeClr val="tx1"/>
                </a:solidFill>
                <a:latin typeface="Arial" panose="020B0604020202020204" pitchFamily="34" charset="0"/>
              </a:rPr>
              <a:t>User:</a:t>
            </a:r>
            <a:r>
              <a:rPr lang="en-US" sz="2000" dirty="0">
                <a:solidFill>
                  <a:schemeClr val="tx1"/>
                </a:solidFill>
                <a:latin typeface="Arial" panose="020B0604020202020204" pitchFamily="34" charset="0"/>
              </a:rPr>
              <a:t> Specifies the people or system to whom the access granted.</a:t>
            </a: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Key Concepts</a:t>
            </a:r>
            <a:endParaRPr lang="mr-IN" b="1" dirty="0">
              <a:solidFill>
                <a:schemeClr val="tx1"/>
              </a:solidFill>
            </a:endParaRPr>
          </a:p>
        </p:txBody>
      </p:sp>
    </p:spTree>
    <p:extLst>
      <p:ext uri="{BB962C8B-B14F-4D97-AF65-F5344CB8AC3E}">
        <p14:creationId xmlns:p14="http://schemas.microsoft.com/office/powerpoint/2010/main" val="8310513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mr-IN"/>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Key Concepts</a:t>
            </a:r>
            <a:endParaRPr lang="mr-IN" dirty="0"/>
          </a:p>
        </p:txBody>
      </p:sp>
      <p:pic>
        <p:nvPicPr>
          <p:cNvPr id="4" name="Content Placeholder 4">
            <a:extLst>
              <a:ext uri="{FF2B5EF4-FFF2-40B4-BE49-F238E27FC236}">
                <a16:creationId xmlns:a16="http://schemas.microsoft.com/office/drawing/2014/main" id="{502405D1-3EEE-8332-8DD1-A6EEEF60CA0D}"/>
              </a:ext>
            </a:extLst>
          </p:cNvPr>
          <p:cNvPicPr>
            <a:picLocks noChangeAspect="1"/>
          </p:cNvPicPr>
          <p:nvPr/>
        </p:nvPicPr>
        <p:blipFill>
          <a:blip r:embed="rId2"/>
          <a:stretch>
            <a:fillRect/>
          </a:stretch>
        </p:blipFill>
        <p:spPr>
          <a:xfrm>
            <a:off x="262558" y="2492896"/>
            <a:ext cx="11593287" cy="417646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947769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Privileges</a:t>
            </a:r>
            <a:endParaRPr lang="mr-IN" b="1" dirty="0">
              <a:solidFill>
                <a:schemeClr val="tx1"/>
              </a:solidFill>
            </a:endParaRPr>
          </a:p>
        </p:txBody>
      </p:sp>
      <p:graphicFrame>
        <p:nvGraphicFramePr>
          <p:cNvPr id="4" name="Content Placeholder 3">
            <a:extLst>
              <a:ext uri="{FF2B5EF4-FFF2-40B4-BE49-F238E27FC236}">
                <a16:creationId xmlns:a16="http://schemas.microsoft.com/office/drawing/2014/main" id="{F09B16E1-9F59-8F57-7840-399AF44F8141}"/>
              </a:ext>
            </a:extLst>
          </p:cNvPr>
          <p:cNvGraphicFramePr>
            <a:graphicFrameLocks/>
          </p:cNvGraphicFramePr>
          <p:nvPr>
            <p:extLst>
              <p:ext uri="{D42A27DB-BD31-4B8C-83A1-F6EECF244321}">
                <p14:modId xmlns:p14="http://schemas.microsoft.com/office/powerpoint/2010/main" val="737170497"/>
              </p:ext>
            </p:extLst>
          </p:nvPr>
        </p:nvGraphicFramePr>
        <p:xfrm>
          <a:off x="478582" y="2492896"/>
          <a:ext cx="11377264" cy="4112926"/>
        </p:xfrm>
        <a:graphic>
          <a:graphicData uri="http://schemas.openxmlformats.org/drawingml/2006/table">
            <a:tbl>
              <a:tblPr firstRow="1" firstCol="1" bandRow="1">
                <a:tableStyleId>{073A0DAA-6AF3-43AB-8588-CEC1D06C72B9}</a:tableStyleId>
              </a:tblPr>
              <a:tblGrid>
                <a:gridCol w="2372377">
                  <a:extLst>
                    <a:ext uri="{9D8B030D-6E8A-4147-A177-3AD203B41FA5}">
                      <a16:colId xmlns:a16="http://schemas.microsoft.com/office/drawing/2014/main" val="1700599697"/>
                    </a:ext>
                  </a:extLst>
                </a:gridCol>
                <a:gridCol w="9004887">
                  <a:extLst>
                    <a:ext uri="{9D8B030D-6E8A-4147-A177-3AD203B41FA5}">
                      <a16:colId xmlns:a16="http://schemas.microsoft.com/office/drawing/2014/main" val="3542706648"/>
                    </a:ext>
                  </a:extLst>
                </a:gridCol>
              </a:tblGrid>
              <a:tr h="500254">
                <a:tc>
                  <a:txBody>
                    <a:bodyPr/>
                    <a:lstStyle/>
                    <a:p>
                      <a:pPr algn="ctr">
                        <a:lnSpc>
                          <a:spcPct val="107000"/>
                        </a:lnSpc>
                        <a:spcAft>
                          <a:spcPts val="800"/>
                        </a:spcAft>
                      </a:pPr>
                      <a:r>
                        <a:rPr lang="en-IN" sz="1800" dirty="0">
                          <a:effectLst/>
                        </a:rPr>
                        <a:t>Privilege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pPr>
                      <a:r>
                        <a:rPr lang="en-IN" sz="1800" dirty="0">
                          <a:effectLst/>
                        </a:rPr>
                        <a:t>Usage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83761116"/>
                  </a:ext>
                </a:extLst>
              </a:tr>
              <a:tr h="500254">
                <a:tc>
                  <a:txBody>
                    <a:bodyPr/>
                    <a:lstStyle/>
                    <a:p>
                      <a:pPr algn="ctr">
                        <a:lnSpc>
                          <a:spcPct val="107000"/>
                        </a:lnSpc>
                        <a:spcAft>
                          <a:spcPts val="800"/>
                        </a:spcAft>
                      </a:pPr>
                      <a:r>
                        <a:rPr lang="en-IN" sz="1800" kern="1200" dirty="0">
                          <a:effectLst/>
                        </a:rPr>
                        <a:t>SELECT</a:t>
                      </a:r>
                      <a:endParaRPr lang="en-IN" sz="1800" kern="1200" dirty="0">
                        <a:solidFill>
                          <a:schemeClr val="dk1"/>
                        </a:solidFill>
                        <a:effectLst/>
                        <a:latin typeface="+mn-lt"/>
                        <a:ea typeface="+mn-ea"/>
                        <a:cs typeface="+mn-cs"/>
                      </a:endParaRPr>
                    </a:p>
                  </a:txBody>
                  <a:tcPr marL="9525" marR="9525" marT="9525" marB="9525" anchor="ctr"/>
                </a:tc>
                <a:tc>
                  <a:txBody>
                    <a:bodyPr/>
                    <a:lstStyle/>
                    <a:p>
                      <a:pPr algn="l">
                        <a:lnSpc>
                          <a:spcPct val="107000"/>
                        </a:lnSpc>
                        <a:spcAft>
                          <a:spcPts val="800"/>
                        </a:spcAft>
                      </a:pPr>
                      <a:r>
                        <a:rPr lang="en-IN" sz="1800" dirty="0">
                          <a:effectLst/>
                        </a:rPr>
                        <a:t>Execute a SELECT statement on the table.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85550135"/>
                  </a:ext>
                </a:extLst>
              </a:tr>
              <a:tr h="500254">
                <a:tc>
                  <a:txBody>
                    <a:bodyPr/>
                    <a:lstStyle/>
                    <a:p>
                      <a:pPr algn="ctr">
                        <a:lnSpc>
                          <a:spcPct val="107000"/>
                        </a:lnSpc>
                        <a:spcAft>
                          <a:spcPts val="800"/>
                        </a:spcAft>
                      </a:pPr>
                      <a:r>
                        <a:rPr lang="en-IN" sz="1800" kern="1200" dirty="0">
                          <a:effectLst/>
                        </a:rPr>
                        <a:t>INSERT</a:t>
                      </a:r>
                      <a:endParaRPr lang="en-IN" sz="1800" kern="1200" dirty="0">
                        <a:solidFill>
                          <a:schemeClr val="dk1"/>
                        </a:solidFill>
                        <a:effectLst/>
                        <a:latin typeface="+mn-lt"/>
                        <a:ea typeface="+mn-ea"/>
                        <a:cs typeface="+mn-cs"/>
                      </a:endParaRPr>
                    </a:p>
                  </a:txBody>
                  <a:tcPr marL="9525" marR="9525" marT="9525" marB="9525" anchor="ctr"/>
                </a:tc>
                <a:tc>
                  <a:txBody>
                    <a:bodyPr/>
                    <a:lstStyle/>
                    <a:p>
                      <a:pPr algn="l">
                        <a:lnSpc>
                          <a:spcPct val="107000"/>
                        </a:lnSpc>
                        <a:spcAft>
                          <a:spcPts val="800"/>
                        </a:spcAft>
                      </a:pPr>
                      <a:r>
                        <a:rPr lang="en-IN" sz="1800" dirty="0">
                          <a:effectLst/>
                        </a:rPr>
                        <a:t>Execute an INSERT query on the table.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11336740"/>
                  </a:ext>
                </a:extLst>
              </a:tr>
              <a:tr h="500254">
                <a:tc>
                  <a:txBody>
                    <a:bodyPr/>
                    <a:lstStyle/>
                    <a:p>
                      <a:pPr algn="ctr">
                        <a:lnSpc>
                          <a:spcPct val="107000"/>
                        </a:lnSpc>
                        <a:spcAft>
                          <a:spcPts val="800"/>
                        </a:spcAft>
                      </a:pPr>
                      <a:r>
                        <a:rPr lang="en-IN" sz="1800" kern="1200" dirty="0">
                          <a:effectLst/>
                        </a:rPr>
                        <a:t>UPDATE</a:t>
                      </a:r>
                      <a:endParaRPr lang="en-IN" sz="1800" kern="1200" dirty="0">
                        <a:solidFill>
                          <a:schemeClr val="dk1"/>
                        </a:solidFill>
                        <a:effectLst/>
                        <a:latin typeface="+mn-lt"/>
                        <a:ea typeface="+mn-ea"/>
                        <a:cs typeface="+mn-cs"/>
                      </a:endParaRPr>
                    </a:p>
                  </a:txBody>
                  <a:tcPr marL="9525" marR="9525" marT="9525" marB="9525" anchor="ctr"/>
                </a:tc>
                <a:tc>
                  <a:txBody>
                    <a:bodyPr/>
                    <a:lstStyle/>
                    <a:p>
                      <a:pPr algn="l">
                        <a:lnSpc>
                          <a:spcPct val="107000"/>
                        </a:lnSpc>
                        <a:spcAft>
                          <a:spcPts val="800"/>
                        </a:spcAft>
                      </a:pPr>
                      <a:r>
                        <a:rPr lang="en-IN" sz="1800" dirty="0">
                          <a:effectLst/>
                        </a:rPr>
                        <a:t>Execute an UPDATE query on the table.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98143969"/>
                  </a:ext>
                </a:extLst>
              </a:tr>
              <a:tr h="500254">
                <a:tc>
                  <a:txBody>
                    <a:bodyPr/>
                    <a:lstStyle/>
                    <a:p>
                      <a:pPr algn="ctr">
                        <a:lnSpc>
                          <a:spcPct val="107000"/>
                        </a:lnSpc>
                        <a:spcAft>
                          <a:spcPts val="800"/>
                        </a:spcAft>
                      </a:pPr>
                      <a:r>
                        <a:rPr lang="en-IN" sz="1800" kern="1200" dirty="0">
                          <a:effectLst/>
                        </a:rPr>
                        <a:t>TRUNCATE</a:t>
                      </a:r>
                      <a:endParaRPr lang="en-IN" sz="1800" kern="1200" dirty="0">
                        <a:solidFill>
                          <a:schemeClr val="dk1"/>
                        </a:solidFill>
                        <a:effectLst/>
                        <a:latin typeface="+mn-lt"/>
                        <a:ea typeface="+mn-ea"/>
                        <a:cs typeface="+mn-cs"/>
                      </a:endParaRPr>
                    </a:p>
                  </a:txBody>
                  <a:tcPr marL="9525" marR="9525" marT="9525" marB="9525" anchor="ctr"/>
                </a:tc>
                <a:tc>
                  <a:txBody>
                    <a:bodyPr/>
                    <a:lstStyle/>
                    <a:p>
                      <a:pPr algn="l">
                        <a:lnSpc>
                          <a:spcPct val="107000"/>
                        </a:lnSpc>
                        <a:spcAft>
                          <a:spcPts val="800"/>
                        </a:spcAft>
                      </a:pPr>
                      <a:r>
                        <a:rPr lang="en-IN" sz="1800" dirty="0">
                          <a:effectLst/>
                        </a:rPr>
                        <a:t>Execute a TRUNCATE </a:t>
                      </a:r>
                      <a:r>
                        <a:rPr lang="en-IN" sz="1800" kern="1200" dirty="0">
                          <a:effectLst/>
                        </a:rPr>
                        <a:t>query</a:t>
                      </a:r>
                      <a:r>
                        <a:rPr lang="en-IN" sz="1800" dirty="0">
                          <a:effectLst/>
                        </a:rPr>
                        <a:t> on the table.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79101378"/>
                  </a:ext>
                </a:extLst>
              </a:tr>
              <a:tr h="500254">
                <a:tc>
                  <a:txBody>
                    <a:bodyPr/>
                    <a:lstStyle/>
                    <a:p>
                      <a:pPr algn="ctr">
                        <a:lnSpc>
                          <a:spcPct val="107000"/>
                        </a:lnSpc>
                        <a:spcAft>
                          <a:spcPts val="800"/>
                        </a:spcAft>
                      </a:pPr>
                      <a:r>
                        <a:rPr lang="en-IN" sz="1800" kern="1200" dirty="0">
                          <a:effectLst/>
                        </a:rPr>
                        <a:t>DELETE</a:t>
                      </a:r>
                      <a:endParaRPr lang="en-IN" sz="1800" kern="1200" dirty="0">
                        <a:solidFill>
                          <a:schemeClr val="dk1"/>
                        </a:solidFill>
                        <a:effectLst/>
                        <a:latin typeface="+mn-lt"/>
                        <a:ea typeface="+mn-ea"/>
                        <a:cs typeface="+mn-cs"/>
                      </a:endParaRPr>
                    </a:p>
                  </a:txBody>
                  <a:tcPr marL="9525" marR="9525" marT="9525" marB="9525" anchor="ctr"/>
                </a:tc>
                <a:tc>
                  <a:txBody>
                    <a:bodyPr/>
                    <a:lstStyle/>
                    <a:p>
                      <a:pPr algn="l">
                        <a:lnSpc>
                          <a:spcPct val="107000"/>
                        </a:lnSpc>
                        <a:spcAft>
                          <a:spcPts val="800"/>
                        </a:spcAft>
                      </a:pPr>
                      <a:r>
                        <a:rPr lang="en-IN" sz="1800" dirty="0">
                          <a:effectLst/>
                        </a:rPr>
                        <a:t>Execute a DELETE query on the table.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015746"/>
                  </a:ext>
                </a:extLst>
              </a:tr>
              <a:tr h="555701">
                <a:tc>
                  <a:txBody>
                    <a:bodyPr/>
                    <a:lstStyle/>
                    <a:p>
                      <a:pPr algn="ctr">
                        <a:lnSpc>
                          <a:spcPct val="107000"/>
                        </a:lnSpc>
                        <a:spcAft>
                          <a:spcPts val="800"/>
                        </a:spcAft>
                      </a:pPr>
                      <a:r>
                        <a:rPr lang="en-IN" sz="1800" kern="1200" dirty="0">
                          <a:effectLst/>
                        </a:rPr>
                        <a:t>ALL [ PRIVILEGES]</a:t>
                      </a:r>
                      <a:endParaRPr lang="en-IN" sz="1800" kern="1200" dirty="0">
                        <a:solidFill>
                          <a:schemeClr val="dk1"/>
                        </a:solidFill>
                        <a:effectLst/>
                        <a:latin typeface="+mn-lt"/>
                        <a:ea typeface="+mn-ea"/>
                        <a:cs typeface="+mn-cs"/>
                      </a:endParaRPr>
                    </a:p>
                  </a:txBody>
                  <a:tcPr marL="9525" marR="9525" marT="9525" marB="9525" anchor="ctr"/>
                </a:tc>
                <a:tc>
                  <a:txBody>
                    <a:bodyPr/>
                    <a:lstStyle/>
                    <a:p>
                      <a:pPr algn="l">
                        <a:lnSpc>
                          <a:spcPct val="107000"/>
                        </a:lnSpc>
                        <a:spcAft>
                          <a:spcPts val="800"/>
                        </a:spcAft>
                      </a:pPr>
                      <a:r>
                        <a:rPr lang="en-IN" sz="1800">
                          <a:effectLst/>
                        </a:rPr>
                        <a:t>Grant all privileges, except OWNERSHIP, on the table.</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95097568"/>
                  </a:ext>
                </a:extLst>
              </a:tr>
              <a:tr h="555701">
                <a:tc>
                  <a:txBody>
                    <a:bodyPr/>
                    <a:lstStyle/>
                    <a:p>
                      <a:pPr algn="ctr">
                        <a:lnSpc>
                          <a:spcPct val="107000"/>
                        </a:lnSpc>
                        <a:spcAft>
                          <a:spcPts val="800"/>
                        </a:spcAft>
                      </a:pPr>
                      <a:r>
                        <a:rPr lang="en-IN" sz="1800" kern="1200" dirty="0">
                          <a:effectLst/>
                        </a:rPr>
                        <a:t>OWNERSHIP</a:t>
                      </a:r>
                      <a:endParaRPr lang="en-IN" sz="1800" kern="1200" dirty="0">
                        <a:solidFill>
                          <a:schemeClr val="dk1"/>
                        </a:solidFill>
                        <a:effectLst/>
                        <a:latin typeface="+mn-lt"/>
                        <a:ea typeface="+mn-ea"/>
                        <a:cs typeface="+mn-cs"/>
                      </a:endParaRPr>
                    </a:p>
                  </a:txBody>
                  <a:tcPr marL="9525" marR="9525" marT="9525" marB="9525" anchor="ctr"/>
                </a:tc>
                <a:tc>
                  <a:txBody>
                    <a:bodyPr/>
                    <a:lstStyle/>
                    <a:p>
                      <a:pPr algn="l">
                        <a:lnSpc>
                          <a:spcPct val="107000"/>
                        </a:lnSpc>
                        <a:spcAft>
                          <a:spcPts val="800"/>
                        </a:spcAft>
                      </a:pPr>
                      <a:r>
                        <a:rPr lang="en-IN" sz="1800" dirty="0">
                          <a:effectLst/>
                        </a:rPr>
                        <a:t>Grant full control over a table.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65220882"/>
                  </a:ext>
                </a:extLst>
              </a:tr>
            </a:tbl>
          </a:graphicData>
        </a:graphic>
      </p:graphicFrame>
    </p:spTree>
    <p:extLst>
      <p:ext uri="{BB962C8B-B14F-4D97-AF65-F5344CB8AC3E}">
        <p14:creationId xmlns:p14="http://schemas.microsoft.com/office/powerpoint/2010/main" val="22138579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Object Hierarchy</a:t>
            </a:r>
            <a:endParaRPr lang="mr-IN" b="1" dirty="0">
              <a:solidFill>
                <a:schemeClr val="tx1"/>
              </a:solidFill>
            </a:endParaRPr>
          </a:p>
        </p:txBody>
      </p:sp>
      <p:pic>
        <p:nvPicPr>
          <p:cNvPr id="4" name="Content Placeholder 4">
            <a:extLst>
              <a:ext uri="{FF2B5EF4-FFF2-40B4-BE49-F238E27FC236}">
                <a16:creationId xmlns:a16="http://schemas.microsoft.com/office/drawing/2014/main" id="{9B84CF5B-EDFF-E9DC-84EB-27ACC0A0089F}"/>
              </a:ext>
            </a:extLst>
          </p:cNvPr>
          <p:cNvPicPr>
            <a:picLocks noChangeAspect="1"/>
          </p:cNvPicPr>
          <p:nvPr/>
        </p:nvPicPr>
        <p:blipFill>
          <a:blip r:embed="rId2"/>
          <a:stretch>
            <a:fillRect/>
          </a:stretch>
        </p:blipFill>
        <p:spPr>
          <a:xfrm>
            <a:off x="1198662" y="2276872"/>
            <a:ext cx="10441160" cy="4392488"/>
          </a:xfrm>
          <a:prstGeom prst="rect">
            <a:avLst/>
          </a:prstGeom>
        </p:spPr>
      </p:pic>
    </p:spTree>
    <p:extLst>
      <p:ext uri="{BB962C8B-B14F-4D97-AF65-F5344CB8AC3E}">
        <p14:creationId xmlns:p14="http://schemas.microsoft.com/office/powerpoint/2010/main" val="41918952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10630" y="2564904"/>
            <a:ext cx="10585176" cy="3561259"/>
          </a:xfrm>
        </p:spPr>
        <p:txBody>
          <a:bodyPr>
            <a:normAutofit lnSpcReduction="10000"/>
          </a:bodyPr>
          <a:lstStyle/>
          <a:p>
            <a:r>
              <a:rPr lang="en-US" sz="2200" dirty="0">
                <a:solidFill>
                  <a:srgbClr val="000000"/>
                </a:solidFill>
                <a:latin typeface="Arial" panose="020B0604020202020204" pitchFamily="34" charset="0"/>
              </a:rPr>
              <a:t>Roles are the entities to which privileges on securable objects can be granted and revoked. </a:t>
            </a:r>
          </a:p>
          <a:p>
            <a:r>
              <a:rPr lang="en-US" sz="2200" dirty="0">
                <a:solidFill>
                  <a:srgbClr val="000000"/>
                </a:solidFill>
                <a:latin typeface="Arial" panose="020B0604020202020204" pitchFamily="34" charset="0"/>
              </a:rPr>
              <a:t>Roles are assigned to users to allow them to perform actions required for business functions </a:t>
            </a:r>
          </a:p>
          <a:p>
            <a:r>
              <a:rPr lang="en-US" sz="2200" dirty="0">
                <a:solidFill>
                  <a:srgbClr val="000000"/>
                </a:solidFill>
                <a:latin typeface="Arial" panose="020B0604020202020204" pitchFamily="34" charset="0"/>
              </a:rPr>
              <a:t>A user can be assigned multiple roles. This allows users to switch roles.</a:t>
            </a:r>
          </a:p>
          <a:p>
            <a:r>
              <a:rPr lang="en-US" sz="2200" dirty="0">
                <a:solidFill>
                  <a:srgbClr val="000000"/>
                </a:solidFill>
                <a:latin typeface="Arial" panose="020B0604020202020204" pitchFamily="34" charset="0"/>
              </a:rPr>
              <a:t>On Snowflake web UI window the top right corner shows which Role is currently we are using.</a:t>
            </a:r>
          </a:p>
          <a:p>
            <a:r>
              <a:rPr lang="en-US" sz="2200" dirty="0">
                <a:solidFill>
                  <a:srgbClr val="000000"/>
                </a:solidFill>
                <a:latin typeface="Arial" panose="020B0604020202020204" pitchFamily="34" charset="0"/>
                <a:cs typeface="Arial" panose="020B0604020202020204" pitchFamily="34" charset="0"/>
              </a:rPr>
              <a:t>Two types of roles</a:t>
            </a:r>
          </a:p>
          <a:p>
            <a:pPr marL="800100" lvl="1" indent="-342900">
              <a:buAutoNum type="arabicPeriod"/>
            </a:pPr>
            <a:r>
              <a:rPr lang="en-US" dirty="0">
                <a:solidFill>
                  <a:srgbClr val="000000"/>
                </a:solidFill>
                <a:latin typeface="Arial" panose="020B0604020202020204" pitchFamily="34" charset="0"/>
                <a:cs typeface="Arial" panose="020B0604020202020204" pitchFamily="34" charset="0"/>
              </a:rPr>
              <a:t>System defined roles</a:t>
            </a:r>
          </a:p>
          <a:p>
            <a:pPr marL="800100" lvl="1" indent="-342900">
              <a:buAutoNum type="arabicPeriod"/>
            </a:pPr>
            <a:r>
              <a:rPr lang="en-US" dirty="0">
                <a:solidFill>
                  <a:srgbClr val="000000"/>
                </a:solidFill>
                <a:latin typeface="Arial" panose="020B0604020202020204" pitchFamily="34" charset="0"/>
                <a:cs typeface="Arial" panose="020B0604020202020204" pitchFamily="34" charset="0"/>
              </a:rPr>
              <a:t>Custom roles</a:t>
            </a:r>
            <a:endParaRPr lang="en-IN" dirty="0">
              <a:latin typeface="Arial" panose="020B0604020202020204" pitchFamily="34" charset="0"/>
              <a:cs typeface="Arial" panose="020B0604020202020204" pitchFamily="34" charset="0"/>
            </a:endParaRPr>
          </a:p>
          <a:p>
            <a:endParaRPr lang="mr-IN" dirty="0"/>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Roles in Snowflake</a:t>
            </a:r>
            <a:endParaRPr lang="mr-IN" b="1" dirty="0">
              <a:solidFill>
                <a:schemeClr val="tx1"/>
              </a:solidFill>
            </a:endParaRPr>
          </a:p>
        </p:txBody>
      </p:sp>
    </p:spTree>
    <p:extLst>
      <p:ext uri="{BB962C8B-B14F-4D97-AF65-F5344CB8AC3E}">
        <p14:creationId xmlns:p14="http://schemas.microsoft.com/office/powerpoint/2010/main" val="3219021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06574" y="2492896"/>
            <a:ext cx="11449272" cy="4320480"/>
          </a:xfrm>
        </p:spPr>
        <p:txBody>
          <a:bodyPr>
            <a:normAutofit fontScale="77500" lnSpcReduction="20000"/>
          </a:bodyPr>
          <a:lstStyle/>
          <a:p>
            <a:r>
              <a:rPr lang="en-US" b="1" dirty="0">
                <a:solidFill>
                  <a:srgbClr val="00B050"/>
                </a:solidFill>
                <a:latin typeface="Arial" panose="020B0604020202020204" pitchFamily="34" charset="0"/>
                <a:cs typeface="Arial" panose="020B0604020202020204" pitchFamily="34" charset="0"/>
              </a:rPr>
              <a:t>ORGADMIN</a:t>
            </a:r>
            <a:r>
              <a:rPr lang="en-US" b="1" dirty="0">
                <a:solidFill>
                  <a:schemeClr val="tx1"/>
                </a:solidFill>
                <a:latin typeface="Arial" panose="020B0604020202020204" pitchFamily="34" charset="0"/>
                <a:cs typeface="Arial" panose="020B0604020202020204" pitchFamily="34" charset="0"/>
              </a:rPr>
              <a:t> (Organization Administrator):</a:t>
            </a:r>
            <a:r>
              <a:rPr lang="en-US" dirty="0">
                <a:solidFill>
                  <a:schemeClr val="tx1"/>
                </a:solidFill>
                <a:latin typeface="Arial" panose="020B0604020202020204" pitchFamily="34" charset="0"/>
                <a:cs typeface="Arial" panose="020B0604020202020204" pitchFamily="34" charset="0"/>
              </a:rPr>
              <a:t> </a:t>
            </a:r>
            <a:r>
              <a:rPr lang="en-US" i="1" dirty="0">
                <a:solidFill>
                  <a:schemeClr val="tx1"/>
                </a:solidFill>
                <a:latin typeface="Arial" panose="020B0604020202020204" pitchFamily="34" charset="0"/>
                <a:cs typeface="Arial" panose="020B0604020202020204" pitchFamily="34" charset="0"/>
              </a:rPr>
              <a:t>Role that manages operations at the organization level. </a:t>
            </a:r>
          </a:p>
          <a:p>
            <a:endParaRPr lang="en-US" b="1" dirty="0">
              <a:solidFill>
                <a:schemeClr val="tx1"/>
              </a:solidFill>
              <a:latin typeface="Arial" panose="020B0604020202020204" pitchFamily="34" charset="0"/>
              <a:cs typeface="Arial" panose="020B0604020202020204" pitchFamily="34" charset="0"/>
            </a:endParaRPr>
          </a:p>
          <a:p>
            <a:r>
              <a:rPr lang="en-US" b="1" dirty="0">
                <a:solidFill>
                  <a:srgbClr val="00B050"/>
                </a:solidFill>
                <a:latin typeface="Arial" panose="020B0604020202020204" pitchFamily="34" charset="0"/>
                <a:cs typeface="Arial" panose="020B0604020202020204" pitchFamily="34" charset="0"/>
              </a:rPr>
              <a:t>ACCOUNTADMIN </a:t>
            </a:r>
            <a:r>
              <a:rPr lang="en-US" b="1" dirty="0">
                <a:solidFill>
                  <a:schemeClr val="tx1"/>
                </a:solidFill>
                <a:latin typeface="Arial" panose="020B0604020202020204" pitchFamily="34" charset="0"/>
                <a:cs typeface="Arial" panose="020B0604020202020204" pitchFamily="34" charset="0"/>
              </a:rPr>
              <a:t>(Account Administrator):</a:t>
            </a:r>
            <a:r>
              <a:rPr lang="en-US" i="1" dirty="0">
                <a:solidFill>
                  <a:schemeClr val="tx1"/>
                </a:solidFill>
                <a:latin typeface="Arial" panose="020B0604020202020204" pitchFamily="34" charset="0"/>
                <a:cs typeface="Arial" panose="020B0604020202020204" pitchFamily="34" charset="0"/>
              </a:rPr>
              <a:t>It is the top-level role in the system. Only Account Admin can see all account related things like usage, billing, users, roles, sessions and reader account details. Should be granted only to a limited number of users in your account.</a:t>
            </a:r>
          </a:p>
          <a:p>
            <a:pPr marL="0" indent="0">
              <a:buNone/>
            </a:pPr>
            <a:endParaRPr lang="en-US" b="1" dirty="0">
              <a:solidFill>
                <a:schemeClr val="tx1"/>
              </a:solidFill>
              <a:latin typeface="Arial" panose="020B0604020202020204" pitchFamily="34" charset="0"/>
              <a:cs typeface="Arial" panose="020B0604020202020204" pitchFamily="34" charset="0"/>
            </a:endParaRPr>
          </a:p>
          <a:p>
            <a:r>
              <a:rPr lang="en-US" b="1" dirty="0">
                <a:solidFill>
                  <a:srgbClr val="00B050"/>
                </a:solidFill>
                <a:latin typeface="Arial" panose="020B0604020202020204" pitchFamily="34" charset="0"/>
                <a:cs typeface="Arial" panose="020B0604020202020204" pitchFamily="34" charset="0"/>
              </a:rPr>
              <a:t>SECURITYADMIN</a:t>
            </a:r>
            <a:r>
              <a:rPr lang="en-US" b="1" dirty="0">
                <a:solidFill>
                  <a:schemeClr val="tx1"/>
                </a:solidFill>
                <a:latin typeface="Arial" panose="020B0604020202020204" pitchFamily="34" charset="0"/>
                <a:cs typeface="Arial" panose="020B0604020202020204" pitchFamily="34" charset="0"/>
              </a:rPr>
              <a:t> (Security Administrator): </a:t>
            </a:r>
            <a:r>
              <a:rPr lang="en-US" i="1" dirty="0">
                <a:solidFill>
                  <a:schemeClr val="tx1"/>
                </a:solidFill>
                <a:latin typeface="Arial" panose="020B0604020202020204" pitchFamily="34" charset="0"/>
                <a:cs typeface="Arial" panose="020B0604020202020204" pitchFamily="34" charset="0"/>
              </a:rPr>
              <a:t>Can create, monitor, and manage users and roles. </a:t>
            </a:r>
          </a:p>
          <a:p>
            <a:pPr marL="0" indent="0">
              <a:buNone/>
            </a:pPr>
            <a:endParaRPr lang="en-US" b="1" dirty="0">
              <a:solidFill>
                <a:schemeClr val="tx1"/>
              </a:solidFill>
              <a:latin typeface="Arial" panose="020B0604020202020204" pitchFamily="34" charset="0"/>
              <a:cs typeface="Arial" panose="020B0604020202020204" pitchFamily="34" charset="0"/>
            </a:endParaRPr>
          </a:p>
          <a:p>
            <a:r>
              <a:rPr lang="en-US" b="1" dirty="0">
                <a:solidFill>
                  <a:srgbClr val="00B050"/>
                </a:solidFill>
                <a:latin typeface="Arial" panose="020B0604020202020204" pitchFamily="34" charset="0"/>
                <a:cs typeface="Arial" panose="020B0604020202020204" pitchFamily="34" charset="0"/>
              </a:rPr>
              <a:t>USERADMIN</a:t>
            </a:r>
            <a:r>
              <a:rPr lang="en-US" b="1" dirty="0">
                <a:solidFill>
                  <a:schemeClr val="tx1"/>
                </a:solidFill>
                <a:latin typeface="Arial" panose="020B0604020202020204" pitchFamily="34" charset="0"/>
                <a:cs typeface="Arial" panose="020B0604020202020204" pitchFamily="34" charset="0"/>
              </a:rPr>
              <a:t> (User and Role Administrator): </a:t>
            </a:r>
            <a:r>
              <a:rPr lang="en-US" i="1" dirty="0">
                <a:solidFill>
                  <a:schemeClr val="tx1"/>
                </a:solidFill>
                <a:latin typeface="Arial" panose="020B0604020202020204" pitchFamily="34" charset="0"/>
                <a:cs typeface="Arial" panose="020B0604020202020204" pitchFamily="34" charset="0"/>
              </a:rPr>
              <a:t>Can create users and roles in the account</a:t>
            </a:r>
            <a:r>
              <a:rPr lang="en-US" dirty="0">
                <a:solidFill>
                  <a:schemeClr val="tx1"/>
                </a:solidFill>
                <a:latin typeface="Arial" panose="020B0604020202020204" pitchFamily="34" charset="0"/>
                <a:cs typeface="Arial" panose="020B0604020202020204" pitchFamily="34" charset="0"/>
              </a:rPr>
              <a:t>.</a:t>
            </a:r>
          </a:p>
          <a:p>
            <a:pPr marL="0" indent="0">
              <a:buNone/>
            </a:pPr>
            <a:endParaRPr lang="en-US" b="1" dirty="0">
              <a:solidFill>
                <a:schemeClr val="tx1"/>
              </a:solidFill>
              <a:latin typeface="Arial" panose="020B0604020202020204" pitchFamily="34" charset="0"/>
              <a:cs typeface="Arial" panose="020B0604020202020204" pitchFamily="34" charset="0"/>
            </a:endParaRPr>
          </a:p>
          <a:p>
            <a:r>
              <a:rPr lang="en-US" b="1" dirty="0">
                <a:solidFill>
                  <a:srgbClr val="00B050"/>
                </a:solidFill>
                <a:latin typeface="Arial" panose="020B0604020202020204" pitchFamily="34" charset="0"/>
                <a:cs typeface="Arial" panose="020B0604020202020204" pitchFamily="34" charset="0"/>
              </a:rPr>
              <a:t>SYSADMIN</a:t>
            </a:r>
            <a:r>
              <a:rPr lang="en-US" b="1" dirty="0">
                <a:solidFill>
                  <a:schemeClr val="tx1"/>
                </a:solidFill>
                <a:latin typeface="Arial" panose="020B0604020202020204" pitchFamily="34" charset="0"/>
                <a:cs typeface="Arial" panose="020B0604020202020204" pitchFamily="34" charset="0"/>
              </a:rPr>
              <a:t> (System Administrator): </a:t>
            </a:r>
            <a:r>
              <a:rPr lang="en-US" i="1" dirty="0">
                <a:solidFill>
                  <a:schemeClr val="tx1"/>
                </a:solidFill>
                <a:latin typeface="Arial" panose="020B0604020202020204" pitchFamily="34" charset="0"/>
                <a:cs typeface="Arial" panose="020B0604020202020204" pitchFamily="34" charset="0"/>
              </a:rPr>
              <a:t>Role that has privileges to create warehouses and databases and other objects in an account.</a:t>
            </a:r>
          </a:p>
          <a:p>
            <a:pPr marL="0" indent="0">
              <a:buNone/>
            </a:pPr>
            <a:endParaRPr lang="en-US" b="1" dirty="0">
              <a:solidFill>
                <a:schemeClr val="tx1"/>
              </a:solidFill>
              <a:latin typeface="Arial" panose="020B0604020202020204" pitchFamily="34" charset="0"/>
              <a:cs typeface="Arial" panose="020B0604020202020204" pitchFamily="34" charset="0"/>
            </a:endParaRPr>
          </a:p>
          <a:p>
            <a:r>
              <a:rPr lang="en-US" b="1" dirty="0">
                <a:solidFill>
                  <a:srgbClr val="00B050"/>
                </a:solidFill>
                <a:latin typeface="Arial" panose="020B0604020202020204" pitchFamily="34" charset="0"/>
                <a:cs typeface="Arial" panose="020B0604020202020204" pitchFamily="34" charset="0"/>
              </a:rPr>
              <a:t>PUBLIC</a:t>
            </a:r>
            <a:r>
              <a:rPr lang="en-US" b="1" dirty="0">
                <a:solidFill>
                  <a:schemeClr val="tx1"/>
                </a:solidFill>
                <a:latin typeface="Arial" panose="020B0604020202020204" pitchFamily="34" charset="0"/>
                <a:cs typeface="Arial" panose="020B0604020202020204" pitchFamily="34" charset="0"/>
              </a:rPr>
              <a:t>: </a:t>
            </a:r>
            <a:r>
              <a:rPr lang="en-US" i="1" dirty="0">
                <a:solidFill>
                  <a:schemeClr val="tx1"/>
                </a:solidFill>
                <a:latin typeface="Arial" panose="020B0604020202020204" pitchFamily="34" charset="0"/>
                <a:cs typeface="Arial" panose="020B0604020202020204" pitchFamily="34" charset="0"/>
              </a:rPr>
              <a:t>Automatically granted to every user and every role in your account. </a:t>
            </a:r>
          </a:p>
          <a:p>
            <a:pPr marL="0" indent="0">
              <a:buNone/>
            </a:pPr>
            <a:endParaRPr lang="mr-IN" dirty="0">
              <a:solidFill>
                <a:schemeClr val="tx1"/>
              </a:solidFill>
            </a:endParaRP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System Defined Roles</a:t>
            </a:r>
            <a:endParaRPr lang="mr-IN" b="1" dirty="0">
              <a:solidFill>
                <a:schemeClr val="tx1"/>
              </a:solidFill>
            </a:endParaRPr>
          </a:p>
        </p:txBody>
      </p:sp>
    </p:spTree>
    <p:extLst>
      <p:ext uri="{BB962C8B-B14F-4D97-AF65-F5344CB8AC3E}">
        <p14:creationId xmlns:p14="http://schemas.microsoft.com/office/powerpoint/2010/main" val="39843722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50590" y="2636912"/>
            <a:ext cx="11161240" cy="3522704"/>
          </a:xfrm>
        </p:spPr>
        <p:txBody>
          <a:bodyPr>
            <a:noAutofit/>
          </a:bodyPr>
          <a:lstStyle/>
          <a:p>
            <a:r>
              <a:rPr lang="en-US" sz="2000" dirty="0">
                <a:solidFill>
                  <a:srgbClr val="000000"/>
                </a:solidFill>
                <a:latin typeface="Arial" panose="020B0604020202020204" pitchFamily="34" charset="0"/>
              </a:rPr>
              <a:t>Custom roles can be created by the USERADMIN role (or a higher role) as well as by any role to which the CREATE ROLE privilege has been granted. </a:t>
            </a:r>
          </a:p>
          <a:p>
            <a:pPr>
              <a:lnSpc>
                <a:spcPct val="120000"/>
              </a:lnSpc>
              <a:spcBef>
                <a:spcPts val="600"/>
              </a:spcBef>
              <a:spcAft>
                <a:spcPts val="300"/>
              </a:spcAft>
            </a:pPr>
            <a:r>
              <a:rPr lang="en-US" sz="2000" dirty="0">
                <a:solidFill>
                  <a:srgbClr val="000000"/>
                </a:solidFill>
                <a:latin typeface="Arial" panose="020B0604020202020204" pitchFamily="34" charset="0"/>
              </a:rPr>
              <a:t>Snowflake recommends creating a hierarchy of custom roles, with the top-most custom role assigned to the system role SYSADMIN. This will allow system administrators to manage all objects in the account.</a:t>
            </a:r>
          </a:p>
          <a:p>
            <a:pPr>
              <a:lnSpc>
                <a:spcPct val="120000"/>
              </a:lnSpc>
              <a:spcBef>
                <a:spcPts val="600"/>
              </a:spcBef>
              <a:spcAft>
                <a:spcPts val="300"/>
              </a:spcAft>
            </a:pPr>
            <a:r>
              <a:rPr lang="en-US" sz="2000" dirty="0">
                <a:solidFill>
                  <a:srgbClr val="000000"/>
                </a:solidFill>
                <a:latin typeface="Arial" panose="020B0604020202020204" pitchFamily="34" charset="0"/>
              </a:rPr>
              <a:t>If custom role is not assigned to SYSADMIN through a role hierarchy, the system administrators will not be able to manage the objects owned by that role. Only SECURITYADMIN can view the objects and modify their access grants.</a:t>
            </a:r>
          </a:p>
          <a:p>
            <a:r>
              <a:rPr lang="en-US" sz="2000" dirty="0"/>
              <a:t>Ex.  Developer, Analyst, Report etc.</a:t>
            </a:r>
          </a:p>
        </p:txBody>
      </p:sp>
      <p:sp>
        <p:nvSpPr>
          <p:cNvPr id="3" name="Title 2"/>
          <p:cNvSpPr>
            <a:spLocks noGrp="1"/>
          </p:cNvSpPr>
          <p:nvPr>
            <p:ph type="title"/>
          </p:nvPr>
        </p:nvSpPr>
        <p:spPr/>
        <p:txBody>
          <a:bodyPr>
            <a:normAutofit/>
          </a:bodyPr>
          <a:lstStyle/>
          <a:p>
            <a:r>
              <a:rPr lang="en-IN" sz="4800" b="1" dirty="0">
                <a:solidFill>
                  <a:schemeClr val="tx1"/>
                </a:solidFill>
                <a:latin typeface="Helvetica" panose="020B0604020202020204" pitchFamily="34" charset="0"/>
              </a:rPr>
              <a:t>Custom Roles</a:t>
            </a:r>
            <a:endParaRPr lang="mr-IN" sz="4800" b="1" dirty="0">
              <a:solidFill>
                <a:schemeClr val="tx1"/>
              </a:solidFill>
            </a:endParaRPr>
          </a:p>
        </p:txBody>
      </p:sp>
    </p:spTree>
    <p:extLst>
      <p:ext uri="{BB962C8B-B14F-4D97-AF65-F5344CB8AC3E}">
        <p14:creationId xmlns:p14="http://schemas.microsoft.com/office/powerpoint/2010/main" val="16213257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78582" y="2492896"/>
            <a:ext cx="11377264" cy="4176463"/>
          </a:xfrm>
        </p:spPr>
        <p:txBody>
          <a:bodyPr>
            <a:normAutofit fontScale="92500" lnSpcReduction="10000"/>
          </a:bodyPr>
          <a:lstStyle/>
          <a:p>
            <a:r>
              <a:rPr lang="en-US" b="1" dirty="0">
                <a:solidFill>
                  <a:schemeClr val="tx1"/>
                </a:solidFill>
              </a:rPr>
              <a:t>Continuous Data Protection</a:t>
            </a:r>
            <a:r>
              <a:rPr lang="en-US" dirty="0">
                <a:solidFill>
                  <a:schemeClr val="tx1"/>
                </a:solidFill>
              </a:rPr>
              <a:t> (CDP) protect data stored in Snowflake against human error, malicious acts, and software or hardware failure. </a:t>
            </a:r>
          </a:p>
          <a:p>
            <a:endParaRPr lang="en-US" dirty="0">
              <a:solidFill>
                <a:schemeClr val="tx1"/>
              </a:solidFill>
            </a:endParaRPr>
          </a:p>
          <a:p>
            <a:r>
              <a:rPr lang="en-US" dirty="0">
                <a:solidFill>
                  <a:schemeClr val="tx1"/>
                </a:solidFill>
              </a:rPr>
              <a:t>At every stage within the data lifecycle, Snowflake enables your data to be accessible and recoverable in the event of accidental or intentional modification, removal, or corruption.</a:t>
            </a:r>
          </a:p>
          <a:p>
            <a:endParaRPr lang="en-US" dirty="0">
              <a:solidFill>
                <a:schemeClr val="tx1"/>
              </a:solidFill>
            </a:endParaRPr>
          </a:p>
          <a:p>
            <a:r>
              <a:rPr lang="en-US" dirty="0">
                <a:solidFill>
                  <a:schemeClr val="tx1"/>
                </a:solidFill>
              </a:rPr>
              <a:t>Maintenance of historical data (i.e. data that has been changed or deleted) through Snowflake Time Travel (for querying and restoring data) and Fail-safe (for disaster recovery; can only be performed by Snowflake).</a:t>
            </a:r>
          </a:p>
          <a:p>
            <a:pPr marL="0" indent="0">
              <a:buNone/>
            </a:pPr>
            <a:endParaRPr lang="en-US" dirty="0">
              <a:solidFill>
                <a:schemeClr val="tx1"/>
              </a:solidFill>
            </a:endParaRPr>
          </a:p>
          <a:p>
            <a:r>
              <a:rPr lang="en-US" dirty="0">
                <a:solidFill>
                  <a:schemeClr val="tx1"/>
                </a:solidFill>
              </a:rPr>
              <a:t>Both Time Travel and Fail-safe require additional data storage, which has associated fees. </a:t>
            </a:r>
          </a:p>
        </p:txBody>
      </p:sp>
      <p:sp>
        <p:nvSpPr>
          <p:cNvPr id="3" name="Title 2"/>
          <p:cNvSpPr>
            <a:spLocks noGrp="1"/>
          </p:cNvSpPr>
          <p:nvPr>
            <p:ph type="title"/>
          </p:nvPr>
        </p:nvSpPr>
        <p:spPr/>
        <p:txBody>
          <a:bodyPr>
            <a:normAutofit/>
          </a:bodyPr>
          <a:lstStyle/>
          <a:p>
            <a:r>
              <a:rPr lang="en-US" b="1" dirty="0">
                <a:solidFill>
                  <a:schemeClr val="tx1"/>
                </a:solidFill>
              </a:rPr>
              <a:t>Continuous Data Protection</a:t>
            </a:r>
            <a:endParaRPr lang="mr-IN" b="1" dirty="0"/>
          </a:p>
        </p:txBody>
      </p:sp>
    </p:spTree>
    <p:extLst>
      <p:ext uri="{BB962C8B-B14F-4D97-AF65-F5344CB8AC3E}">
        <p14:creationId xmlns:p14="http://schemas.microsoft.com/office/powerpoint/2010/main" val="27047360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4606" y="2708920"/>
            <a:ext cx="10945216" cy="3816424"/>
          </a:xfrm>
        </p:spPr>
        <p:txBody>
          <a:bodyPr/>
          <a:lstStyle/>
          <a:p>
            <a:r>
              <a:rPr lang="en-US" dirty="0">
                <a:solidFill>
                  <a:schemeClr val="tx1"/>
                </a:solidFill>
              </a:rPr>
              <a:t>Snowflake Time Travel enables accessing historical data (i.e. data that has been changed or deleted) at any point within a defined period.</a:t>
            </a:r>
          </a:p>
          <a:p>
            <a:r>
              <a:rPr lang="en-US" dirty="0">
                <a:solidFill>
                  <a:schemeClr val="tx1"/>
                </a:solidFill>
              </a:rPr>
              <a:t>Restoring data-related objects (tables, schemas, and databases) that might have been accidentally or intentionally deleted.</a:t>
            </a:r>
          </a:p>
          <a:p>
            <a:r>
              <a:rPr lang="en-US" dirty="0">
                <a:solidFill>
                  <a:schemeClr val="tx1"/>
                </a:solidFill>
              </a:rPr>
              <a:t>Query data in the past that has since been updated or deleted. </a:t>
            </a:r>
          </a:p>
          <a:p>
            <a:r>
              <a:rPr lang="en-US" dirty="0">
                <a:solidFill>
                  <a:schemeClr val="tx1"/>
                </a:solidFill>
              </a:rPr>
              <a:t>Duplicating and backing up data from key points in the past.</a:t>
            </a:r>
          </a:p>
          <a:p>
            <a:r>
              <a:rPr lang="en-US" dirty="0">
                <a:solidFill>
                  <a:schemeClr val="tx1"/>
                </a:solidFill>
              </a:rPr>
              <a:t>Analyzing data usage/manipulation over specified periods of time.</a:t>
            </a:r>
          </a:p>
          <a:p>
            <a:r>
              <a:rPr lang="en-US" dirty="0">
                <a:solidFill>
                  <a:schemeClr val="tx1"/>
                </a:solidFill>
              </a:rPr>
              <a:t>No need to enable Time Travel, it is automatically enabled.</a:t>
            </a: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Time Travel</a:t>
            </a:r>
            <a:endParaRPr lang="mr-IN" b="1" dirty="0">
              <a:solidFill>
                <a:schemeClr val="tx1"/>
              </a:solidFill>
            </a:endParaRPr>
          </a:p>
        </p:txBody>
      </p:sp>
    </p:spTree>
    <p:extLst>
      <p:ext uri="{BB962C8B-B14F-4D97-AF65-F5344CB8AC3E}">
        <p14:creationId xmlns:p14="http://schemas.microsoft.com/office/powerpoint/2010/main" val="384581682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78582" y="2636912"/>
            <a:ext cx="11377264" cy="3705275"/>
          </a:xfrm>
        </p:spPr>
        <p:txBody>
          <a:bodyPr>
            <a:normAutofit fontScale="92500"/>
          </a:bodyPr>
          <a:lstStyle/>
          <a:p>
            <a:r>
              <a:rPr lang="en-US" dirty="0">
                <a:solidFill>
                  <a:schemeClr val="tx1"/>
                </a:solidFill>
              </a:rPr>
              <a:t>Retention is the key component of Time Travel.</a:t>
            </a:r>
          </a:p>
          <a:p>
            <a:r>
              <a:rPr lang="en-US" dirty="0">
                <a:solidFill>
                  <a:schemeClr val="tx1"/>
                </a:solidFill>
              </a:rPr>
              <a:t>It specifies the number of days for which this historical data is preserved.</a:t>
            </a:r>
          </a:p>
          <a:p>
            <a:r>
              <a:rPr lang="en-US" dirty="0">
                <a:solidFill>
                  <a:schemeClr val="tx1"/>
                </a:solidFill>
              </a:rPr>
              <a:t>For Standard Edition, the retention period is 1 day, can set it to 0.</a:t>
            </a:r>
          </a:p>
          <a:p>
            <a:r>
              <a:rPr lang="en-US" dirty="0">
                <a:solidFill>
                  <a:schemeClr val="tx1"/>
                </a:solidFill>
              </a:rPr>
              <a:t>For Enterprise and higher editions it is 90 days, can set it any thing between 0-90 days.</a:t>
            </a:r>
          </a:p>
          <a:p>
            <a:r>
              <a:rPr lang="en-US" dirty="0">
                <a:solidFill>
                  <a:schemeClr val="tx1"/>
                </a:solidFill>
              </a:rPr>
              <a:t>Default is 1, we can set this period at the time of creation of object or can alter later.</a:t>
            </a:r>
          </a:p>
          <a:p>
            <a:r>
              <a:rPr lang="en-US" dirty="0">
                <a:solidFill>
                  <a:schemeClr val="tx1"/>
                </a:solidFill>
              </a:rPr>
              <a:t>A retention period of 0 days for any object means disabling Time Travel for the object.</a:t>
            </a:r>
          </a:p>
          <a:p>
            <a:r>
              <a:rPr lang="en-US" dirty="0">
                <a:solidFill>
                  <a:schemeClr val="tx1"/>
                </a:solidFill>
              </a:rPr>
              <a:t>We can change the retention period by using ALTER command.</a:t>
            </a:r>
          </a:p>
          <a:p>
            <a:r>
              <a:rPr lang="en-US" dirty="0">
                <a:solidFill>
                  <a:schemeClr val="tx1"/>
                </a:solidFill>
              </a:rPr>
              <a:t>Higher retention period, the higher storage cost.</a:t>
            </a: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Retention Period</a:t>
            </a:r>
            <a:endParaRPr lang="mr-IN" b="1" dirty="0">
              <a:solidFill>
                <a:schemeClr val="tx1"/>
              </a:solidFill>
            </a:endParaRPr>
          </a:p>
        </p:txBody>
      </p:sp>
    </p:spTree>
    <p:extLst>
      <p:ext uri="{BB962C8B-B14F-4D97-AF65-F5344CB8AC3E}">
        <p14:creationId xmlns:p14="http://schemas.microsoft.com/office/powerpoint/2010/main" val="249229066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06574" y="1988840"/>
            <a:ext cx="11449272" cy="4464496"/>
          </a:xfrm>
        </p:spPr>
        <p:txBody>
          <a:bodyPr>
            <a:normAutofit/>
          </a:bodyPr>
          <a:lstStyle/>
          <a:p>
            <a:pPr marL="0" indent="0">
              <a:buNone/>
            </a:pPr>
            <a:r>
              <a:rPr lang="en-US" dirty="0">
                <a:solidFill>
                  <a:schemeClr val="tx1"/>
                </a:solidFill>
              </a:rPr>
              <a:t>3 Ways to query historical data</a:t>
            </a:r>
          </a:p>
          <a:p>
            <a:endParaRPr lang="en-US" dirty="0">
              <a:solidFill>
                <a:schemeClr val="tx1"/>
              </a:solidFill>
            </a:endParaRPr>
          </a:p>
          <a:p>
            <a:r>
              <a:rPr lang="en-US" b="1" dirty="0">
                <a:solidFill>
                  <a:schemeClr val="tx1"/>
                </a:solidFill>
              </a:rPr>
              <a:t>At specified timestamp</a:t>
            </a:r>
          </a:p>
          <a:p>
            <a:pPr marL="0" indent="0">
              <a:buNone/>
            </a:pPr>
            <a:r>
              <a:rPr lang="en-US" i="1" dirty="0">
                <a:solidFill>
                  <a:schemeClr val="tx1"/>
                </a:solidFill>
              </a:rPr>
              <a:t>select * from </a:t>
            </a:r>
            <a:r>
              <a:rPr lang="en-US" i="1" dirty="0" err="1">
                <a:solidFill>
                  <a:schemeClr val="tx1"/>
                </a:solidFill>
              </a:rPr>
              <a:t>my_table</a:t>
            </a:r>
            <a:r>
              <a:rPr lang="en-US" i="1" dirty="0">
                <a:solidFill>
                  <a:schemeClr val="tx1"/>
                </a:solidFill>
              </a:rPr>
              <a:t> at(timestamp =&gt; 'Fri, 01 May 2015 16:20:00 -0700'::</a:t>
            </a:r>
            <a:r>
              <a:rPr lang="en-US" i="1" dirty="0" err="1">
                <a:solidFill>
                  <a:schemeClr val="tx1"/>
                </a:solidFill>
              </a:rPr>
              <a:t>timestamp_tz</a:t>
            </a:r>
            <a:r>
              <a:rPr lang="en-US" i="1" dirty="0">
                <a:solidFill>
                  <a:schemeClr val="tx1"/>
                </a:solidFill>
              </a:rPr>
              <a:t>);</a:t>
            </a:r>
          </a:p>
          <a:p>
            <a:endParaRPr lang="en-US" dirty="0">
              <a:solidFill>
                <a:schemeClr val="tx1"/>
              </a:solidFill>
            </a:endParaRPr>
          </a:p>
          <a:p>
            <a:r>
              <a:rPr lang="en-US" b="1" dirty="0">
                <a:solidFill>
                  <a:schemeClr val="tx1"/>
                </a:solidFill>
              </a:rPr>
              <a:t>At some time ago </a:t>
            </a:r>
          </a:p>
          <a:p>
            <a:pPr marL="0" indent="0">
              <a:buNone/>
            </a:pPr>
            <a:r>
              <a:rPr lang="en-US" i="1" dirty="0">
                <a:solidFill>
                  <a:schemeClr val="tx1"/>
                </a:solidFill>
              </a:rPr>
              <a:t>select * from </a:t>
            </a:r>
            <a:r>
              <a:rPr lang="en-US" i="1" dirty="0" err="1">
                <a:solidFill>
                  <a:schemeClr val="tx1"/>
                </a:solidFill>
              </a:rPr>
              <a:t>my_table</a:t>
            </a:r>
            <a:r>
              <a:rPr lang="en-US" i="1" dirty="0">
                <a:solidFill>
                  <a:schemeClr val="tx1"/>
                </a:solidFill>
              </a:rPr>
              <a:t> at(offset =&gt; -60*5);--------(</a:t>
            </a:r>
            <a:r>
              <a:rPr lang="en-US" dirty="0">
                <a:solidFill>
                  <a:srgbClr val="FF0000"/>
                </a:solidFill>
              </a:rPr>
              <a:t>5 minutes ago</a:t>
            </a:r>
            <a:r>
              <a:rPr lang="en-US" dirty="0"/>
              <a:t>)</a:t>
            </a:r>
            <a:endParaRPr lang="en-US" i="1" dirty="0">
              <a:solidFill>
                <a:schemeClr val="tx1"/>
              </a:solidFill>
            </a:endParaRPr>
          </a:p>
          <a:p>
            <a:endParaRPr lang="en-US" dirty="0">
              <a:solidFill>
                <a:schemeClr val="tx1"/>
              </a:solidFill>
            </a:endParaRPr>
          </a:p>
          <a:p>
            <a:r>
              <a:rPr lang="en-US" b="1" dirty="0">
                <a:solidFill>
                  <a:schemeClr val="tx1"/>
                </a:solidFill>
              </a:rPr>
              <a:t>Before executing any statement/query</a:t>
            </a:r>
          </a:p>
          <a:p>
            <a:pPr marL="0" indent="0">
              <a:buNone/>
            </a:pPr>
            <a:r>
              <a:rPr lang="en-US" i="1" dirty="0">
                <a:solidFill>
                  <a:schemeClr val="tx1"/>
                </a:solidFill>
              </a:rPr>
              <a:t>select * from </a:t>
            </a:r>
            <a:r>
              <a:rPr lang="en-US" i="1" dirty="0" err="1">
                <a:solidFill>
                  <a:schemeClr val="tx1"/>
                </a:solidFill>
              </a:rPr>
              <a:t>my_table</a:t>
            </a:r>
            <a:r>
              <a:rPr lang="en-US" i="1" dirty="0">
                <a:solidFill>
                  <a:schemeClr val="tx1"/>
                </a:solidFill>
              </a:rPr>
              <a:t> before(statement =&gt; '8e5d0ca9-005e-44e6-b858-a8f5b37c5726');</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endParaRPr lang="mr-IN" dirty="0">
              <a:solidFill>
                <a:schemeClr val="tx1"/>
              </a:solidFill>
            </a:endParaRP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Querying Historical Data</a:t>
            </a:r>
            <a:endParaRPr lang="mr-IN" b="1" dirty="0">
              <a:solidFill>
                <a:schemeClr val="tx1"/>
              </a:solidFill>
            </a:endParaRPr>
          </a:p>
        </p:txBody>
      </p:sp>
    </p:spTree>
    <p:extLst>
      <p:ext uri="{BB962C8B-B14F-4D97-AF65-F5344CB8AC3E}">
        <p14:creationId xmlns:p14="http://schemas.microsoft.com/office/powerpoint/2010/main" val="14232683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22598" y="2492896"/>
            <a:ext cx="10416499" cy="3633267"/>
          </a:xfrm>
        </p:spPr>
        <p:txBody>
          <a:bodyPr>
            <a:normAutofit/>
          </a:bodyPr>
          <a:lstStyle/>
          <a:p>
            <a:r>
              <a:rPr lang="en-US" dirty="0">
                <a:solidFill>
                  <a:schemeClr val="tx1"/>
                </a:solidFill>
              </a:rPr>
              <a:t>When a table, schema, or database is dropped, it is not immediately removed from the system. </a:t>
            </a:r>
          </a:p>
          <a:p>
            <a:r>
              <a:rPr lang="en-US" dirty="0">
                <a:solidFill>
                  <a:schemeClr val="tx1"/>
                </a:solidFill>
              </a:rPr>
              <a:t>Instead, it is retained for the data retention period for the object, during which time the object can be restored. </a:t>
            </a:r>
          </a:p>
          <a:p>
            <a:r>
              <a:rPr lang="en-US" dirty="0">
                <a:solidFill>
                  <a:schemeClr val="tx1"/>
                </a:solidFill>
              </a:rPr>
              <a:t>After retention period is completed, we can’t restore the objects.</a:t>
            </a:r>
            <a:endParaRPr lang="en-US" sz="2000" dirty="0">
              <a:solidFill>
                <a:schemeClr val="tx1"/>
              </a:solidFill>
            </a:endParaRPr>
          </a:p>
          <a:p>
            <a:pPr marL="457200" lvl="1" indent="0">
              <a:buNone/>
            </a:pPr>
            <a:endParaRPr lang="en-US" sz="2000" dirty="0">
              <a:solidFill>
                <a:schemeClr val="tx1"/>
              </a:solidFill>
            </a:endParaRPr>
          </a:p>
          <a:p>
            <a:pPr marL="457200" lvl="1" indent="0">
              <a:buNone/>
            </a:pPr>
            <a:r>
              <a:rPr lang="en-US" sz="2000" dirty="0">
                <a:solidFill>
                  <a:schemeClr val="tx1"/>
                </a:solidFill>
              </a:rPr>
              <a:t>UNDROP TABLE </a:t>
            </a:r>
            <a:r>
              <a:rPr lang="en-US" sz="2000" i="1" dirty="0">
                <a:solidFill>
                  <a:schemeClr val="tx1"/>
                </a:solidFill>
              </a:rPr>
              <a:t>‘TABLE_NAME’</a:t>
            </a:r>
          </a:p>
          <a:p>
            <a:pPr marL="457200" lvl="1" indent="0">
              <a:buNone/>
            </a:pPr>
            <a:r>
              <a:rPr lang="en-US" sz="2000" dirty="0">
                <a:solidFill>
                  <a:schemeClr val="tx1"/>
                </a:solidFill>
              </a:rPr>
              <a:t>UNDROP SCHEMA </a:t>
            </a:r>
            <a:r>
              <a:rPr lang="en-US" sz="2000" i="1" dirty="0">
                <a:solidFill>
                  <a:schemeClr val="tx1"/>
                </a:solidFill>
              </a:rPr>
              <a:t>‘SCHEMA_NAME’</a:t>
            </a:r>
          </a:p>
          <a:p>
            <a:pPr marL="457200" lvl="1" indent="0">
              <a:buNone/>
            </a:pPr>
            <a:r>
              <a:rPr lang="en-US" sz="2000" dirty="0">
                <a:solidFill>
                  <a:schemeClr val="tx1"/>
                </a:solidFill>
              </a:rPr>
              <a:t>UNDROP DATABASE </a:t>
            </a:r>
            <a:r>
              <a:rPr lang="en-US" sz="2000" i="1" dirty="0">
                <a:solidFill>
                  <a:schemeClr val="tx1"/>
                </a:solidFill>
              </a:rPr>
              <a:t>‘DATABASE_NAME’</a:t>
            </a:r>
          </a:p>
          <a:p>
            <a:endParaRPr lang="mr-IN" dirty="0">
              <a:solidFill>
                <a:schemeClr val="tx1"/>
              </a:solidFill>
            </a:endParaRP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Restoring Objects</a:t>
            </a:r>
            <a:endParaRPr lang="mr-IN" b="1" dirty="0">
              <a:solidFill>
                <a:schemeClr val="tx1"/>
              </a:solidFill>
            </a:endParaRPr>
          </a:p>
        </p:txBody>
      </p:sp>
    </p:spTree>
    <p:extLst>
      <p:ext uri="{BB962C8B-B14F-4D97-AF65-F5344CB8AC3E}">
        <p14:creationId xmlns:p14="http://schemas.microsoft.com/office/powerpoint/2010/main" val="262040864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22598" y="2564904"/>
            <a:ext cx="11233248" cy="3561259"/>
          </a:xfrm>
        </p:spPr>
        <p:txBody>
          <a:bodyPr>
            <a:normAutofit fontScale="85000" lnSpcReduction="20000"/>
          </a:bodyPr>
          <a:lstStyle/>
          <a:p>
            <a:r>
              <a:rPr lang="en-US" dirty="0">
                <a:solidFill>
                  <a:schemeClr val="tx1"/>
                </a:solidFill>
              </a:rPr>
              <a:t>Fail-safe provides a 7-day period during which historical data may be recoverable by Snowflake.</a:t>
            </a:r>
          </a:p>
          <a:p>
            <a:endParaRPr lang="en-US" dirty="0">
              <a:solidFill>
                <a:schemeClr val="tx1"/>
              </a:solidFill>
            </a:endParaRPr>
          </a:p>
          <a:p>
            <a:r>
              <a:rPr lang="en-US" dirty="0">
                <a:solidFill>
                  <a:schemeClr val="tx1"/>
                </a:solidFill>
              </a:rPr>
              <a:t>This period starts immediately after the Time Travel retention period ends. </a:t>
            </a:r>
          </a:p>
          <a:p>
            <a:endParaRPr lang="en-US" dirty="0">
              <a:solidFill>
                <a:schemeClr val="tx1"/>
              </a:solidFill>
            </a:endParaRPr>
          </a:p>
          <a:p>
            <a:r>
              <a:rPr lang="en-US" dirty="0">
                <a:solidFill>
                  <a:schemeClr val="tx1"/>
                </a:solidFill>
              </a:rPr>
              <a:t>We can't query or restore the Fail-safe data.</a:t>
            </a:r>
          </a:p>
          <a:p>
            <a:endParaRPr lang="en-US" dirty="0">
              <a:solidFill>
                <a:schemeClr val="tx1"/>
              </a:solidFill>
            </a:endParaRPr>
          </a:p>
          <a:p>
            <a:r>
              <a:rPr lang="en-US" dirty="0">
                <a:solidFill>
                  <a:schemeClr val="tx1"/>
                </a:solidFill>
              </a:rPr>
              <a:t>We need to contact Snowflake Support to restore the data during Fail-safe period.</a:t>
            </a:r>
          </a:p>
          <a:p>
            <a:endParaRPr lang="en-US" dirty="0">
              <a:solidFill>
                <a:schemeClr val="tx1"/>
              </a:solidFill>
            </a:endParaRPr>
          </a:p>
          <a:p>
            <a:r>
              <a:rPr lang="en-US" dirty="0">
                <a:solidFill>
                  <a:schemeClr val="tx1"/>
                </a:solidFill>
              </a:rPr>
              <a:t>Data recovery through Fail-safe may take several hours to several days to complete.</a:t>
            </a:r>
          </a:p>
          <a:p>
            <a:endParaRPr lang="en-US" dirty="0">
              <a:solidFill>
                <a:schemeClr val="tx1"/>
              </a:solidFill>
            </a:endParaRPr>
          </a:p>
          <a:p>
            <a:r>
              <a:rPr lang="en-US" dirty="0">
                <a:solidFill>
                  <a:schemeClr val="tx1"/>
                </a:solidFill>
              </a:rPr>
              <a:t>After Fail-safe period is over, there is no other way to recover the data.</a:t>
            </a:r>
            <a:endParaRPr lang="en-US" sz="2000" i="1" dirty="0">
              <a:solidFill>
                <a:schemeClr val="tx1"/>
              </a:solidFill>
            </a:endParaRP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Fail-safe</a:t>
            </a:r>
            <a:endParaRPr lang="mr-IN" b="1" dirty="0">
              <a:solidFill>
                <a:schemeClr val="tx1"/>
              </a:solidFill>
            </a:endParaRPr>
          </a:p>
        </p:txBody>
      </p:sp>
    </p:spTree>
    <p:extLst>
      <p:ext uri="{BB962C8B-B14F-4D97-AF65-F5344CB8AC3E}">
        <p14:creationId xmlns:p14="http://schemas.microsoft.com/office/powerpoint/2010/main" val="26080271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mr-IN" dirty="0"/>
          </a:p>
        </p:txBody>
      </p:sp>
      <p:sp>
        <p:nvSpPr>
          <p:cNvPr id="3" name="Title 2"/>
          <p:cNvSpPr>
            <a:spLocks noGrp="1"/>
          </p:cNvSpPr>
          <p:nvPr>
            <p:ph type="title"/>
          </p:nvPr>
        </p:nvSpPr>
        <p:spPr/>
        <p:txBody>
          <a:bodyPr/>
          <a:lstStyle/>
          <a:p>
            <a:r>
              <a:rPr lang="en-US" b="1" dirty="0">
                <a:solidFill>
                  <a:schemeClr val="tx1"/>
                </a:solidFill>
                <a:latin typeface="Helvetica" panose="020B0604020202020204" pitchFamily="34" charset="0"/>
              </a:rPr>
              <a:t>Continuous Data Protection Life Cycle</a:t>
            </a:r>
            <a:endParaRPr lang="mr-IN" b="1" dirty="0">
              <a:solidFill>
                <a:schemeClr val="tx1"/>
              </a:solidFill>
            </a:endParaRPr>
          </a:p>
        </p:txBody>
      </p:sp>
      <p:pic>
        <p:nvPicPr>
          <p:cNvPr id="4" name="Content Placeholder 4" descr="Fail-safe in Continuous Data Protection lifecycle">
            <a:extLst>
              <a:ext uri="{FF2B5EF4-FFF2-40B4-BE49-F238E27FC236}">
                <a16:creationId xmlns:a16="http://schemas.microsoft.com/office/drawing/2014/main" id="{2BC96D48-AAA3-4B7E-96D0-4E195B4086E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218"/>
          <a:stretch/>
        </p:blipFill>
        <p:spPr bwMode="auto">
          <a:xfrm>
            <a:off x="406574" y="2636912"/>
            <a:ext cx="11449272" cy="396044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776386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162605" y="2675467"/>
            <a:ext cx="9876492" cy="1113573"/>
          </a:xfrm>
        </p:spPr>
        <p:txBody>
          <a:bodyPr/>
          <a:lstStyle/>
          <a:p>
            <a:r>
              <a:rPr lang="en-US" dirty="0"/>
              <a:t>This feature falls under “</a:t>
            </a:r>
            <a:r>
              <a:rPr lang="en-US" b="1" dirty="0"/>
              <a:t>Know your data-who accessed it</a:t>
            </a:r>
            <a:r>
              <a:rPr lang="en-US" dirty="0"/>
              <a:t>” category and requires </a:t>
            </a:r>
            <a:r>
              <a:rPr lang="en-US" b="1" dirty="0"/>
              <a:t>Enterprise Edition (or higher)</a:t>
            </a:r>
            <a:r>
              <a:rPr lang="en-US" dirty="0"/>
              <a:t>.</a:t>
            </a:r>
          </a:p>
          <a:p>
            <a:endParaRPr lang="mr-IN" dirty="0"/>
          </a:p>
        </p:txBody>
      </p:sp>
      <p:sp>
        <p:nvSpPr>
          <p:cNvPr id="3" name="Title 2"/>
          <p:cNvSpPr>
            <a:spLocks noGrp="1"/>
          </p:cNvSpPr>
          <p:nvPr>
            <p:ph type="title"/>
          </p:nvPr>
        </p:nvSpPr>
        <p:spPr/>
        <p:txBody>
          <a:bodyPr>
            <a:normAutofit/>
          </a:bodyPr>
          <a:lstStyle/>
          <a:p>
            <a:r>
              <a:rPr lang="en-US" b="1" dirty="0">
                <a:solidFill>
                  <a:schemeClr val="tx1"/>
                </a:solidFill>
              </a:rPr>
              <a:t>Data Governance: Access History Overview</a:t>
            </a:r>
            <a:endParaRPr lang="mr-IN" dirty="0">
              <a:solidFill>
                <a:schemeClr val="tx1"/>
              </a:solidFill>
            </a:endParaRPr>
          </a:p>
        </p:txBody>
      </p:sp>
    </p:spTree>
    <p:extLst>
      <p:ext uri="{BB962C8B-B14F-4D97-AF65-F5344CB8AC3E}">
        <p14:creationId xmlns:p14="http://schemas.microsoft.com/office/powerpoint/2010/main" val="101744430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mr-IN"/>
          </a:p>
        </p:txBody>
      </p:sp>
      <p:sp>
        <p:nvSpPr>
          <p:cNvPr id="3" name="Title 2"/>
          <p:cNvSpPr>
            <a:spLocks noGrp="1"/>
          </p:cNvSpPr>
          <p:nvPr>
            <p:ph type="title"/>
          </p:nvPr>
        </p:nvSpPr>
        <p:spPr/>
        <p:txBody>
          <a:bodyPr/>
          <a:lstStyle/>
          <a:p>
            <a:endParaRPr lang="mr-IN"/>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14600"/>
          <a:stretch/>
        </p:blipFill>
        <p:spPr bwMode="auto">
          <a:xfrm>
            <a:off x="118542" y="189220"/>
            <a:ext cx="11953328" cy="6408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7218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50590" y="2492896"/>
            <a:ext cx="11233248" cy="4032448"/>
          </a:xfrm>
        </p:spPr>
        <p:txBody>
          <a:bodyPr>
            <a:normAutofit fontScale="92500" lnSpcReduction="10000"/>
          </a:bodyPr>
          <a:lstStyle/>
          <a:p>
            <a:r>
              <a:rPr lang="en-US" dirty="0">
                <a:solidFill>
                  <a:schemeClr val="tx1"/>
                </a:solidFill>
                <a:latin typeface="ArialMT"/>
              </a:rPr>
              <a:t>Snowflake allows you to create clones, also known as “zero-copy clones” of tables, schemas, and databases in seconds.</a:t>
            </a:r>
          </a:p>
          <a:p>
            <a:r>
              <a:rPr lang="en-US" dirty="0">
                <a:solidFill>
                  <a:schemeClr val="tx1"/>
                </a:solidFill>
                <a:latin typeface="ArialMT"/>
              </a:rPr>
              <a:t>We can maintain multiple copies of data with no additional cost, so call zero copy.</a:t>
            </a:r>
          </a:p>
          <a:p>
            <a:r>
              <a:rPr lang="en-US" dirty="0">
                <a:solidFill>
                  <a:schemeClr val="tx1"/>
                </a:solidFill>
                <a:latin typeface="ArialMT"/>
              </a:rPr>
              <a:t>A snapshot of data present in the source object is taken when the clone is created, and is made available to the cloned object. </a:t>
            </a:r>
          </a:p>
          <a:p>
            <a:r>
              <a:rPr lang="en-US" dirty="0">
                <a:solidFill>
                  <a:schemeClr val="tx1"/>
                </a:solidFill>
                <a:latin typeface="ArialMT"/>
              </a:rPr>
              <a:t>The cloned object is writable, and is independent of the clone source. </a:t>
            </a:r>
          </a:p>
          <a:p>
            <a:r>
              <a:rPr lang="en-US" dirty="0">
                <a:solidFill>
                  <a:schemeClr val="tx1"/>
                </a:solidFill>
                <a:latin typeface="ArialMT"/>
              </a:rPr>
              <a:t>Changes made to either the source object or the cloned object are not part of the other.</a:t>
            </a:r>
          </a:p>
          <a:p>
            <a:r>
              <a:rPr lang="en-US" dirty="0">
                <a:solidFill>
                  <a:schemeClr val="tx1"/>
                </a:solidFill>
                <a:latin typeface="ArialMT"/>
              </a:rPr>
              <a:t>Two popular use cases of cloning in real time are</a:t>
            </a:r>
          </a:p>
          <a:p>
            <a:pPr lvl="1">
              <a:buFont typeface="Wingdings" pitchFamily="2" charset="2"/>
              <a:buChar char="v"/>
            </a:pPr>
            <a:r>
              <a:rPr lang="en-US" dirty="0">
                <a:solidFill>
                  <a:schemeClr val="tx1"/>
                </a:solidFill>
                <a:latin typeface="ArialMT"/>
              </a:rPr>
              <a:t>Cloning Prod data into </a:t>
            </a:r>
            <a:r>
              <a:rPr lang="en-US" dirty="0" err="1">
                <a:solidFill>
                  <a:schemeClr val="tx1"/>
                </a:solidFill>
                <a:latin typeface="ArialMT"/>
              </a:rPr>
              <a:t>Dev</a:t>
            </a:r>
            <a:r>
              <a:rPr lang="en-US" dirty="0">
                <a:solidFill>
                  <a:schemeClr val="tx1"/>
                </a:solidFill>
                <a:latin typeface="ArialMT"/>
              </a:rPr>
              <a:t>/Test environment for our unit testing in the lower environment</a:t>
            </a:r>
          </a:p>
          <a:p>
            <a:pPr lvl="1">
              <a:buFont typeface="Wingdings" pitchFamily="2" charset="2"/>
              <a:buChar char="v"/>
            </a:pPr>
            <a:r>
              <a:rPr lang="en-US" dirty="0">
                <a:solidFill>
                  <a:schemeClr val="tx1"/>
                </a:solidFill>
                <a:latin typeface="ArialMT"/>
              </a:rPr>
              <a:t>Taking back up of data</a:t>
            </a:r>
            <a:endParaRPr lang="en-US" dirty="0">
              <a:solidFill>
                <a:schemeClr val="tx1"/>
              </a:solidFill>
            </a:endParaRPr>
          </a:p>
          <a:p>
            <a:pPr marL="0" indent="0">
              <a:buNone/>
            </a:pPr>
            <a:endParaRPr lang="mr-IN" dirty="0">
              <a:solidFill>
                <a:schemeClr val="tx1"/>
              </a:solidFill>
            </a:endParaRP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Zero-Copy Cloning</a:t>
            </a:r>
            <a:endParaRPr lang="mr-IN" b="1" dirty="0">
              <a:solidFill>
                <a:schemeClr val="tx1"/>
              </a:solidFill>
            </a:endParaRPr>
          </a:p>
        </p:txBody>
      </p:sp>
    </p:spTree>
    <p:extLst>
      <p:ext uri="{BB962C8B-B14F-4D97-AF65-F5344CB8AC3E}">
        <p14:creationId xmlns:p14="http://schemas.microsoft.com/office/powerpoint/2010/main" val="199909193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06574" y="2564904"/>
            <a:ext cx="11377264" cy="3888432"/>
          </a:xfrm>
        </p:spPr>
        <p:txBody>
          <a:bodyPr>
            <a:normAutofit fontScale="92500" lnSpcReduction="20000"/>
          </a:bodyPr>
          <a:lstStyle/>
          <a:p>
            <a:r>
              <a:rPr lang="en-US" dirty="0">
                <a:solidFill>
                  <a:schemeClr val="tx1"/>
                </a:solidFill>
              </a:rPr>
              <a:t>CREATE OR REPLACE  </a:t>
            </a:r>
            <a:r>
              <a:rPr lang="en-US" i="1" dirty="0">
                <a:solidFill>
                  <a:schemeClr val="tx1"/>
                </a:solidFill>
              </a:rPr>
              <a:t>‘CLONED_OBJECT_TYPE’  ‘CLONED_OBJECT_NAME’	</a:t>
            </a:r>
          </a:p>
          <a:p>
            <a:pPr marL="0" indent="0">
              <a:buNone/>
            </a:pPr>
            <a:r>
              <a:rPr lang="en-US" dirty="0">
                <a:solidFill>
                  <a:schemeClr val="tx1"/>
                </a:solidFill>
              </a:rPr>
              <a:t>	CLONE </a:t>
            </a:r>
            <a:r>
              <a:rPr lang="en-US" i="1" dirty="0">
                <a:solidFill>
                  <a:schemeClr val="tx1"/>
                </a:solidFill>
              </a:rPr>
              <a:t>‘SOURCE_OBJECT’;</a:t>
            </a:r>
          </a:p>
          <a:p>
            <a:pPr marL="0" indent="0">
              <a:buNone/>
            </a:pPr>
            <a:endParaRPr lang="en-US" i="1" dirty="0">
              <a:solidFill>
                <a:schemeClr val="tx1"/>
              </a:solidFill>
            </a:endParaRPr>
          </a:p>
          <a:p>
            <a:pPr marL="0" indent="0">
              <a:buNone/>
            </a:pPr>
            <a:r>
              <a:rPr lang="en-US" dirty="0">
                <a:solidFill>
                  <a:schemeClr val="tx1"/>
                </a:solidFill>
                <a:sym typeface="Wingdings" panose="05000000000000000000" pitchFamily="2" charset="2"/>
              </a:rPr>
              <a:t> </a:t>
            </a:r>
            <a:r>
              <a:rPr lang="en-US" dirty="0">
                <a:solidFill>
                  <a:schemeClr val="tx1"/>
                </a:solidFill>
              </a:rPr>
              <a:t>Here Clone object type can be</a:t>
            </a:r>
          </a:p>
          <a:p>
            <a:pPr marL="0" indent="0">
              <a:buNone/>
            </a:pPr>
            <a:r>
              <a:rPr lang="en-US" dirty="0">
                <a:solidFill>
                  <a:schemeClr val="tx1"/>
                </a:solidFill>
              </a:rPr>
              <a:t>Database</a:t>
            </a:r>
          </a:p>
          <a:p>
            <a:pPr marL="0" indent="0">
              <a:buNone/>
            </a:pPr>
            <a:r>
              <a:rPr lang="en-US" dirty="0">
                <a:solidFill>
                  <a:schemeClr val="tx1"/>
                </a:solidFill>
              </a:rPr>
              <a:t>Schema</a:t>
            </a:r>
          </a:p>
          <a:p>
            <a:pPr marL="0" indent="0">
              <a:buNone/>
            </a:pPr>
            <a:r>
              <a:rPr lang="en-US" dirty="0">
                <a:solidFill>
                  <a:schemeClr val="tx1"/>
                </a:solidFill>
              </a:rPr>
              <a:t>Table</a:t>
            </a:r>
          </a:p>
          <a:p>
            <a:pPr marL="0" indent="0">
              <a:buNone/>
            </a:pPr>
            <a:r>
              <a:rPr lang="en-US" dirty="0">
                <a:solidFill>
                  <a:schemeClr val="tx1"/>
                </a:solidFill>
              </a:rPr>
              <a:t>Stage</a:t>
            </a:r>
          </a:p>
          <a:p>
            <a:pPr marL="0" indent="0">
              <a:buNone/>
            </a:pPr>
            <a:r>
              <a:rPr lang="en-US" dirty="0">
                <a:solidFill>
                  <a:schemeClr val="tx1"/>
                </a:solidFill>
              </a:rPr>
              <a:t>File Format</a:t>
            </a:r>
          </a:p>
          <a:p>
            <a:pPr marL="0" indent="0">
              <a:buNone/>
            </a:pPr>
            <a:r>
              <a:rPr lang="en-US" dirty="0">
                <a:solidFill>
                  <a:schemeClr val="tx1"/>
                </a:solidFill>
              </a:rPr>
              <a:t>Task</a:t>
            </a:r>
          </a:p>
          <a:p>
            <a:pPr marL="0" indent="0">
              <a:buNone/>
            </a:pPr>
            <a:r>
              <a:rPr lang="en-US" dirty="0">
                <a:solidFill>
                  <a:schemeClr val="tx1"/>
                </a:solidFill>
              </a:rPr>
              <a:t>Stream</a:t>
            </a: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Cloning syntax</a:t>
            </a:r>
            <a:endParaRPr lang="mr-IN" b="1" dirty="0">
              <a:solidFill>
                <a:schemeClr val="tx1"/>
              </a:solidFill>
            </a:endParaRPr>
          </a:p>
        </p:txBody>
      </p:sp>
    </p:spTree>
    <p:extLst>
      <p:ext uri="{BB962C8B-B14F-4D97-AF65-F5344CB8AC3E}">
        <p14:creationId xmlns:p14="http://schemas.microsoft.com/office/powerpoint/2010/main" val="179818842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78582" y="2675467"/>
            <a:ext cx="11377264" cy="3450696"/>
          </a:xfrm>
        </p:spPr>
        <p:txBody>
          <a:bodyPr>
            <a:normAutofit fontScale="85000" lnSpcReduction="10000"/>
          </a:bodyPr>
          <a:lstStyle/>
          <a:p>
            <a:pPr>
              <a:lnSpc>
                <a:spcPct val="100000"/>
              </a:lnSpc>
              <a:spcBef>
                <a:spcPts val="300"/>
              </a:spcBef>
              <a:spcAft>
                <a:spcPts val="300"/>
              </a:spcAft>
            </a:pPr>
            <a:r>
              <a:rPr lang="en-US" dirty="0">
                <a:solidFill>
                  <a:schemeClr val="tx1"/>
                </a:solidFill>
                <a:latin typeface="Arial" panose="020B0604020202020204" pitchFamily="34" charset="0"/>
                <a:cs typeface="Arial" panose="020B0604020202020204" pitchFamily="34" charset="0"/>
              </a:rPr>
              <a:t>A stream object records DML changes made to tables including inserts, updates, and deletes.</a:t>
            </a:r>
          </a:p>
          <a:p>
            <a:pPr>
              <a:lnSpc>
                <a:spcPct val="100000"/>
              </a:lnSpc>
              <a:spcBef>
                <a:spcPts val="300"/>
              </a:spcBef>
              <a:spcAft>
                <a:spcPts val="300"/>
              </a:spcAft>
            </a:pPr>
            <a:r>
              <a:rPr lang="en-US" dirty="0">
                <a:solidFill>
                  <a:schemeClr val="tx1"/>
                </a:solidFill>
                <a:latin typeface="Arial" panose="020B0604020202020204" pitchFamily="34" charset="0"/>
                <a:cs typeface="Arial" panose="020B0604020202020204" pitchFamily="34" charset="0"/>
              </a:rPr>
              <a:t>Also Stream stores metadata about each change, so that actions can be taken using this metadata.</a:t>
            </a:r>
          </a:p>
          <a:p>
            <a:pPr>
              <a:lnSpc>
                <a:spcPct val="100000"/>
              </a:lnSpc>
              <a:spcBef>
                <a:spcPts val="300"/>
              </a:spcBef>
              <a:spcAft>
                <a:spcPts val="300"/>
              </a:spcAft>
            </a:pPr>
            <a:r>
              <a:rPr lang="en-US" dirty="0">
                <a:solidFill>
                  <a:schemeClr val="tx1"/>
                </a:solidFill>
                <a:latin typeface="Arial" panose="020B0604020202020204" pitchFamily="34" charset="0"/>
                <a:cs typeface="Arial" panose="020B0604020202020204" pitchFamily="34" charset="0"/>
              </a:rPr>
              <a:t>We call this process as change data capture (CDC). </a:t>
            </a:r>
          </a:p>
          <a:p>
            <a:pPr>
              <a:lnSpc>
                <a:spcPct val="100000"/>
              </a:lnSpc>
              <a:spcBef>
                <a:spcPts val="300"/>
              </a:spcBef>
              <a:spcAft>
                <a:spcPts val="300"/>
              </a:spcAft>
            </a:pPr>
            <a:r>
              <a:rPr lang="en-US" dirty="0">
                <a:solidFill>
                  <a:schemeClr val="tx1"/>
                </a:solidFill>
                <a:latin typeface="Arial" panose="020B0604020202020204" pitchFamily="34" charset="0"/>
                <a:cs typeface="Arial" panose="020B0604020202020204" pitchFamily="34" charset="0"/>
              </a:rPr>
              <a:t>Streams tracks all row level changes to a source table using offset but doesn't store the changed data.</a:t>
            </a:r>
          </a:p>
          <a:p>
            <a:pPr>
              <a:lnSpc>
                <a:spcPct val="100000"/>
              </a:lnSpc>
              <a:spcBef>
                <a:spcPts val="300"/>
              </a:spcBef>
              <a:spcAft>
                <a:spcPts val="300"/>
              </a:spcAft>
            </a:pPr>
            <a:r>
              <a:rPr lang="en-US" dirty="0">
                <a:solidFill>
                  <a:schemeClr val="tx1"/>
                </a:solidFill>
                <a:latin typeface="Arial" panose="020B0604020202020204" pitchFamily="34" charset="0"/>
                <a:cs typeface="Arial" panose="020B0604020202020204" pitchFamily="34" charset="0"/>
              </a:rPr>
              <a:t>Once these changes are consumed by the Target table, this offset moves to the next point.</a:t>
            </a:r>
          </a:p>
          <a:p>
            <a:pPr>
              <a:lnSpc>
                <a:spcPct val="100000"/>
              </a:lnSpc>
              <a:spcBef>
                <a:spcPts val="300"/>
              </a:spcBef>
              <a:spcAft>
                <a:spcPts val="300"/>
              </a:spcAft>
            </a:pPr>
            <a:r>
              <a:rPr lang="en-US" dirty="0">
                <a:solidFill>
                  <a:schemeClr val="tx1"/>
                </a:solidFill>
                <a:latin typeface="Arial" panose="020B0604020202020204" pitchFamily="34" charset="0"/>
                <a:cs typeface="Arial" panose="020B0604020202020204" pitchFamily="34" charset="0"/>
              </a:rPr>
              <a:t>Streams can be combined with tasks to set continuous data pipelines.</a:t>
            </a:r>
          </a:p>
          <a:p>
            <a:pPr>
              <a:lnSpc>
                <a:spcPct val="100000"/>
              </a:lnSpc>
              <a:spcBef>
                <a:spcPts val="300"/>
              </a:spcBef>
              <a:spcAft>
                <a:spcPts val="300"/>
              </a:spcAft>
            </a:pPr>
            <a:r>
              <a:rPr lang="en-US" dirty="0" err="1">
                <a:solidFill>
                  <a:schemeClr val="tx1"/>
                </a:solidFill>
                <a:latin typeface="Arial" panose="020B0604020202020204" pitchFamily="34" charset="0"/>
                <a:cs typeface="Arial" panose="020B0604020202020204" pitchFamily="34" charset="0"/>
              </a:rPr>
              <a:t>Snowpipe</a:t>
            </a:r>
            <a:r>
              <a:rPr lang="en-US" dirty="0">
                <a:solidFill>
                  <a:schemeClr val="tx1"/>
                </a:solidFill>
                <a:latin typeface="Arial" panose="020B0604020202020204" pitchFamily="34" charset="0"/>
                <a:cs typeface="Arial" panose="020B0604020202020204" pitchFamily="34" charset="0"/>
              </a:rPr>
              <a:t> + Stream + Task </a:t>
            </a:r>
            <a:r>
              <a:rPr lang="en-US" dirty="0">
                <a:solidFill>
                  <a:schemeClr val="tx1"/>
                </a:solidFill>
                <a:latin typeface="Arial" panose="020B0604020202020204" pitchFamily="34" charset="0"/>
                <a:cs typeface="Arial" panose="020B0604020202020204" pitchFamily="34" charset="0"/>
                <a:sym typeface="Wingdings" panose="05000000000000000000" pitchFamily="2" charset="2"/>
              </a:rPr>
              <a:t> Continuous Data Load.</a:t>
            </a:r>
            <a:endParaRPr lang="en-IN" dirty="0">
              <a:solidFill>
                <a:schemeClr val="tx1"/>
              </a:solidFill>
              <a:latin typeface="Arial" panose="020B0604020202020204" pitchFamily="34" charset="0"/>
              <a:cs typeface="Arial" panose="020B0604020202020204" pitchFamily="34" charset="0"/>
            </a:endParaRPr>
          </a:p>
          <a:p>
            <a:pPr marL="0" indent="0">
              <a:buNone/>
            </a:pPr>
            <a:endParaRPr lang="mr-IN" dirty="0">
              <a:solidFill>
                <a:schemeClr val="tx1"/>
              </a:solidFill>
            </a:endParaRP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Streams in Snowflake</a:t>
            </a:r>
            <a:endParaRPr lang="mr-IN" b="1" dirty="0">
              <a:solidFill>
                <a:schemeClr val="tx1"/>
              </a:solidFill>
            </a:endParaRPr>
          </a:p>
        </p:txBody>
      </p:sp>
    </p:spTree>
    <p:extLst>
      <p:ext uri="{BB962C8B-B14F-4D97-AF65-F5344CB8AC3E}">
        <p14:creationId xmlns:p14="http://schemas.microsoft.com/office/powerpoint/2010/main" val="113381015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10000"/>
          </a:bodyPr>
          <a:lstStyle/>
          <a:p>
            <a:pPr marL="0" indent="0">
              <a:lnSpc>
                <a:spcPct val="110000"/>
              </a:lnSpc>
              <a:spcBef>
                <a:spcPts val="600"/>
              </a:spcBef>
              <a:spcAft>
                <a:spcPts val="600"/>
              </a:spcAft>
              <a:buNone/>
            </a:pPr>
            <a:r>
              <a:rPr lang="en-US" dirty="0">
                <a:latin typeface="Arial" panose="020B0604020202020204" pitchFamily="34" charset="0"/>
                <a:cs typeface="Arial" panose="020B0604020202020204" pitchFamily="34" charset="0"/>
              </a:rPr>
              <a:t>Along with the changes made to the source table, Streams maintain 3 metadata fields.</a:t>
            </a:r>
          </a:p>
          <a:p>
            <a:pPr marL="0" indent="0">
              <a:lnSpc>
                <a:spcPct val="110000"/>
              </a:lnSpc>
              <a:spcBef>
                <a:spcPts val="600"/>
              </a:spcBef>
              <a:spcAft>
                <a:spcPts val="600"/>
              </a:spcAft>
              <a:buNone/>
            </a:pPr>
            <a:r>
              <a:rPr lang="en-US" b="1" dirty="0">
                <a:latin typeface="Arial" panose="020B0604020202020204" pitchFamily="34" charset="0"/>
                <a:cs typeface="Arial" panose="020B0604020202020204" pitchFamily="34" charset="0"/>
              </a:rPr>
              <a:t>1. METADATA$ACTION: </a:t>
            </a:r>
            <a:r>
              <a:rPr lang="en-US" dirty="0">
                <a:latin typeface="Arial" panose="020B0604020202020204" pitchFamily="34" charset="0"/>
                <a:cs typeface="Arial" panose="020B0604020202020204" pitchFamily="34" charset="0"/>
              </a:rPr>
              <a:t>Indicates the DML operation (INSERT, DELETE) recorded.</a:t>
            </a:r>
          </a:p>
          <a:p>
            <a:pPr marL="0" indent="0">
              <a:lnSpc>
                <a:spcPct val="110000"/>
              </a:lnSpc>
              <a:spcBef>
                <a:spcPts val="600"/>
              </a:spcBef>
              <a:spcAft>
                <a:spcPts val="600"/>
              </a:spcAft>
              <a:buNone/>
            </a:pPr>
            <a:r>
              <a:rPr lang="en-US" b="1" dirty="0">
                <a:latin typeface="Arial" panose="020B0604020202020204" pitchFamily="34" charset="0"/>
                <a:cs typeface="Arial" panose="020B0604020202020204" pitchFamily="34" charset="0"/>
              </a:rPr>
              <a:t>2. METADATA$ISUPDATE: </a:t>
            </a:r>
            <a:r>
              <a:rPr lang="en-US" dirty="0">
                <a:latin typeface="Arial" panose="020B0604020202020204" pitchFamily="34" charset="0"/>
                <a:cs typeface="Arial" panose="020B0604020202020204" pitchFamily="34" charset="0"/>
              </a:rPr>
              <a:t>Indicates whether the operation was part of an UPDATE statement. Updates to rows in the source object are represented as a pair of DELETE and INSERT records in the stream with a metadata column METADATA$ISUPDATE values set to TRUE.</a:t>
            </a:r>
          </a:p>
          <a:p>
            <a:pPr marL="0" indent="0">
              <a:lnSpc>
                <a:spcPct val="110000"/>
              </a:lnSpc>
              <a:spcBef>
                <a:spcPts val="600"/>
              </a:spcBef>
              <a:spcAft>
                <a:spcPts val="600"/>
              </a:spcAft>
              <a:buNone/>
            </a:pPr>
            <a:r>
              <a:rPr lang="en-US" b="1" dirty="0">
                <a:latin typeface="Arial" panose="020B0604020202020204" pitchFamily="34" charset="0"/>
                <a:cs typeface="Arial" panose="020B0604020202020204" pitchFamily="34" charset="0"/>
              </a:rPr>
              <a:t>3. METADATA$ROW_ID: </a:t>
            </a:r>
            <a:r>
              <a:rPr lang="en-US" dirty="0">
                <a:latin typeface="Arial" panose="020B0604020202020204" pitchFamily="34" charset="0"/>
                <a:cs typeface="Arial" panose="020B0604020202020204" pitchFamily="34" charset="0"/>
              </a:rPr>
              <a:t>Specifies the unique and immutable ID for the row, which can be used to track changes to specific rows over time.</a:t>
            </a:r>
            <a:endParaRPr lang="en-IN" dirty="0">
              <a:latin typeface="Arial" panose="020B0604020202020204" pitchFamily="34" charset="0"/>
              <a:cs typeface="Arial" panose="020B0604020202020204" pitchFamily="34" charset="0"/>
            </a:endParaRPr>
          </a:p>
          <a:p>
            <a:endParaRPr lang="mr-IN" dirty="0"/>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Metadata of Streams</a:t>
            </a:r>
            <a:endParaRPr lang="mr-IN" b="1" dirty="0">
              <a:solidFill>
                <a:schemeClr val="tx1"/>
              </a:solidFill>
            </a:endParaRPr>
          </a:p>
        </p:txBody>
      </p:sp>
    </p:spTree>
    <p:extLst>
      <p:ext uri="{BB962C8B-B14F-4D97-AF65-F5344CB8AC3E}">
        <p14:creationId xmlns:p14="http://schemas.microsoft.com/office/powerpoint/2010/main" val="196392427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mr-IN" dirty="0"/>
          </a:p>
        </p:txBody>
      </p:sp>
      <p:sp>
        <p:nvSpPr>
          <p:cNvPr id="3" name="Title 2"/>
          <p:cNvSpPr>
            <a:spLocks noGrp="1"/>
          </p:cNvSpPr>
          <p:nvPr>
            <p:ph type="title"/>
          </p:nvPr>
        </p:nvSpPr>
        <p:spPr>
          <a:xfrm>
            <a:off x="334566" y="338328"/>
            <a:ext cx="11593288" cy="1252728"/>
          </a:xfrm>
        </p:spPr>
        <p:txBody>
          <a:bodyPr>
            <a:normAutofit fontScale="90000"/>
          </a:bodyPr>
          <a:lstStyle/>
          <a:p>
            <a:r>
              <a:rPr lang="en-IN" b="1" dirty="0">
                <a:solidFill>
                  <a:schemeClr val="tx1"/>
                </a:solidFill>
                <a:latin typeface="Helvetica" panose="020B0604020202020204" pitchFamily="34" charset="0"/>
              </a:rPr>
              <a:t>How a Stream works? or Data flow in a Stream</a:t>
            </a:r>
            <a:endParaRPr lang="mr-IN" b="1" dirty="0">
              <a:solidFill>
                <a:schemeClr val="tx1"/>
              </a:solidFill>
            </a:endParaRPr>
          </a:p>
        </p:txBody>
      </p:sp>
      <p:pic>
        <p:nvPicPr>
          <p:cNvPr id="4" name="Picture 3">
            <a:extLst>
              <a:ext uri="{FF2B5EF4-FFF2-40B4-BE49-F238E27FC236}">
                <a16:creationId xmlns:a16="http://schemas.microsoft.com/office/drawing/2014/main" id="{3D2D866E-0544-C569-072B-ABBB4F4C0737}"/>
              </a:ext>
            </a:extLst>
          </p:cNvPr>
          <p:cNvPicPr>
            <a:picLocks noChangeAspect="1"/>
          </p:cNvPicPr>
          <p:nvPr/>
        </p:nvPicPr>
        <p:blipFill rotWithShape="1">
          <a:blip r:embed="rId2"/>
          <a:srcRect t="5155" b="4485"/>
          <a:stretch/>
        </p:blipFill>
        <p:spPr>
          <a:xfrm>
            <a:off x="406574" y="2181224"/>
            <a:ext cx="11449272" cy="4676776"/>
          </a:xfrm>
          <a:prstGeom prst="rect">
            <a:avLst/>
          </a:prstGeom>
        </p:spPr>
      </p:pic>
    </p:spTree>
    <p:extLst>
      <p:ext uri="{BB962C8B-B14F-4D97-AF65-F5344CB8AC3E}">
        <p14:creationId xmlns:p14="http://schemas.microsoft.com/office/powerpoint/2010/main" val="197170826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34566" y="2492896"/>
            <a:ext cx="11449272" cy="4248472"/>
          </a:xfrm>
        </p:spPr>
        <p:txBody>
          <a:bodyPr>
            <a:normAutofit fontScale="92500" lnSpcReduction="20000"/>
          </a:bodyPr>
          <a:lstStyle/>
          <a:p>
            <a:pPr marL="0" indent="0">
              <a:buNone/>
            </a:pPr>
            <a:r>
              <a:rPr lang="en-US" b="1" dirty="0">
                <a:solidFill>
                  <a:srgbClr val="222222"/>
                </a:solidFill>
                <a:latin typeface="Arial" panose="020B0604020202020204" pitchFamily="34" charset="0"/>
              </a:rPr>
              <a:t>1. Standard Streams: </a:t>
            </a:r>
            <a:r>
              <a:rPr lang="en-US" dirty="0">
                <a:solidFill>
                  <a:srgbClr val="222222"/>
                </a:solidFill>
                <a:latin typeface="Arial" panose="020B0604020202020204" pitchFamily="34" charset="0"/>
              </a:rPr>
              <a:t>A Standard stream tracks all DML changes to the source object, including inserts, updates, and deletes (including table truncates).</a:t>
            </a:r>
          </a:p>
          <a:p>
            <a:pPr marL="0" indent="0">
              <a:buNone/>
            </a:pPr>
            <a:r>
              <a:rPr lang="en-US" dirty="0">
                <a:solidFill>
                  <a:srgbClr val="222222"/>
                </a:solidFill>
                <a:latin typeface="Arial" panose="020B0604020202020204" pitchFamily="34" charset="0"/>
              </a:rPr>
              <a:t>	</a:t>
            </a:r>
            <a:r>
              <a:rPr lang="en-US" sz="2000" dirty="0">
                <a:solidFill>
                  <a:srgbClr val="222222"/>
                </a:solidFill>
                <a:latin typeface="Arial" panose="020B0604020202020204" pitchFamily="34" charset="0"/>
              </a:rPr>
              <a:t>CREATE OR REPLACE STREAM </a:t>
            </a:r>
            <a:r>
              <a:rPr lang="en-US" sz="2000" dirty="0" err="1">
                <a:solidFill>
                  <a:srgbClr val="222222"/>
                </a:solidFill>
                <a:latin typeface="Arial" panose="020B0604020202020204" pitchFamily="34" charset="0"/>
              </a:rPr>
              <a:t>my_stream</a:t>
            </a:r>
            <a:r>
              <a:rPr lang="en-US" sz="2000" dirty="0">
                <a:solidFill>
                  <a:srgbClr val="222222"/>
                </a:solidFill>
                <a:latin typeface="Arial" panose="020B0604020202020204" pitchFamily="34" charset="0"/>
              </a:rPr>
              <a:t> ON TABLE </a:t>
            </a:r>
            <a:r>
              <a:rPr lang="en-US" sz="2000" dirty="0" err="1">
                <a:solidFill>
                  <a:srgbClr val="222222"/>
                </a:solidFill>
                <a:latin typeface="Arial" panose="020B0604020202020204" pitchFamily="34" charset="0"/>
              </a:rPr>
              <a:t>my_table</a:t>
            </a:r>
            <a:r>
              <a:rPr lang="en-US" sz="2000" dirty="0">
                <a:solidFill>
                  <a:srgbClr val="222222"/>
                </a:solidFill>
                <a:latin typeface="Arial" panose="020B0604020202020204" pitchFamily="34" charset="0"/>
              </a:rPr>
              <a:t>;</a:t>
            </a:r>
          </a:p>
          <a:p>
            <a:endParaRPr lang="en-US" dirty="0">
              <a:solidFill>
                <a:srgbClr val="222222"/>
              </a:solidFill>
              <a:latin typeface="Arial" panose="020B0604020202020204" pitchFamily="34" charset="0"/>
            </a:endParaRPr>
          </a:p>
          <a:p>
            <a:pPr marL="0" indent="0">
              <a:buNone/>
            </a:pPr>
            <a:r>
              <a:rPr lang="en-US" b="1" dirty="0">
                <a:solidFill>
                  <a:srgbClr val="222222"/>
                </a:solidFill>
                <a:latin typeface="Arial" panose="020B0604020202020204" pitchFamily="34" charset="0"/>
              </a:rPr>
              <a:t>2. Append-only Streams: </a:t>
            </a:r>
            <a:r>
              <a:rPr lang="en-US" dirty="0">
                <a:solidFill>
                  <a:srgbClr val="222222"/>
                </a:solidFill>
                <a:latin typeface="Arial" panose="020B0604020202020204" pitchFamily="34" charset="0"/>
              </a:rPr>
              <a:t>An Append-only stream tracks row inserts only. Update and delete operations (including table truncates) are not recorded.</a:t>
            </a:r>
          </a:p>
          <a:p>
            <a:pPr marL="0" indent="0">
              <a:lnSpc>
                <a:spcPct val="110000"/>
              </a:lnSpc>
              <a:spcBef>
                <a:spcPts val="600"/>
              </a:spcBef>
              <a:spcAft>
                <a:spcPts val="600"/>
              </a:spcAft>
              <a:buNone/>
            </a:pPr>
            <a:r>
              <a:rPr lang="en-US" dirty="0">
                <a:solidFill>
                  <a:srgbClr val="222222"/>
                </a:solidFill>
                <a:latin typeface="Arial" panose="020B0604020202020204" pitchFamily="34" charset="0"/>
              </a:rPr>
              <a:t>	</a:t>
            </a:r>
            <a:r>
              <a:rPr lang="en-US" sz="2000" dirty="0">
                <a:solidFill>
                  <a:srgbClr val="222222"/>
                </a:solidFill>
                <a:latin typeface="Arial" panose="020B0604020202020204" pitchFamily="34" charset="0"/>
              </a:rPr>
              <a:t>CREATE OR REPLACE STREAM </a:t>
            </a:r>
            <a:r>
              <a:rPr lang="en-US" sz="2000" dirty="0" err="1">
                <a:solidFill>
                  <a:srgbClr val="222222"/>
                </a:solidFill>
                <a:latin typeface="Arial" panose="020B0604020202020204" pitchFamily="34" charset="0"/>
              </a:rPr>
              <a:t>my_stream</a:t>
            </a:r>
            <a:r>
              <a:rPr lang="en-US" sz="2000" dirty="0">
                <a:solidFill>
                  <a:srgbClr val="222222"/>
                </a:solidFill>
                <a:latin typeface="Arial" panose="020B0604020202020204" pitchFamily="34" charset="0"/>
              </a:rPr>
              <a:t> ON TABLE </a:t>
            </a:r>
            <a:r>
              <a:rPr lang="en-US" sz="2000" dirty="0" err="1">
                <a:solidFill>
                  <a:srgbClr val="222222"/>
                </a:solidFill>
                <a:latin typeface="Arial" panose="020B0604020202020204" pitchFamily="34" charset="0"/>
              </a:rPr>
              <a:t>my_table</a:t>
            </a:r>
            <a:br>
              <a:rPr lang="en-US" sz="2000" dirty="0"/>
            </a:br>
            <a:r>
              <a:rPr lang="en-US" sz="2000" dirty="0"/>
              <a:t>	</a:t>
            </a:r>
            <a:r>
              <a:rPr lang="en-US" sz="2000" dirty="0">
                <a:solidFill>
                  <a:srgbClr val="222222"/>
                </a:solidFill>
                <a:latin typeface="Arial" panose="020B0604020202020204" pitchFamily="34" charset="0"/>
              </a:rPr>
              <a:t>APPEND_ONLY = TRUE; </a:t>
            </a:r>
          </a:p>
          <a:p>
            <a:pPr marL="0" indent="0">
              <a:buNone/>
            </a:pPr>
            <a:r>
              <a:rPr lang="en-US" b="1" dirty="0">
                <a:solidFill>
                  <a:srgbClr val="222222"/>
                </a:solidFill>
                <a:latin typeface="Arial" panose="020B0604020202020204" pitchFamily="34" charset="0"/>
              </a:rPr>
              <a:t>3. Insert-only Streams: </a:t>
            </a:r>
            <a:r>
              <a:rPr lang="en-US" dirty="0">
                <a:solidFill>
                  <a:srgbClr val="222222"/>
                </a:solidFill>
                <a:latin typeface="Arial" panose="020B0604020202020204" pitchFamily="34" charset="0"/>
              </a:rPr>
              <a:t>Supported for </a:t>
            </a:r>
            <a:r>
              <a:rPr lang="en-US" b="1" dirty="0">
                <a:solidFill>
                  <a:srgbClr val="222222"/>
                </a:solidFill>
                <a:latin typeface="Arial" panose="020B0604020202020204" pitchFamily="34" charset="0"/>
              </a:rPr>
              <a:t>External tables</a:t>
            </a:r>
            <a:r>
              <a:rPr lang="en-US" dirty="0">
                <a:solidFill>
                  <a:srgbClr val="222222"/>
                </a:solidFill>
                <a:latin typeface="Arial" panose="020B0604020202020204" pitchFamily="34" charset="0"/>
              </a:rPr>
              <a:t> only. An insert-only stream tracks row inserts only. They do not record delete operations.</a:t>
            </a:r>
          </a:p>
          <a:p>
            <a:pPr marL="0" indent="0">
              <a:lnSpc>
                <a:spcPct val="110000"/>
              </a:lnSpc>
              <a:spcBef>
                <a:spcPts val="600"/>
              </a:spcBef>
              <a:spcAft>
                <a:spcPts val="600"/>
              </a:spcAft>
              <a:buNone/>
            </a:pPr>
            <a:r>
              <a:rPr lang="en-US" dirty="0">
                <a:solidFill>
                  <a:srgbClr val="222222"/>
                </a:solidFill>
                <a:latin typeface="Arial" panose="020B0604020202020204" pitchFamily="34" charset="0"/>
              </a:rPr>
              <a:t>	</a:t>
            </a:r>
            <a:r>
              <a:rPr lang="en-US" sz="2000" dirty="0">
                <a:solidFill>
                  <a:srgbClr val="222222"/>
                </a:solidFill>
                <a:latin typeface="Arial" panose="020B0604020202020204" pitchFamily="34" charset="0"/>
              </a:rPr>
              <a:t>CREATE OR REPLACE STREAM </a:t>
            </a:r>
            <a:r>
              <a:rPr lang="en-US" sz="2000" dirty="0" err="1">
                <a:solidFill>
                  <a:srgbClr val="222222"/>
                </a:solidFill>
                <a:latin typeface="Arial" panose="020B0604020202020204" pitchFamily="34" charset="0"/>
              </a:rPr>
              <a:t>my_stream</a:t>
            </a:r>
            <a:r>
              <a:rPr lang="en-US" sz="2000" dirty="0">
                <a:solidFill>
                  <a:srgbClr val="222222"/>
                </a:solidFill>
                <a:latin typeface="Arial" panose="020B0604020202020204" pitchFamily="34" charset="0"/>
              </a:rPr>
              <a:t> ON EXTERNAL TABLE </a:t>
            </a:r>
            <a:r>
              <a:rPr lang="en-US" sz="2000" dirty="0" err="1">
                <a:solidFill>
                  <a:srgbClr val="222222"/>
                </a:solidFill>
                <a:latin typeface="Arial" panose="020B0604020202020204" pitchFamily="34" charset="0"/>
              </a:rPr>
              <a:t>my_table</a:t>
            </a:r>
            <a:br>
              <a:rPr lang="en-US" sz="2000" dirty="0"/>
            </a:br>
            <a:r>
              <a:rPr lang="en-US" sz="2000" dirty="0"/>
              <a:t>	</a:t>
            </a:r>
            <a:r>
              <a:rPr lang="en-US" sz="2000" dirty="0">
                <a:solidFill>
                  <a:srgbClr val="222222"/>
                </a:solidFill>
                <a:latin typeface="Arial" panose="020B0604020202020204" pitchFamily="34" charset="0"/>
              </a:rPr>
              <a:t>INSERT_ONLY = TRUE;</a:t>
            </a:r>
            <a:endParaRPr lang="en-IN" sz="2000" dirty="0">
              <a:solidFill>
                <a:srgbClr val="222222"/>
              </a:solidFill>
              <a:latin typeface="Arial" panose="020B0604020202020204" pitchFamily="34" charset="0"/>
            </a:endParaRPr>
          </a:p>
          <a:p>
            <a:endParaRPr lang="mr-IN" dirty="0"/>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Types of Streams</a:t>
            </a:r>
            <a:endParaRPr lang="mr-IN" b="1" dirty="0">
              <a:solidFill>
                <a:schemeClr val="tx1"/>
              </a:solidFill>
            </a:endParaRPr>
          </a:p>
        </p:txBody>
      </p:sp>
    </p:spTree>
    <p:extLst>
      <p:ext uri="{BB962C8B-B14F-4D97-AF65-F5344CB8AC3E}">
        <p14:creationId xmlns:p14="http://schemas.microsoft.com/office/powerpoint/2010/main" val="139674598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50590" y="2675467"/>
            <a:ext cx="11305256" cy="3450696"/>
          </a:xfrm>
        </p:spPr>
        <p:txBody>
          <a:bodyPr>
            <a:normAutofit fontScale="92500" lnSpcReduction="20000"/>
          </a:bodyPr>
          <a:lstStyle/>
          <a:p>
            <a:pPr>
              <a:lnSpc>
                <a:spcPct val="100000"/>
              </a:lnSpc>
              <a:spcBef>
                <a:spcPts val="600"/>
              </a:spcBef>
              <a:spcAft>
                <a:spcPts val="300"/>
              </a:spcAft>
            </a:pPr>
            <a:r>
              <a:rPr lang="en-US" sz="2000" dirty="0">
                <a:solidFill>
                  <a:srgbClr val="000000"/>
                </a:solidFill>
                <a:latin typeface="Arial" panose="020B0604020202020204" pitchFamily="34" charset="0"/>
              </a:rPr>
              <a:t>Stored procedures allow you to write procedural code that includes </a:t>
            </a:r>
            <a:r>
              <a:rPr lang="en-US" sz="2000" dirty="0" err="1">
                <a:solidFill>
                  <a:srgbClr val="000000"/>
                </a:solidFill>
                <a:latin typeface="Arial" panose="020B0604020202020204" pitchFamily="34" charset="0"/>
              </a:rPr>
              <a:t>sql</a:t>
            </a:r>
            <a:r>
              <a:rPr lang="en-US" sz="2000" dirty="0">
                <a:solidFill>
                  <a:srgbClr val="000000"/>
                </a:solidFill>
                <a:latin typeface="Arial" panose="020B0604020202020204" pitchFamily="34" charset="0"/>
              </a:rPr>
              <a:t> statements, conditional statements, looping statements and cursors.</a:t>
            </a:r>
          </a:p>
          <a:p>
            <a:pPr>
              <a:spcAft>
                <a:spcPts val="300"/>
              </a:spcAft>
            </a:pPr>
            <a:r>
              <a:rPr lang="en-US" sz="2000" dirty="0">
                <a:solidFill>
                  <a:srgbClr val="000000"/>
                </a:solidFill>
                <a:latin typeface="Arial" panose="020B0604020202020204" pitchFamily="34" charset="0"/>
              </a:rPr>
              <a:t>Snowflake supports 5 languages for writing procedures.</a:t>
            </a:r>
          </a:p>
          <a:p>
            <a:pPr lvl="1">
              <a:buFont typeface="Wingdings" pitchFamily="2" charset="2"/>
              <a:buChar char="v"/>
            </a:pPr>
            <a:r>
              <a:rPr lang="en-US" sz="2000" dirty="0">
                <a:solidFill>
                  <a:srgbClr val="000000"/>
                </a:solidFill>
                <a:latin typeface="Arial" panose="020B0604020202020204" pitchFamily="34" charset="0"/>
              </a:rPr>
              <a:t>Snowflake Scripting(SQL)</a:t>
            </a:r>
          </a:p>
          <a:p>
            <a:pPr lvl="1">
              <a:buFont typeface="Wingdings" pitchFamily="2" charset="2"/>
              <a:buChar char="v"/>
            </a:pPr>
            <a:r>
              <a:rPr lang="en-US" sz="2000" dirty="0">
                <a:solidFill>
                  <a:srgbClr val="000000"/>
                </a:solidFill>
                <a:latin typeface="Arial" panose="020B0604020202020204" pitchFamily="34" charset="0"/>
              </a:rPr>
              <a:t>Java Script</a:t>
            </a:r>
          </a:p>
          <a:p>
            <a:pPr lvl="1">
              <a:buFont typeface="Wingdings" pitchFamily="2" charset="2"/>
              <a:buChar char="v"/>
            </a:pPr>
            <a:r>
              <a:rPr lang="en-US" sz="2000" dirty="0">
                <a:solidFill>
                  <a:srgbClr val="000000"/>
                </a:solidFill>
                <a:latin typeface="Arial" panose="020B0604020202020204" pitchFamily="34" charset="0"/>
              </a:rPr>
              <a:t>Java</a:t>
            </a:r>
          </a:p>
          <a:p>
            <a:pPr lvl="1">
              <a:buFont typeface="Wingdings" pitchFamily="2" charset="2"/>
              <a:buChar char="v"/>
            </a:pPr>
            <a:r>
              <a:rPr lang="en-US" sz="2000" dirty="0" err="1">
                <a:solidFill>
                  <a:srgbClr val="000000"/>
                </a:solidFill>
                <a:latin typeface="Arial" panose="020B0604020202020204" pitchFamily="34" charset="0"/>
              </a:rPr>
              <a:t>Scala</a:t>
            </a:r>
            <a:endParaRPr lang="en-US" sz="2000" dirty="0">
              <a:solidFill>
                <a:srgbClr val="000000"/>
              </a:solidFill>
              <a:latin typeface="Arial" panose="020B0604020202020204" pitchFamily="34" charset="0"/>
            </a:endParaRPr>
          </a:p>
          <a:p>
            <a:pPr lvl="1">
              <a:buFont typeface="Wingdings" pitchFamily="2" charset="2"/>
              <a:buChar char="v"/>
            </a:pPr>
            <a:r>
              <a:rPr lang="en-US" sz="2000" dirty="0">
                <a:solidFill>
                  <a:srgbClr val="000000"/>
                </a:solidFill>
                <a:latin typeface="Arial" panose="020B0604020202020204" pitchFamily="34" charset="0"/>
              </a:rPr>
              <a:t>Python</a:t>
            </a:r>
          </a:p>
          <a:p>
            <a:r>
              <a:rPr lang="en-US" sz="2000" dirty="0">
                <a:solidFill>
                  <a:srgbClr val="000000"/>
                </a:solidFill>
                <a:latin typeface="Arial" panose="020B0604020202020204" pitchFamily="34" charset="0"/>
              </a:rPr>
              <a:t>From a stored procedure, you can return a single value or tabular data. </a:t>
            </a:r>
          </a:p>
          <a:p>
            <a:r>
              <a:rPr lang="en-US" sz="2000" dirty="0">
                <a:solidFill>
                  <a:srgbClr val="000000"/>
                </a:solidFill>
                <a:latin typeface="Arial" panose="020B0604020202020204" pitchFamily="34" charset="0"/>
              </a:rPr>
              <a:t>Supports branching and looping.</a:t>
            </a:r>
          </a:p>
          <a:p>
            <a:r>
              <a:rPr lang="en-US" sz="2000" dirty="0">
                <a:solidFill>
                  <a:srgbClr val="000000"/>
                </a:solidFill>
                <a:latin typeface="Arial" panose="020B0604020202020204" pitchFamily="34" charset="0"/>
              </a:rPr>
              <a:t>Dynamically creating a SQL statement and execute it.</a:t>
            </a: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Stored Procedures</a:t>
            </a:r>
            <a:endParaRPr lang="mr-IN" b="1" dirty="0">
              <a:solidFill>
                <a:schemeClr val="tx1"/>
              </a:solidFill>
            </a:endParaRPr>
          </a:p>
        </p:txBody>
      </p:sp>
    </p:spTree>
    <p:extLst>
      <p:ext uri="{BB962C8B-B14F-4D97-AF65-F5344CB8AC3E}">
        <p14:creationId xmlns:p14="http://schemas.microsoft.com/office/powerpoint/2010/main" val="361929555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50590" y="2492896"/>
            <a:ext cx="11305256" cy="1270924"/>
          </a:xfrm>
        </p:spPr>
        <p:txBody>
          <a:bodyPr>
            <a:normAutofit fontScale="70000" lnSpcReduction="20000"/>
          </a:bodyPr>
          <a:lstStyle/>
          <a:p>
            <a:r>
              <a:rPr lang="en-US" dirty="0">
                <a:solidFill>
                  <a:schemeClr val="tx1"/>
                </a:solidFill>
              </a:rPr>
              <a:t>Consider a use case where the requirement is to purge the inactive employees’ data from a database table. Let us build a Stored Procedure which performs this activity.</a:t>
            </a:r>
          </a:p>
          <a:p>
            <a:endParaRPr lang="en-US" dirty="0">
              <a:solidFill>
                <a:schemeClr val="tx1"/>
              </a:solidFill>
            </a:endParaRPr>
          </a:p>
          <a:p>
            <a:r>
              <a:rPr lang="en-US" dirty="0">
                <a:solidFill>
                  <a:schemeClr val="tx1"/>
                </a:solidFill>
              </a:rPr>
              <a:t>The below Stored Procedure deletes all records with status field value as ‘INACTIVE’ from the employees table.</a:t>
            </a:r>
          </a:p>
          <a:p>
            <a:pPr marL="0" indent="0">
              <a:buNone/>
            </a:pPr>
            <a:endParaRPr lang="mr-IN" dirty="0">
              <a:solidFill>
                <a:schemeClr val="tx1"/>
              </a:solidFill>
            </a:endParaRP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Sample Procedure</a:t>
            </a:r>
            <a:endParaRPr lang="mr-IN" b="1" dirty="0">
              <a:solidFill>
                <a:schemeClr val="tx1"/>
              </a:solidFill>
            </a:endParaRPr>
          </a:p>
        </p:txBody>
      </p:sp>
      <p:sp>
        <p:nvSpPr>
          <p:cNvPr id="5" name="Rectangle 4"/>
          <p:cNvSpPr/>
          <p:nvPr/>
        </p:nvSpPr>
        <p:spPr>
          <a:xfrm>
            <a:off x="982638" y="3717032"/>
            <a:ext cx="7128792" cy="2893100"/>
          </a:xfrm>
          <a:prstGeom prst="rect">
            <a:avLst/>
          </a:prstGeom>
          <a:solidFill>
            <a:schemeClr val="tx2">
              <a:lumMod val="20000"/>
              <a:lumOff val="80000"/>
            </a:schemeClr>
          </a:solidFill>
          <a:ln w="38100">
            <a:solidFill>
              <a:srgbClr val="7030A0"/>
            </a:solidFill>
          </a:ln>
        </p:spPr>
        <p:txBody>
          <a:bodyPr wrap="square">
            <a:spAutoFit/>
          </a:bodyPr>
          <a:lstStyle/>
          <a:p>
            <a:r>
              <a:rPr lang="en-US" sz="1400" b="1" dirty="0">
                <a:solidFill>
                  <a:schemeClr val="bg2">
                    <a:lumMod val="10000"/>
                  </a:schemeClr>
                </a:solidFill>
              </a:rPr>
              <a:t>CREATE OR REPLACE PROCEDURE </a:t>
            </a:r>
            <a:r>
              <a:rPr lang="en-US" sz="1400" b="1" dirty="0" err="1">
                <a:solidFill>
                  <a:schemeClr val="bg2">
                    <a:lumMod val="10000"/>
                  </a:schemeClr>
                </a:solidFill>
              </a:rPr>
              <a:t>purge_data</a:t>
            </a:r>
            <a:r>
              <a:rPr lang="en-US" sz="1400" b="1" dirty="0">
                <a:solidFill>
                  <a:schemeClr val="bg2">
                    <a:lumMod val="10000"/>
                  </a:schemeClr>
                </a:solidFill>
              </a:rPr>
              <a:t>()</a:t>
            </a:r>
          </a:p>
          <a:p>
            <a:r>
              <a:rPr lang="en-US" sz="1400" b="1" dirty="0">
                <a:solidFill>
                  <a:schemeClr val="bg2">
                    <a:lumMod val="10000"/>
                  </a:schemeClr>
                </a:solidFill>
              </a:rPr>
              <a:t>	RETURNS VARCHAR</a:t>
            </a:r>
          </a:p>
          <a:p>
            <a:r>
              <a:rPr lang="en-US" sz="1400" b="1" dirty="0">
                <a:solidFill>
                  <a:schemeClr val="bg2">
                    <a:lumMod val="10000"/>
                  </a:schemeClr>
                </a:solidFill>
              </a:rPr>
              <a:t>	LANGUAGE SQL</a:t>
            </a:r>
          </a:p>
          <a:p>
            <a:r>
              <a:rPr lang="en-US" sz="1400" b="1" dirty="0">
                <a:solidFill>
                  <a:schemeClr val="bg2">
                    <a:lumMod val="10000"/>
                  </a:schemeClr>
                </a:solidFill>
              </a:rPr>
              <a:t>AS</a:t>
            </a:r>
          </a:p>
          <a:p>
            <a:r>
              <a:rPr lang="en-US" sz="1400" b="1" dirty="0">
                <a:solidFill>
                  <a:schemeClr val="bg2">
                    <a:lumMod val="10000"/>
                  </a:schemeClr>
                </a:solidFill>
              </a:rPr>
              <a:t>   $$</a:t>
            </a:r>
          </a:p>
          <a:p>
            <a:r>
              <a:rPr lang="en-US" sz="1400" b="1" dirty="0">
                <a:solidFill>
                  <a:schemeClr val="bg2">
                    <a:lumMod val="10000"/>
                  </a:schemeClr>
                </a:solidFill>
              </a:rPr>
              <a:t>	DECLARE</a:t>
            </a:r>
          </a:p>
          <a:p>
            <a:r>
              <a:rPr lang="en-US" sz="1400" b="1" dirty="0">
                <a:solidFill>
                  <a:schemeClr val="bg2">
                    <a:lumMod val="10000"/>
                  </a:schemeClr>
                </a:solidFill>
              </a:rPr>
              <a:t>		message VARCHAR;</a:t>
            </a:r>
          </a:p>
          <a:p>
            <a:r>
              <a:rPr lang="en-US" sz="1400" b="1" dirty="0">
                <a:solidFill>
                  <a:schemeClr val="bg2">
                    <a:lumMod val="10000"/>
                  </a:schemeClr>
                </a:solidFill>
              </a:rPr>
              <a:t>	BEGIN</a:t>
            </a:r>
          </a:p>
          <a:p>
            <a:r>
              <a:rPr lang="en-US" sz="1400" b="1" dirty="0">
                <a:solidFill>
                  <a:schemeClr val="bg2">
                    <a:lumMod val="10000"/>
                  </a:schemeClr>
                </a:solidFill>
              </a:rPr>
              <a:t>		DELETE FROM employees WHERE status = 'INACTIVE';</a:t>
            </a:r>
          </a:p>
          <a:p>
            <a:r>
              <a:rPr lang="en-US" sz="1400" b="1" dirty="0">
                <a:solidFill>
                  <a:schemeClr val="bg2">
                    <a:lumMod val="10000"/>
                  </a:schemeClr>
                </a:solidFill>
              </a:rPr>
              <a:t>		message := 'Inactive employees data deleted successfully';</a:t>
            </a:r>
          </a:p>
          <a:p>
            <a:r>
              <a:rPr lang="en-US" sz="1400" b="1" dirty="0">
                <a:solidFill>
                  <a:schemeClr val="bg2">
                    <a:lumMod val="10000"/>
                  </a:schemeClr>
                </a:solidFill>
              </a:rPr>
              <a:t>		RETURN message;</a:t>
            </a:r>
          </a:p>
          <a:p>
            <a:r>
              <a:rPr lang="en-US" sz="1400" b="1" dirty="0">
                <a:solidFill>
                  <a:schemeClr val="bg2">
                    <a:lumMod val="10000"/>
                  </a:schemeClr>
                </a:solidFill>
              </a:rPr>
              <a:t>	END;</a:t>
            </a:r>
          </a:p>
          <a:p>
            <a:r>
              <a:rPr lang="en-US" sz="1400" b="1" dirty="0">
                <a:solidFill>
                  <a:schemeClr val="bg2">
                    <a:lumMod val="10000"/>
                  </a:schemeClr>
                </a:solidFill>
              </a:rPr>
              <a:t>   $$;</a:t>
            </a:r>
            <a:endParaRPr lang="mr-IN" sz="1400" b="1" dirty="0">
              <a:solidFill>
                <a:schemeClr val="bg2">
                  <a:lumMod val="10000"/>
                </a:schemeClr>
              </a:solidFill>
            </a:endParaRPr>
          </a:p>
        </p:txBody>
      </p:sp>
    </p:spTree>
    <p:extLst>
      <p:ext uri="{BB962C8B-B14F-4D97-AF65-F5344CB8AC3E}">
        <p14:creationId xmlns:p14="http://schemas.microsoft.com/office/powerpoint/2010/main" val="400417129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6614" y="2492896"/>
            <a:ext cx="10272483" cy="1329597"/>
          </a:xfrm>
        </p:spPr>
        <p:txBody>
          <a:bodyPr>
            <a:normAutofit/>
          </a:bodyPr>
          <a:lstStyle/>
          <a:p>
            <a:pPr>
              <a:lnSpc>
                <a:spcPct val="110000"/>
              </a:lnSpc>
              <a:spcBef>
                <a:spcPts val="600"/>
              </a:spcBef>
              <a:spcAft>
                <a:spcPts val="300"/>
              </a:spcAft>
            </a:pPr>
            <a:r>
              <a:rPr lang="en-US" sz="2000" dirty="0">
                <a:solidFill>
                  <a:srgbClr val="000000"/>
                </a:solidFill>
                <a:latin typeface="Arial" panose="020B0604020202020204" pitchFamily="34" charset="0"/>
              </a:rPr>
              <a:t>UDF allows you to perform operations that are not available through the built-in, system-defined functions. </a:t>
            </a:r>
          </a:p>
          <a:p>
            <a:r>
              <a:rPr lang="en-US" sz="2000" dirty="0">
                <a:solidFill>
                  <a:srgbClr val="000000"/>
                </a:solidFill>
                <a:latin typeface="Arial" panose="020B0604020202020204" pitchFamily="34" charset="0"/>
              </a:rPr>
              <a:t>Create UDF whenever there is a need to repeat the same functionality.</a:t>
            </a:r>
          </a:p>
          <a:p>
            <a:endParaRPr lang="mr-IN" sz="2000" dirty="0"/>
          </a:p>
        </p:txBody>
      </p:sp>
      <p:sp>
        <p:nvSpPr>
          <p:cNvPr id="3" name="Title 2"/>
          <p:cNvSpPr>
            <a:spLocks noGrp="1"/>
          </p:cNvSpPr>
          <p:nvPr>
            <p:ph type="title"/>
          </p:nvPr>
        </p:nvSpPr>
        <p:spPr/>
        <p:txBody>
          <a:bodyPr/>
          <a:lstStyle/>
          <a:p>
            <a:r>
              <a:rPr lang="en-IN" b="1" dirty="0">
                <a:solidFill>
                  <a:srgbClr val="505C63"/>
                </a:solidFill>
                <a:latin typeface="Helvetica" panose="020B0604020202020204" pitchFamily="34" charset="0"/>
              </a:rPr>
              <a:t>User Defined Functions</a:t>
            </a:r>
            <a:endParaRPr lang="mr-IN" b="1" dirty="0"/>
          </a:p>
        </p:txBody>
      </p:sp>
      <p:sp>
        <p:nvSpPr>
          <p:cNvPr id="5" name="Rectangle 4"/>
          <p:cNvSpPr/>
          <p:nvPr/>
        </p:nvSpPr>
        <p:spPr>
          <a:xfrm>
            <a:off x="1702718" y="3861048"/>
            <a:ext cx="5335463" cy="2708434"/>
          </a:xfrm>
          <a:prstGeom prst="rect">
            <a:avLst/>
          </a:prstGeom>
          <a:solidFill>
            <a:schemeClr val="tx2">
              <a:lumMod val="20000"/>
              <a:lumOff val="80000"/>
            </a:schemeClr>
          </a:solidFill>
          <a:ln w="38100">
            <a:solidFill>
              <a:srgbClr val="7030A0"/>
            </a:solidFill>
          </a:ln>
        </p:spPr>
        <p:txBody>
          <a:bodyPr wrap="square">
            <a:spAutoFit/>
          </a:bodyPr>
          <a:lstStyle/>
          <a:p>
            <a:pPr lvl="0" eaLnBrk="0" fontAlgn="base" hangingPunct="0">
              <a:spcBef>
                <a:spcPts val="300"/>
              </a:spcBef>
              <a:spcAft>
                <a:spcPts val="300"/>
              </a:spcAft>
            </a:pPr>
            <a:r>
              <a:rPr lang="en-US" altLang="en-US" sz="1400" b="1" dirty="0">
                <a:solidFill>
                  <a:srgbClr val="000000"/>
                </a:solidFill>
                <a:latin typeface="Arial" panose="020B0604020202020204" pitchFamily="34" charset="0"/>
                <a:cs typeface="Arial" panose="020B0604020202020204" pitchFamily="34" charset="0"/>
              </a:rPr>
              <a:t>create function </a:t>
            </a:r>
            <a:r>
              <a:rPr lang="en-US" altLang="en-US" sz="1400" b="1" dirty="0" err="1">
                <a:solidFill>
                  <a:srgbClr val="000000"/>
                </a:solidFill>
                <a:latin typeface="Arial" panose="020B0604020202020204" pitchFamily="34" charset="0"/>
                <a:cs typeface="Arial" panose="020B0604020202020204" pitchFamily="34" charset="0"/>
              </a:rPr>
              <a:t>area_of_circle</a:t>
            </a:r>
            <a:r>
              <a:rPr lang="en-US" altLang="en-US" sz="1400" b="1" dirty="0">
                <a:solidFill>
                  <a:srgbClr val="000000"/>
                </a:solidFill>
                <a:latin typeface="Arial" panose="020B0604020202020204" pitchFamily="34" charset="0"/>
                <a:cs typeface="Arial" panose="020B0604020202020204" pitchFamily="34" charset="0"/>
              </a:rPr>
              <a:t>(radius float)</a:t>
            </a:r>
          </a:p>
          <a:p>
            <a:pPr lvl="0" eaLnBrk="0" fontAlgn="base" hangingPunct="0">
              <a:spcBef>
                <a:spcPts val="300"/>
              </a:spcBef>
              <a:spcAft>
                <a:spcPts val="300"/>
              </a:spcAft>
            </a:pPr>
            <a:r>
              <a:rPr lang="en-US" altLang="en-US" sz="1400" b="1" dirty="0">
                <a:solidFill>
                  <a:srgbClr val="000000"/>
                </a:solidFill>
                <a:latin typeface="Arial" panose="020B0604020202020204" pitchFamily="34" charset="0"/>
                <a:cs typeface="Arial" panose="020B0604020202020204" pitchFamily="34" charset="0"/>
              </a:rPr>
              <a:t>  returns float</a:t>
            </a:r>
          </a:p>
          <a:p>
            <a:pPr lvl="0" eaLnBrk="0" fontAlgn="base" hangingPunct="0">
              <a:spcBef>
                <a:spcPts val="300"/>
              </a:spcBef>
              <a:spcAft>
                <a:spcPts val="300"/>
              </a:spcAft>
            </a:pPr>
            <a:r>
              <a:rPr lang="en-US" altLang="en-US" sz="1400" b="1" dirty="0">
                <a:solidFill>
                  <a:srgbClr val="000000"/>
                </a:solidFill>
                <a:latin typeface="Arial" panose="020B0604020202020204" pitchFamily="34" charset="0"/>
                <a:cs typeface="Arial" panose="020B0604020202020204" pitchFamily="34" charset="0"/>
              </a:rPr>
              <a:t>  as</a:t>
            </a:r>
          </a:p>
          <a:p>
            <a:pPr lvl="0" eaLnBrk="0" fontAlgn="base" hangingPunct="0">
              <a:spcBef>
                <a:spcPts val="300"/>
              </a:spcBef>
              <a:spcAft>
                <a:spcPts val="300"/>
              </a:spcAft>
            </a:pPr>
            <a:r>
              <a:rPr lang="en-US" altLang="en-US" sz="1400" b="1" dirty="0">
                <a:solidFill>
                  <a:srgbClr val="000000"/>
                </a:solidFill>
                <a:latin typeface="Arial" panose="020B0604020202020204" pitchFamily="34" charset="0"/>
                <a:cs typeface="Arial" panose="020B0604020202020204" pitchFamily="34" charset="0"/>
              </a:rPr>
              <a:t>  $$</a:t>
            </a:r>
          </a:p>
          <a:p>
            <a:pPr lvl="0" eaLnBrk="0" fontAlgn="base" hangingPunct="0">
              <a:spcBef>
                <a:spcPts val="300"/>
              </a:spcBef>
              <a:spcAft>
                <a:spcPts val="300"/>
              </a:spcAft>
            </a:pPr>
            <a:r>
              <a:rPr lang="en-US" altLang="en-US" sz="1400" b="1" dirty="0">
                <a:solidFill>
                  <a:srgbClr val="000000"/>
                </a:solidFill>
                <a:latin typeface="Arial" panose="020B0604020202020204" pitchFamily="34" charset="0"/>
                <a:cs typeface="Arial" panose="020B0604020202020204" pitchFamily="34" charset="0"/>
              </a:rPr>
              <a:t>      pi() * radius * radius</a:t>
            </a:r>
          </a:p>
          <a:p>
            <a:pPr lvl="0" eaLnBrk="0" fontAlgn="base" hangingPunct="0">
              <a:spcBef>
                <a:spcPts val="300"/>
              </a:spcBef>
              <a:spcAft>
                <a:spcPts val="300"/>
              </a:spcAft>
            </a:pPr>
            <a:r>
              <a:rPr lang="en-US" altLang="en-US" sz="1400" b="1" dirty="0">
                <a:solidFill>
                  <a:srgbClr val="000000"/>
                </a:solidFill>
                <a:latin typeface="Arial" panose="020B0604020202020204" pitchFamily="34" charset="0"/>
                <a:cs typeface="Arial" panose="020B0604020202020204" pitchFamily="34" charset="0"/>
              </a:rPr>
              <a:t>  $$</a:t>
            </a:r>
          </a:p>
          <a:p>
            <a:pPr lvl="0" eaLnBrk="0" fontAlgn="base" hangingPunct="0">
              <a:spcBef>
                <a:spcPts val="300"/>
              </a:spcBef>
              <a:spcAft>
                <a:spcPts val="300"/>
              </a:spcAft>
            </a:pPr>
            <a:r>
              <a:rPr lang="en-US" altLang="en-US" sz="1400" b="1" dirty="0">
                <a:solidFill>
                  <a:srgbClr val="000000"/>
                </a:solidFill>
                <a:latin typeface="Arial" panose="020B0604020202020204" pitchFamily="34" charset="0"/>
                <a:cs typeface="Arial" panose="020B0604020202020204" pitchFamily="34" charset="0"/>
              </a:rPr>
              <a:t>  ;</a:t>
            </a:r>
          </a:p>
          <a:p>
            <a:pPr lvl="0" eaLnBrk="0" fontAlgn="base" hangingPunct="0">
              <a:spcBef>
                <a:spcPts val="300"/>
              </a:spcBef>
              <a:spcAft>
                <a:spcPts val="300"/>
              </a:spcAft>
            </a:pPr>
            <a:endParaRPr lang="en-US" altLang="en-US" sz="1400" b="1" dirty="0">
              <a:solidFill>
                <a:srgbClr val="000000"/>
              </a:solidFill>
              <a:latin typeface="Arial" panose="020B0604020202020204" pitchFamily="34" charset="0"/>
              <a:cs typeface="Arial" panose="020B0604020202020204" pitchFamily="34" charset="0"/>
            </a:endParaRPr>
          </a:p>
          <a:p>
            <a:pPr lvl="0" eaLnBrk="0" fontAlgn="base" hangingPunct="0">
              <a:spcBef>
                <a:spcPts val="300"/>
              </a:spcBef>
              <a:spcAft>
                <a:spcPts val="300"/>
              </a:spcAft>
            </a:pPr>
            <a:r>
              <a:rPr lang="en-US" altLang="en-US" sz="1400" b="1" dirty="0">
                <a:solidFill>
                  <a:srgbClr val="000000"/>
                </a:solidFill>
                <a:latin typeface="Arial" panose="020B0604020202020204" pitchFamily="34" charset="0"/>
                <a:cs typeface="Arial" panose="020B0604020202020204" pitchFamily="34" charset="0"/>
              </a:rPr>
              <a:t>Select </a:t>
            </a:r>
            <a:r>
              <a:rPr lang="en-US" altLang="en-US" sz="1400" b="1" dirty="0" err="1">
                <a:solidFill>
                  <a:srgbClr val="000000"/>
                </a:solidFill>
                <a:latin typeface="Arial" panose="020B0604020202020204" pitchFamily="34" charset="0"/>
                <a:cs typeface="Arial" panose="020B0604020202020204" pitchFamily="34" charset="0"/>
              </a:rPr>
              <a:t>area_of_circle</a:t>
            </a:r>
            <a:r>
              <a:rPr lang="en-US" altLang="en-US" sz="1400" b="1" dirty="0">
                <a:solidFill>
                  <a:srgbClr val="000000"/>
                </a:solidFill>
                <a:latin typeface="Arial" panose="020B0604020202020204" pitchFamily="34" charset="0"/>
                <a:cs typeface="Arial" panose="020B0604020202020204" pitchFamily="34" charset="0"/>
              </a:rPr>
              <a:t>(4.5);</a:t>
            </a:r>
          </a:p>
        </p:txBody>
      </p:sp>
    </p:spTree>
    <p:extLst>
      <p:ext uri="{BB962C8B-B14F-4D97-AF65-F5344CB8AC3E}">
        <p14:creationId xmlns:p14="http://schemas.microsoft.com/office/powerpoint/2010/main" val="293357987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a:lnSpc>
                <a:spcPct val="110000"/>
              </a:lnSpc>
              <a:spcBef>
                <a:spcPts val="600"/>
              </a:spcBef>
              <a:spcAft>
                <a:spcPts val="600"/>
              </a:spcAft>
            </a:pPr>
            <a:r>
              <a:rPr lang="en-US" sz="2000" dirty="0">
                <a:solidFill>
                  <a:schemeClr val="tx1"/>
                </a:solidFill>
                <a:latin typeface="Arial" panose="020B0604020202020204" pitchFamily="34" charset="0"/>
                <a:cs typeface="Arial" panose="020B0604020202020204" pitchFamily="34" charset="0"/>
              </a:rPr>
              <a:t>We use tasks for scheduling in Snowflake.</a:t>
            </a:r>
          </a:p>
          <a:p>
            <a:pPr>
              <a:lnSpc>
                <a:spcPct val="110000"/>
              </a:lnSpc>
              <a:spcBef>
                <a:spcPts val="600"/>
              </a:spcBef>
              <a:spcAft>
                <a:spcPts val="600"/>
              </a:spcAft>
            </a:pPr>
            <a:r>
              <a:rPr lang="en-US" sz="2000" dirty="0">
                <a:solidFill>
                  <a:schemeClr val="tx1"/>
                </a:solidFill>
                <a:latin typeface="Arial" panose="020B0604020202020204" pitchFamily="34" charset="0"/>
                <a:cs typeface="Arial" panose="020B0604020202020204" pitchFamily="34" charset="0"/>
              </a:rPr>
              <a:t>We can schedule</a:t>
            </a:r>
          </a:p>
          <a:p>
            <a:pPr lvl="1">
              <a:lnSpc>
                <a:spcPct val="110000"/>
              </a:lnSpc>
              <a:spcBef>
                <a:spcPts val="600"/>
              </a:spcBef>
              <a:spcAft>
                <a:spcPts val="600"/>
              </a:spcAft>
            </a:pPr>
            <a:r>
              <a:rPr lang="en-IN" sz="1600" dirty="0">
                <a:solidFill>
                  <a:schemeClr val="tx1"/>
                </a:solidFill>
                <a:latin typeface="Arial" panose="020B0604020202020204" pitchFamily="34" charset="0"/>
                <a:cs typeface="Arial" panose="020B0604020202020204" pitchFamily="34" charset="0"/>
              </a:rPr>
              <a:t>SQL queries</a:t>
            </a:r>
          </a:p>
          <a:p>
            <a:pPr lvl="1">
              <a:lnSpc>
                <a:spcPct val="110000"/>
              </a:lnSpc>
              <a:spcBef>
                <a:spcPts val="600"/>
              </a:spcBef>
              <a:spcAft>
                <a:spcPts val="600"/>
              </a:spcAft>
            </a:pPr>
            <a:r>
              <a:rPr lang="en-IN" sz="1600" dirty="0">
                <a:solidFill>
                  <a:schemeClr val="tx1"/>
                </a:solidFill>
                <a:latin typeface="Arial" panose="020B0604020202020204" pitchFamily="34" charset="0"/>
                <a:cs typeface="Arial" panose="020B0604020202020204" pitchFamily="34" charset="0"/>
              </a:rPr>
              <a:t>Stored procedures</a:t>
            </a:r>
          </a:p>
          <a:p>
            <a:pPr>
              <a:lnSpc>
                <a:spcPct val="110000"/>
              </a:lnSpc>
              <a:spcBef>
                <a:spcPts val="600"/>
              </a:spcBef>
              <a:spcAft>
                <a:spcPts val="600"/>
              </a:spcAft>
            </a:pPr>
            <a:r>
              <a:rPr lang="en-US" sz="2000" dirty="0">
                <a:solidFill>
                  <a:schemeClr val="tx1"/>
                </a:solidFill>
                <a:latin typeface="Arial" panose="020B0604020202020204" pitchFamily="34" charset="0"/>
                <a:cs typeface="Arial" panose="020B0604020202020204" pitchFamily="34" charset="0"/>
              </a:rPr>
              <a:t>Tasks can be combined with streams for implementing the continuous change data captures(CDC).</a:t>
            </a:r>
          </a:p>
          <a:p>
            <a:pPr>
              <a:lnSpc>
                <a:spcPct val="110000"/>
              </a:lnSpc>
              <a:spcBef>
                <a:spcPts val="600"/>
              </a:spcBef>
              <a:spcAft>
                <a:spcPts val="600"/>
              </a:spcAft>
            </a:pPr>
            <a:r>
              <a:rPr lang="en-US" sz="2000" dirty="0">
                <a:solidFill>
                  <a:schemeClr val="tx1"/>
                </a:solidFill>
                <a:latin typeface="Arial" panose="020B0604020202020204" pitchFamily="34" charset="0"/>
                <a:cs typeface="Arial" panose="020B0604020202020204" pitchFamily="34" charset="0"/>
              </a:rPr>
              <a:t>Tasks require compute resources to execute SQL code, we can choose either of</a:t>
            </a:r>
          </a:p>
          <a:p>
            <a:pPr lvl="1">
              <a:lnSpc>
                <a:spcPct val="110000"/>
              </a:lnSpc>
              <a:spcBef>
                <a:spcPts val="600"/>
              </a:spcBef>
              <a:spcAft>
                <a:spcPts val="600"/>
              </a:spcAft>
            </a:pPr>
            <a:r>
              <a:rPr lang="en-US" sz="1600" dirty="0">
                <a:solidFill>
                  <a:schemeClr val="tx1"/>
                </a:solidFill>
                <a:latin typeface="Arial" panose="020B0604020202020204" pitchFamily="34" charset="0"/>
                <a:cs typeface="Arial" panose="020B0604020202020204" pitchFamily="34" charset="0"/>
              </a:rPr>
              <a:t>Snowflake managed compute resources(</a:t>
            </a:r>
            <a:r>
              <a:rPr lang="en-US" sz="1600" dirty="0" err="1">
                <a:solidFill>
                  <a:schemeClr val="tx1"/>
                </a:solidFill>
                <a:latin typeface="Arial" panose="020B0604020202020204" pitchFamily="34" charset="0"/>
                <a:cs typeface="Arial" panose="020B0604020202020204" pitchFamily="34" charset="0"/>
              </a:rPr>
              <a:t>Serverless</a:t>
            </a:r>
            <a:r>
              <a:rPr lang="en-US" sz="1600" dirty="0">
                <a:solidFill>
                  <a:schemeClr val="tx1"/>
                </a:solidFill>
                <a:latin typeface="Arial" panose="020B0604020202020204" pitchFamily="34" charset="0"/>
                <a:cs typeface="Arial" panose="020B0604020202020204" pitchFamily="34" charset="0"/>
              </a:rPr>
              <a:t>)</a:t>
            </a:r>
          </a:p>
          <a:p>
            <a:pPr lvl="1">
              <a:lnSpc>
                <a:spcPct val="110000"/>
              </a:lnSpc>
              <a:spcBef>
                <a:spcPts val="600"/>
              </a:spcBef>
              <a:spcAft>
                <a:spcPts val="600"/>
              </a:spcAft>
            </a:pPr>
            <a:r>
              <a:rPr lang="en-US" sz="1600" dirty="0">
                <a:solidFill>
                  <a:schemeClr val="tx1"/>
                </a:solidFill>
                <a:latin typeface="Arial" panose="020B0604020202020204" pitchFamily="34" charset="0"/>
                <a:cs typeface="Arial" panose="020B0604020202020204" pitchFamily="34" charset="0"/>
              </a:rPr>
              <a:t>User managed (Virtual warehouses)</a:t>
            </a:r>
          </a:p>
          <a:p>
            <a:endParaRPr lang="mr-IN" dirty="0">
              <a:solidFill>
                <a:schemeClr val="tx1"/>
              </a:solidFill>
            </a:endParaRPr>
          </a:p>
        </p:txBody>
      </p:sp>
      <p:sp>
        <p:nvSpPr>
          <p:cNvPr id="3" name="Title 2"/>
          <p:cNvSpPr>
            <a:spLocks noGrp="1"/>
          </p:cNvSpPr>
          <p:nvPr>
            <p:ph type="title"/>
          </p:nvPr>
        </p:nvSpPr>
        <p:spPr/>
        <p:txBody>
          <a:bodyPr/>
          <a:lstStyle/>
          <a:p>
            <a:r>
              <a:rPr lang="en-US" b="1" dirty="0">
                <a:solidFill>
                  <a:schemeClr val="tx1"/>
                </a:solidFill>
              </a:rPr>
              <a:t>Tasks</a:t>
            </a:r>
            <a:endParaRPr lang="mr-IN" b="1" dirty="0">
              <a:solidFill>
                <a:schemeClr val="tx1"/>
              </a:solidFill>
            </a:endParaRPr>
          </a:p>
        </p:txBody>
      </p:sp>
    </p:spTree>
    <p:extLst>
      <p:ext uri="{BB962C8B-B14F-4D97-AF65-F5344CB8AC3E}">
        <p14:creationId xmlns:p14="http://schemas.microsoft.com/office/powerpoint/2010/main" val="11086765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By using CREATE TASK Command we can create tasks.</a:t>
            </a:r>
          </a:p>
          <a:p>
            <a:pPr marL="0" indent="0">
              <a:lnSpc>
                <a:spcPct val="100000"/>
              </a:lnSpc>
              <a:spcBef>
                <a:spcPts val="0"/>
              </a:spcBef>
              <a:buNone/>
            </a:pPr>
            <a:endParaRPr lang="en-US" dirty="0">
              <a:latin typeface="Arial" panose="020B0604020202020204" pitchFamily="34" charset="0"/>
              <a:cs typeface="Arial" panose="020B0604020202020204" pitchFamily="34" charset="0"/>
            </a:endParaRPr>
          </a:p>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CREATE OR REPLACE TASK </a:t>
            </a:r>
            <a:r>
              <a:rPr lang="en-US" i="1" dirty="0" err="1">
                <a:latin typeface="Arial" panose="020B0604020202020204" pitchFamily="34" charset="0"/>
                <a:cs typeface="Arial" panose="020B0604020202020204" pitchFamily="34" charset="0"/>
              </a:rPr>
              <a:t>task_name</a:t>
            </a:r>
            <a:endParaRPr lang="en-US" i="1" dirty="0">
              <a:latin typeface="Arial" panose="020B0604020202020204" pitchFamily="34" charset="0"/>
              <a:cs typeface="Arial" panose="020B0604020202020204" pitchFamily="34" charset="0"/>
            </a:endParaRPr>
          </a:p>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	WAREHOUSE = </a:t>
            </a:r>
            <a:r>
              <a:rPr lang="en-US" i="1" dirty="0">
                <a:latin typeface="Arial" panose="020B0604020202020204" pitchFamily="34" charset="0"/>
                <a:cs typeface="Arial" panose="020B0604020202020204" pitchFamily="34" charset="0"/>
              </a:rPr>
              <a:t>‘warehouse name’</a:t>
            </a:r>
          </a:p>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	SCHEDULE = </a:t>
            </a:r>
            <a:r>
              <a:rPr lang="en-US" i="1" dirty="0">
                <a:latin typeface="Arial" panose="020B0604020202020204" pitchFamily="34" charset="0"/>
                <a:cs typeface="Arial" panose="020B0604020202020204" pitchFamily="34" charset="0"/>
              </a:rPr>
              <a:t>‘Time or </a:t>
            </a:r>
            <a:r>
              <a:rPr lang="en-US" i="1" dirty="0" err="1">
                <a:latin typeface="Arial" panose="020B0604020202020204" pitchFamily="34" charset="0"/>
                <a:cs typeface="Arial" panose="020B0604020202020204" pitchFamily="34" charset="0"/>
              </a:rPr>
              <a:t>Cron</a:t>
            </a:r>
            <a:r>
              <a:rPr lang="en-US" i="1" dirty="0">
                <a:latin typeface="Arial" panose="020B0604020202020204" pitchFamily="34" charset="0"/>
                <a:cs typeface="Arial" panose="020B0604020202020204" pitchFamily="34" charset="0"/>
              </a:rPr>
              <a:t>’</a:t>
            </a:r>
          </a:p>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	AFTER </a:t>
            </a:r>
            <a:r>
              <a:rPr lang="en-US" i="1" dirty="0" err="1">
                <a:latin typeface="Arial" panose="020B0604020202020204" pitchFamily="34" charset="0"/>
                <a:cs typeface="Arial" panose="020B0604020202020204" pitchFamily="34" charset="0"/>
              </a:rPr>
              <a:t>dep_task_name</a:t>
            </a:r>
            <a:endParaRPr lang="en-US" i="1" dirty="0">
              <a:latin typeface="Arial" panose="020B0604020202020204" pitchFamily="34" charset="0"/>
              <a:cs typeface="Arial" panose="020B0604020202020204" pitchFamily="34" charset="0"/>
            </a:endParaRPr>
          </a:p>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AS</a:t>
            </a:r>
          </a:p>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SQL Statement;</a:t>
            </a:r>
          </a:p>
          <a:p>
            <a:pPr marL="0" indent="0">
              <a:lnSpc>
                <a:spcPct val="110000"/>
              </a:lnSpc>
              <a:spcBef>
                <a:spcPts val="0"/>
              </a:spcBef>
              <a:spcAft>
                <a:spcPts val="600"/>
              </a:spcAft>
              <a:buNone/>
            </a:pPr>
            <a:endParaRPr lang="en-US" dirty="0">
              <a:latin typeface="Arial" panose="020B0604020202020204" pitchFamily="34" charset="0"/>
              <a:cs typeface="Arial" panose="020B0604020202020204" pitchFamily="34" charset="0"/>
            </a:endParaRPr>
          </a:p>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SQL Statement can be a query or a call to stored procedure.</a:t>
            </a:r>
          </a:p>
          <a:p>
            <a:pPr marL="0" indent="0">
              <a:lnSpc>
                <a:spcPct val="110000"/>
              </a:lnSpc>
              <a:spcBef>
                <a:spcPts val="0"/>
              </a:spcBef>
              <a:spcAft>
                <a:spcPts val="600"/>
              </a:spcAft>
              <a:buNone/>
            </a:pPr>
            <a:endParaRPr lang="en-US" dirty="0">
              <a:latin typeface="Arial" panose="020B0604020202020204" pitchFamily="34" charset="0"/>
              <a:cs typeface="Arial" panose="020B0604020202020204" pitchFamily="34" charset="0"/>
            </a:endParaRP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How to create a Task?</a:t>
            </a:r>
            <a:endParaRPr lang="mr-IN" b="1" dirty="0">
              <a:solidFill>
                <a:schemeClr val="tx1"/>
              </a:solidFill>
            </a:endParaRPr>
          </a:p>
        </p:txBody>
      </p:sp>
    </p:spTree>
    <p:extLst>
      <p:ext uri="{BB962C8B-B14F-4D97-AF65-F5344CB8AC3E}">
        <p14:creationId xmlns:p14="http://schemas.microsoft.com/office/powerpoint/2010/main" val="390243201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22598" y="2348880"/>
            <a:ext cx="10416499" cy="3777283"/>
          </a:xfrm>
        </p:spPr>
        <p:txBody>
          <a:bodyPr>
            <a:normAutofit fontScale="62500" lnSpcReduction="20000"/>
          </a:bodyPr>
          <a:lstStyle/>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 Task to run a query for every 10 minutes</a:t>
            </a:r>
          </a:p>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CREATE OR REPLACE TASK CUSTOMER_INSERT</a:t>
            </a:r>
          </a:p>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    WAREHOUSE = COMPUTE_WH</a:t>
            </a:r>
          </a:p>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    SCHEDULE = ‘10 MINUTE'</a:t>
            </a:r>
          </a:p>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 AS </a:t>
            </a:r>
          </a:p>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 INSERT INTO CUSTOMERS(CREATE_DATE) VALUES(CURRENT_TIMESTAMP);</a:t>
            </a:r>
          </a:p>
          <a:p>
            <a:pPr marL="0" indent="0">
              <a:lnSpc>
                <a:spcPct val="110000"/>
              </a:lnSpc>
              <a:spcBef>
                <a:spcPts val="0"/>
              </a:spcBef>
              <a:spcAft>
                <a:spcPts val="600"/>
              </a:spcAft>
              <a:buNone/>
            </a:pPr>
            <a:endParaRPr lang="en-US" dirty="0">
              <a:latin typeface="Arial" panose="020B0604020202020204" pitchFamily="34" charset="0"/>
              <a:cs typeface="Arial" panose="020B0604020202020204" pitchFamily="34" charset="0"/>
            </a:endParaRPr>
          </a:p>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 Task to call a store </a:t>
            </a:r>
            <a:r>
              <a:rPr lang="en-US" dirty="0" err="1">
                <a:latin typeface="Arial" panose="020B0604020202020204" pitchFamily="34" charset="0"/>
                <a:cs typeface="Arial" panose="020B0604020202020204" pitchFamily="34" charset="0"/>
              </a:rPr>
              <a:t>proc</a:t>
            </a:r>
            <a:r>
              <a:rPr lang="en-US" dirty="0">
                <a:latin typeface="Arial" panose="020B0604020202020204" pitchFamily="34" charset="0"/>
                <a:cs typeface="Arial" panose="020B0604020202020204" pitchFamily="34" charset="0"/>
              </a:rPr>
              <a:t> every day at 9.30 UTC</a:t>
            </a:r>
          </a:p>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CREATE OR REPLACE TASK CUSTOMER_INSERT</a:t>
            </a:r>
          </a:p>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    WAREHOUSE = MYOWN_WH</a:t>
            </a:r>
          </a:p>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    SCHEDULE = 'USING CRON 30 9 * * * UTC'</a:t>
            </a:r>
          </a:p>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 AS </a:t>
            </a:r>
          </a:p>
          <a:p>
            <a:pPr marL="0" indent="0">
              <a:lnSpc>
                <a:spcPct val="110000"/>
              </a:lnSpc>
              <a:spcBef>
                <a:spcPts val="0"/>
              </a:spcBef>
              <a:spcAft>
                <a:spcPts val="600"/>
              </a:spcAft>
              <a:buNone/>
            </a:pPr>
            <a:r>
              <a:rPr lang="en-US" dirty="0">
                <a:latin typeface="Arial" panose="020B0604020202020204" pitchFamily="34" charset="0"/>
                <a:cs typeface="Arial" panose="020B0604020202020204" pitchFamily="34" charset="0"/>
              </a:rPr>
              <a:t>CALL PROC_EMPL_DATA_LOAD();</a:t>
            </a:r>
            <a:endParaRPr lang="en-IN" dirty="0">
              <a:latin typeface="Arial" panose="020B0604020202020204" pitchFamily="34" charset="0"/>
              <a:cs typeface="Arial" panose="020B0604020202020204" pitchFamily="34" charset="0"/>
            </a:endParaRPr>
          </a:p>
          <a:p>
            <a:endParaRPr lang="mr-IN" dirty="0"/>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Sample Tasks</a:t>
            </a:r>
            <a:endParaRPr lang="mr-IN" b="1" dirty="0">
              <a:solidFill>
                <a:schemeClr val="tx1"/>
              </a:solidFill>
            </a:endParaRPr>
          </a:p>
        </p:txBody>
      </p:sp>
    </p:spTree>
    <p:extLst>
      <p:ext uri="{BB962C8B-B14F-4D97-AF65-F5344CB8AC3E}">
        <p14:creationId xmlns:p14="http://schemas.microsoft.com/office/powerpoint/2010/main" val="372854474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Using Cron</a:t>
            </a:r>
            <a:endParaRPr lang="mr-IN" b="1" dirty="0">
              <a:solidFill>
                <a:schemeClr val="tx1"/>
              </a:solidFill>
            </a:endParaRPr>
          </a:p>
        </p:txBody>
      </p:sp>
      <p:pic>
        <p:nvPicPr>
          <p:cNvPr id="4" name="Content Placeholder 4">
            <a:extLst>
              <a:ext uri="{FF2B5EF4-FFF2-40B4-BE49-F238E27FC236}">
                <a16:creationId xmlns:a16="http://schemas.microsoft.com/office/drawing/2014/main" id="{828726D0-FF0A-2E88-479E-F587D18C044B}"/>
              </a:ext>
            </a:extLst>
          </p:cNvPr>
          <p:cNvPicPr>
            <a:picLocks noChangeAspect="1"/>
          </p:cNvPicPr>
          <p:nvPr/>
        </p:nvPicPr>
        <p:blipFill rotWithShape="1">
          <a:blip r:embed="rId2"/>
          <a:srcRect t="7387" r="4551" b="6477"/>
          <a:stretch/>
        </p:blipFill>
        <p:spPr>
          <a:xfrm>
            <a:off x="271711" y="1916832"/>
            <a:ext cx="4823792" cy="2416955"/>
          </a:xfrm>
          <a:prstGeom prst="rect">
            <a:avLst/>
          </a:prstGeom>
        </p:spPr>
      </p:pic>
      <p:pic>
        <p:nvPicPr>
          <p:cNvPr id="5" name="Picture 4">
            <a:extLst>
              <a:ext uri="{FF2B5EF4-FFF2-40B4-BE49-F238E27FC236}">
                <a16:creationId xmlns:a16="http://schemas.microsoft.com/office/drawing/2014/main" id="{1D63B2D3-4B0F-A744-0780-2E771024033A}"/>
              </a:ext>
            </a:extLst>
          </p:cNvPr>
          <p:cNvPicPr>
            <a:picLocks noChangeAspect="1"/>
          </p:cNvPicPr>
          <p:nvPr/>
        </p:nvPicPr>
        <p:blipFill>
          <a:blip r:embed="rId3"/>
          <a:stretch>
            <a:fillRect/>
          </a:stretch>
        </p:blipFill>
        <p:spPr>
          <a:xfrm>
            <a:off x="3142878" y="3717031"/>
            <a:ext cx="8856984" cy="2947921"/>
          </a:xfrm>
          <a:prstGeom prst="rect">
            <a:avLst/>
          </a:prstGeom>
        </p:spPr>
      </p:pic>
    </p:spTree>
    <p:extLst>
      <p:ext uri="{BB962C8B-B14F-4D97-AF65-F5344CB8AC3E}">
        <p14:creationId xmlns:p14="http://schemas.microsoft.com/office/powerpoint/2010/main" val="363103093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pPr>
              <a:lnSpc>
                <a:spcPct val="110000"/>
              </a:lnSpc>
              <a:spcBef>
                <a:spcPts val="600"/>
              </a:spcBef>
              <a:spcAft>
                <a:spcPts val="600"/>
              </a:spcAft>
            </a:pPr>
            <a:r>
              <a:rPr lang="en-US" sz="2000" dirty="0">
                <a:solidFill>
                  <a:schemeClr val="tx1"/>
                </a:solidFill>
                <a:latin typeface="Arial" panose="020B0604020202020204" pitchFamily="34" charset="0"/>
                <a:cs typeface="Arial" panose="020B0604020202020204" pitchFamily="34" charset="0"/>
              </a:rPr>
              <a:t>Data can be shared securely.</a:t>
            </a:r>
          </a:p>
          <a:p>
            <a:pPr>
              <a:lnSpc>
                <a:spcPct val="110000"/>
              </a:lnSpc>
              <a:spcBef>
                <a:spcPts val="600"/>
              </a:spcBef>
              <a:spcAft>
                <a:spcPts val="600"/>
              </a:spcAft>
            </a:pPr>
            <a:r>
              <a:rPr lang="en-US" sz="2000" dirty="0">
                <a:solidFill>
                  <a:schemeClr val="tx1"/>
                </a:solidFill>
                <a:latin typeface="Arial" panose="020B0604020202020204" pitchFamily="34" charset="0"/>
                <a:cs typeface="Arial" panose="020B0604020202020204" pitchFamily="34" charset="0"/>
              </a:rPr>
              <a:t>Can share data to other snowflake users and to non-snowflake users as well.</a:t>
            </a:r>
          </a:p>
          <a:p>
            <a:pPr>
              <a:lnSpc>
                <a:spcPct val="110000"/>
              </a:lnSpc>
              <a:spcBef>
                <a:spcPts val="600"/>
              </a:spcBef>
              <a:spcAft>
                <a:spcPts val="600"/>
              </a:spcAft>
            </a:pPr>
            <a:r>
              <a:rPr lang="en-US" sz="2000" dirty="0">
                <a:solidFill>
                  <a:schemeClr val="tx1"/>
                </a:solidFill>
                <a:latin typeface="Arial" panose="020B0604020202020204" pitchFamily="34" charset="0"/>
                <a:cs typeface="Arial" panose="020B0604020202020204" pitchFamily="34" charset="0"/>
              </a:rPr>
              <a:t>For non-snowflake users, we have to create a reader account and share the data.</a:t>
            </a:r>
          </a:p>
          <a:p>
            <a:pPr>
              <a:lnSpc>
                <a:spcPct val="110000"/>
              </a:lnSpc>
              <a:spcBef>
                <a:spcPts val="600"/>
              </a:spcBef>
              <a:spcAft>
                <a:spcPts val="600"/>
              </a:spcAft>
            </a:pPr>
            <a:r>
              <a:rPr lang="en-US" sz="2000" dirty="0">
                <a:solidFill>
                  <a:schemeClr val="tx1"/>
                </a:solidFill>
                <a:latin typeface="Arial" panose="020B0604020202020204" pitchFamily="34" charset="0"/>
                <a:cs typeface="Arial" panose="020B0604020202020204" pitchFamily="34" charset="0"/>
              </a:rPr>
              <a:t>Provider – Who is sharing the data by creating share object.</a:t>
            </a:r>
          </a:p>
          <a:p>
            <a:pPr>
              <a:lnSpc>
                <a:spcPct val="110000"/>
              </a:lnSpc>
              <a:spcBef>
                <a:spcPts val="600"/>
              </a:spcBef>
              <a:spcAft>
                <a:spcPts val="600"/>
              </a:spcAft>
            </a:pPr>
            <a:r>
              <a:rPr lang="en-US" sz="2000" dirty="0">
                <a:solidFill>
                  <a:schemeClr val="tx1"/>
                </a:solidFill>
                <a:latin typeface="Arial" panose="020B0604020202020204" pitchFamily="34" charset="0"/>
                <a:cs typeface="Arial" panose="020B0604020202020204" pitchFamily="34" charset="0"/>
              </a:rPr>
              <a:t>Consumer – Who is consuming or using the shared data.</a:t>
            </a:r>
          </a:p>
          <a:p>
            <a:pPr>
              <a:lnSpc>
                <a:spcPct val="110000"/>
              </a:lnSpc>
              <a:spcBef>
                <a:spcPts val="600"/>
              </a:spcBef>
              <a:spcAft>
                <a:spcPts val="600"/>
              </a:spcAft>
            </a:pPr>
            <a:r>
              <a:rPr lang="en-US" sz="2000" dirty="0">
                <a:solidFill>
                  <a:schemeClr val="tx1"/>
                </a:solidFill>
                <a:latin typeface="Arial" panose="020B0604020202020204" pitchFamily="34" charset="0"/>
                <a:cs typeface="Arial" panose="020B0604020202020204" pitchFamily="34" charset="0"/>
              </a:rPr>
              <a:t>Shared data can be consumed by consumers own compute resources.</a:t>
            </a:r>
          </a:p>
          <a:p>
            <a:pPr>
              <a:lnSpc>
                <a:spcPct val="110000"/>
              </a:lnSpc>
              <a:spcBef>
                <a:spcPts val="0"/>
              </a:spcBef>
              <a:spcAft>
                <a:spcPts val="600"/>
              </a:spcAft>
            </a:pPr>
            <a:r>
              <a:rPr lang="en-IN" sz="2200" dirty="0">
                <a:solidFill>
                  <a:schemeClr val="tx1"/>
                </a:solidFill>
                <a:latin typeface="Arial" panose="020B0604020202020204" pitchFamily="34" charset="0"/>
                <a:cs typeface="Arial" panose="020B0604020202020204" pitchFamily="34" charset="0"/>
              </a:rPr>
              <a:t>All below objects can be shared with other account users.</a:t>
            </a:r>
          </a:p>
          <a:p>
            <a:pPr lvl="1">
              <a:buFont typeface="Wingdings" pitchFamily="2" charset="2"/>
              <a:buChar char="§"/>
            </a:pPr>
            <a:r>
              <a:rPr lang="en-US" sz="1800" dirty="0">
                <a:solidFill>
                  <a:srgbClr val="000000"/>
                </a:solidFill>
                <a:latin typeface="Arial" panose="020B0604020202020204" pitchFamily="34" charset="0"/>
              </a:rPr>
              <a:t>Tables</a:t>
            </a:r>
          </a:p>
          <a:p>
            <a:pPr lvl="1">
              <a:buFont typeface="Wingdings" pitchFamily="2" charset="2"/>
              <a:buChar char="§"/>
            </a:pPr>
            <a:r>
              <a:rPr lang="en-US" sz="1800" dirty="0">
                <a:solidFill>
                  <a:srgbClr val="000000"/>
                </a:solidFill>
                <a:latin typeface="Arial" panose="020B0604020202020204" pitchFamily="34" charset="0"/>
              </a:rPr>
              <a:t>External tables</a:t>
            </a:r>
          </a:p>
          <a:p>
            <a:pPr lvl="1">
              <a:buFont typeface="Wingdings" pitchFamily="2" charset="2"/>
              <a:buChar char="§"/>
            </a:pPr>
            <a:r>
              <a:rPr lang="en-US" sz="1800" dirty="0">
                <a:solidFill>
                  <a:srgbClr val="000000"/>
                </a:solidFill>
                <a:latin typeface="Arial" panose="020B0604020202020204" pitchFamily="34" charset="0"/>
              </a:rPr>
              <a:t>Secure views</a:t>
            </a:r>
          </a:p>
          <a:p>
            <a:pPr lvl="1">
              <a:buFont typeface="Wingdings" pitchFamily="2" charset="2"/>
              <a:buChar char="§"/>
            </a:pPr>
            <a:r>
              <a:rPr lang="en-US" sz="1800" dirty="0">
                <a:solidFill>
                  <a:srgbClr val="000000"/>
                </a:solidFill>
                <a:latin typeface="Arial" panose="020B0604020202020204" pitchFamily="34" charset="0"/>
              </a:rPr>
              <a:t>Secure materialized views</a:t>
            </a:r>
          </a:p>
          <a:p>
            <a:pPr lvl="1">
              <a:buFont typeface="Wingdings" pitchFamily="2" charset="2"/>
              <a:buChar char="§"/>
            </a:pPr>
            <a:r>
              <a:rPr lang="en-US" sz="1800" dirty="0">
                <a:solidFill>
                  <a:srgbClr val="000000"/>
                </a:solidFill>
                <a:latin typeface="Arial" panose="020B0604020202020204" pitchFamily="34" charset="0"/>
              </a:rPr>
              <a:t>Secure UDFs</a:t>
            </a:r>
          </a:p>
          <a:p>
            <a:pPr>
              <a:lnSpc>
                <a:spcPct val="110000"/>
              </a:lnSpc>
              <a:spcBef>
                <a:spcPts val="600"/>
              </a:spcBef>
              <a:spcAft>
                <a:spcPts val="600"/>
              </a:spcAft>
            </a:pPr>
            <a:endParaRPr lang="en-US" sz="2000" dirty="0">
              <a:solidFill>
                <a:schemeClr val="tx1"/>
              </a:solidFill>
              <a:latin typeface="Arial" panose="020B0604020202020204" pitchFamily="34" charset="0"/>
              <a:cs typeface="Arial" panose="020B0604020202020204" pitchFamily="34" charset="0"/>
            </a:endParaRPr>
          </a:p>
        </p:txBody>
      </p:sp>
      <p:sp>
        <p:nvSpPr>
          <p:cNvPr id="3" name="Title 2"/>
          <p:cNvSpPr>
            <a:spLocks noGrp="1"/>
          </p:cNvSpPr>
          <p:nvPr>
            <p:ph type="title"/>
          </p:nvPr>
        </p:nvSpPr>
        <p:spPr/>
        <p:txBody>
          <a:bodyPr>
            <a:normAutofit/>
          </a:bodyPr>
          <a:lstStyle/>
          <a:p>
            <a:r>
              <a:rPr lang="en-US" b="1" dirty="0">
                <a:solidFill>
                  <a:schemeClr val="tx1"/>
                </a:solidFill>
              </a:rPr>
              <a:t>Data Sharing</a:t>
            </a:r>
            <a:endParaRPr lang="mr-IN" b="1" dirty="0"/>
          </a:p>
        </p:txBody>
      </p:sp>
    </p:spTree>
    <p:extLst>
      <p:ext uri="{BB962C8B-B14F-4D97-AF65-F5344CB8AC3E}">
        <p14:creationId xmlns:p14="http://schemas.microsoft.com/office/powerpoint/2010/main" val="162864098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mr-IN"/>
          </a:p>
        </p:txBody>
      </p:sp>
      <p:sp>
        <p:nvSpPr>
          <p:cNvPr id="3" name="Title 2"/>
          <p:cNvSpPr>
            <a:spLocks noGrp="1"/>
          </p:cNvSpPr>
          <p:nvPr>
            <p:ph type="title"/>
          </p:nvPr>
        </p:nvSpPr>
        <p:spPr/>
        <p:txBody>
          <a:bodyPr/>
          <a:lstStyle/>
          <a:p>
            <a:endParaRPr lang="mr-IN"/>
          </a:p>
        </p:txBody>
      </p:sp>
      <p:pic>
        <p:nvPicPr>
          <p:cNvPr id="4" name="Content Placeholder 9">
            <a:extLst>
              <a:ext uri="{FF2B5EF4-FFF2-40B4-BE49-F238E27FC236}">
                <a16:creationId xmlns:a16="http://schemas.microsoft.com/office/drawing/2014/main" id="{B61794BE-AA7C-AB5A-0FD1-FF50CE507A9E}"/>
              </a:ext>
            </a:extLst>
          </p:cNvPr>
          <p:cNvPicPr>
            <a:picLocks noChangeAspect="1"/>
          </p:cNvPicPr>
          <p:nvPr/>
        </p:nvPicPr>
        <p:blipFill>
          <a:blip r:embed="rId2"/>
          <a:stretch>
            <a:fillRect/>
          </a:stretch>
        </p:blipFill>
        <p:spPr>
          <a:xfrm>
            <a:off x="118542" y="151062"/>
            <a:ext cx="11992032" cy="6590305"/>
          </a:xfrm>
          <a:prstGeom prst="rect">
            <a:avLst/>
          </a:prstGeom>
        </p:spPr>
      </p:pic>
    </p:spTree>
    <p:extLst>
      <p:ext uri="{BB962C8B-B14F-4D97-AF65-F5344CB8AC3E}">
        <p14:creationId xmlns:p14="http://schemas.microsoft.com/office/powerpoint/2010/main" val="80919490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50590" y="2492896"/>
            <a:ext cx="10488507" cy="3633267"/>
          </a:xfrm>
        </p:spPr>
        <p:txBody>
          <a:bodyPr>
            <a:normAutofit fontScale="92500" lnSpcReduction="10000"/>
          </a:bodyPr>
          <a:lstStyle/>
          <a:p>
            <a:pPr>
              <a:lnSpc>
                <a:spcPct val="110000"/>
              </a:lnSpc>
              <a:spcBef>
                <a:spcPts val="0"/>
              </a:spcBef>
              <a:spcAft>
                <a:spcPts val="600"/>
              </a:spcAft>
            </a:pPr>
            <a:r>
              <a:rPr lang="en-US" dirty="0">
                <a:solidFill>
                  <a:schemeClr val="tx1"/>
                </a:solidFill>
                <a:latin typeface="Arial" panose="020B0604020202020204" pitchFamily="34" charset="0"/>
                <a:cs typeface="Arial" panose="020B0604020202020204" pitchFamily="34" charset="0"/>
              </a:rPr>
              <a:t>Data sharing is only supported between Snowflake accounts. </a:t>
            </a:r>
          </a:p>
          <a:p>
            <a:pPr>
              <a:lnSpc>
                <a:spcPct val="110000"/>
              </a:lnSpc>
              <a:spcBef>
                <a:spcPts val="0"/>
              </a:spcBef>
              <a:spcAft>
                <a:spcPts val="600"/>
              </a:spcAft>
            </a:pPr>
            <a:r>
              <a:rPr lang="en-US" dirty="0">
                <a:solidFill>
                  <a:schemeClr val="tx1"/>
                </a:solidFill>
                <a:latin typeface="Arial" panose="020B0604020202020204" pitchFamily="34" charset="0"/>
                <a:cs typeface="Arial" panose="020B0604020202020204" pitchFamily="34" charset="0"/>
              </a:rPr>
              <a:t>If we want to share data with non-snowflake users, we can create reader accounts for them.</a:t>
            </a:r>
          </a:p>
          <a:p>
            <a:pPr>
              <a:lnSpc>
                <a:spcPct val="110000"/>
              </a:lnSpc>
              <a:spcBef>
                <a:spcPts val="0"/>
              </a:spcBef>
              <a:spcAft>
                <a:spcPts val="600"/>
              </a:spcAft>
            </a:pPr>
            <a:r>
              <a:rPr lang="en-US" dirty="0">
                <a:solidFill>
                  <a:schemeClr val="tx1"/>
                </a:solidFill>
                <a:latin typeface="Arial" panose="020B0604020202020204" pitchFamily="34" charset="0"/>
                <a:cs typeface="Arial" panose="020B0604020202020204" pitchFamily="34" charset="0"/>
              </a:rPr>
              <a:t>Reader accounts (known as “read-only accounts”) provide a quick, easy, and cost-effective way to share data without requiring the consumer to become a Snowflake customer.</a:t>
            </a:r>
          </a:p>
          <a:p>
            <a:pPr>
              <a:lnSpc>
                <a:spcPct val="110000"/>
              </a:lnSpc>
              <a:spcBef>
                <a:spcPts val="0"/>
              </a:spcBef>
              <a:spcAft>
                <a:spcPts val="600"/>
              </a:spcAft>
            </a:pPr>
            <a:r>
              <a:rPr lang="en-US" dirty="0">
                <a:solidFill>
                  <a:schemeClr val="tx1"/>
                </a:solidFill>
                <a:latin typeface="Arial" panose="020B0604020202020204" pitchFamily="34" charset="0"/>
                <a:cs typeface="Arial" panose="020B0604020202020204" pitchFamily="34" charset="0"/>
              </a:rPr>
              <a:t>Each reader account belongs to the provider account that created it.</a:t>
            </a:r>
          </a:p>
          <a:p>
            <a:pPr>
              <a:lnSpc>
                <a:spcPct val="110000"/>
              </a:lnSpc>
              <a:spcBef>
                <a:spcPts val="0"/>
              </a:spcBef>
              <a:spcAft>
                <a:spcPts val="600"/>
              </a:spcAft>
            </a:pPr>
            <a:r>
              <a:rPr lang="en-US" dirty="0">
                <a:solidFill>
                  <a:schemeClr val="tx1"/>
                </a:solidFill>
                <a:latin typeface="Arial" panose="020B0604020202020204" pitchFamily="34" charset="0"/>
                <a:cs typeface="Arial" panose="020B0604020202020204" pitchFamily="34" charset="0"/>
              </a:rPr>
              <a:t>Readers can't perform any DML operations, they will have only select access.</a:t>
            </a:r>
          </a:p>
          <a:p>
            <a:pPr>
              <a:lnSpc>
                <a:spcPct val="110000"/>
              </a:lnSpc>
              <a:spcBef>
                <a:spcPts val="0"/>
              </a:spcBef>
              <a:spcAft>
                <a:spcPts val="600"/>
              </a:spcAft>
            </a:pPr>
            <a:r>
              <a:rPr lang="en-US" dirty="0">
                <a:solidFill>
                  <a:schemeClr val="tx1"/>
                </a:solidFill>
                <a:latin typeface="Arial" panose="020B0604020202020204" pitchFamily="34" charset="0"/>
                <a:cs typeface="Arial" panose="020B0604020202020204" pitchFamily="34" charset="0"/>
              </a:rPr>
              <a:t>Billing will be calculated in Provider's account itself.</a:t>
            </a:r>
            <a:endParaRPr lang="en-IN" dirty="0">
              <a:solidFill>
                <a:schemeClr val="tx1"/>
              </a:solidFill>
              <a:latin typeface="Arial" panose="020B0604020202020204" pitchFamily="34" charset="0"/>
              <a:cs typeface="Arial" panose="020B0604020202020204" pitchFamily="34" charset="0"/>
            </a:endParaRPr>
          </a:p>
        </p:txBody>
      </p:sp>
      <p:sp>
        <p:nvSpPr>
          <p:cNvPr id="3" name="Title 2"/>
          <p:cNvSpPr>
            <a:spLocks noGrp="1"/>
          </p:cNvSpPr>
          <p:nvPr>
            <p:ph type="title"/>
          </p:nvPr>
        </p:nvSpPr>
        <p:spPr/>
        <p:txBody>
          <a:bodyPr/>
          <a:lstStyle/>
          <a:p>
            <a:r>
              <a:rPr lang="en-IN" b="1" dirty="0">
                <a:solidFill>
                  <a:schemeClr val="tx1"/>
                </a:solidFill>
                <a:latin typeface="Helvetica" panose="020B0604020202020204" pitchFamily="34" charset="0"/>
              </a:rPr>
              <a:t>Reader Accounts</a:t>
            </a:r>
            <a:endParaRPr lang="mr-IN" b="1" dirty="0">
              <a:solidFill>
                <a:schemeClr val="tx1"/>
              </a:solidFill>
            </a:endParaRPr>
          </a:p>
        </p:txBody>
      </p:sp>
    </p:spTree>
    <p:extLst>
      <p:ext uri="{BB962C8B-B14F-4D97-AF65-F5344CB8AC3E}">
        <p14:creationId xmlns:p14="http://schemas.microsoft.com/office/powerpoint/2010/main" val="20398347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mr-IN"/>
          </a:p>
        </p:txBody>
      </p:sp>
      <p:sp>
        <p:nvSpPr>
          <p:cNvPr id="3" name="Title 2"/>
          <p:cNvSpPr>
            <a:spLocks noGrp="1"/>
          </p:cNvSpPr>
          <p:nvPr>
            <p:ph type="title"/>
          </p:nvPr>
        </p:nvSpPr>
        <p:spPr/>
        <p:txBody>
          <a:bodyPr/>
          <a:lstStyle/>
          <a:p>
            <a:endParaRPr lang="mr-IN"/>
          </a:p>
        </p:txBody>
      </p:sp>
      <p:pic>
        <p:nvPicPr>
          <p:cNvPr id="4" name="Content Placeholder 4">
            <a:extLst>
              <a:ext uri="{FF2B5EF4-FFF2-40B4-BE49-F238E27FC236}">
                <a16:creationId xmlns:a16="http://schemas.microsoft.com/office/drawing/2014/main" id="{8F252759-023E-7CA6-1C47-1FB360D35545}"/>
              </a:ext>
            </a:extLst>
          </p:cNvPr>
          <p:cNvPicPr>
            <a:picLocks noChangeAspect="1"/>
          </p:cNvPicPr>
          <p:nvPr/>
        </p:nvPicPr>
        <p:blipFill>
          <a:blip r:embed="rId2"/>
          <a:stretch>
            <a:fillRect/>
          </a:stretch>
        </p:blipFill>
        <p:spPr>
          <a:xfrm>
            <a:off x="262558" y="116631"/>
            <a:ext cx="11665296" cy="6624737"/>
          </a:xfrm>
          <a:prstGeom prst="rect">
            <a:avLst/>
          </a:prstGeom>
        </p:spPr>
      </p:pic>
    </p:spTree>
    <p:extLst>
      <p:ext uri="{BB962C8B-B14F-4D97-AF65-F5344CB8AC3E}">
        <p14:creationId xmlns:p14="http://schemas.microsoft.com/office/powerpoint/2010/main" val="267597230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50590" y="2564904"/>
            <a:ext cx="11305256" cy="4032447"/>
          </a:xfrm>
        </p:spPr>
        <p:txBody>
          <a:bodyPr>
            <a:normAutofit fontScale="92500" lnSpcReduction="10000"/>
          </a:bodyPr>
          <a:lstStyle/>
          <a:p>
            <a:r>
              <a:rPr lang="en-US" dirty="0"/>
              <a:t>The Search Optimization Service in Snowflake is a query optimization service that can enhance the performance of certain types of lookup and analytical queries which retrieves a small subset of results from large data volumes.</a:t>
            </a:r>
          </a:p>
          <a:p>
            <a:pPr marL="0" indent="0">
              <a:buNone/>
            </a:pPr>
            <a:endParaRPr lang="en-US" dirty="0"/>
          </a:p>
          <a:p>
            <a:r>
              <a:rPr lang="en-US" dirty="0"/>
              <a:t>When Search Optimization Service is enabled on a table, it creates an additional data set called </a:t>
            </a:r>
            <a:r>
              <a:rPr lang="en-US" b="1" dirty="0"/>
              <a:t>Search Access Path</a:t>
            </a:r>
            <a:r>
              <a:rPr lang="en-US" dirty="0"/>
              <a:t> that keeps tracks of all the micro partitions where the values of the table are stored. The Search Access Path improves query performance by reducing the amount of partitions scanned during the table scan operation instead of searching all the partitions of the table.</a:t>
            </a:r>
          </a:p>
          <a:p>
            <a:endParaRPr lang="en-US" dirty="0"/>
          </a:p>
          <a:p>
            <a:r>
              <a:rPr lang="en-US" sz="2000" dirty="0">
                <a:solidFill>
                  <a:srgbClr val="7030A0"/>
                </a:solidFill>
              </a:rPr>
              <a:t>ALTER TABLE t1 ADD SEARCH OPTIMIZATION ON c1;</a:t>
            </a:r>
          </a:p>
          <a:p>
            <a:r>
              <a:rPr lang="en-US" sz="2000" dirty="0">
                <a:solidFill>
                  <a:srgbClr val="7030A0"/>
                </a:solidFill>
              </a:rPr>
              <a:t>ALTER TABLE t1 DROP SEARCH OPTIMIZATION ON c1;</a:t>
            </a:r>
            <a:endParaRPr lang="mr-IN" sz="2000" dirty="0">
              <a:solidFill>
                <a:srgbClr val="7030A0"/>
              </a:solidFill>
            </a:endParaRPr>
          </a:p>
        </p:txBody>
      </p:sp>
      <p:sp>
        <p:nvSpPr>
          <p:cNvPr id="3" name="Title 2"/>
          <p:cNvSpPr>
            <a:spLocks noGrp="1"/>
          </p:cNvSpPr>
          <p:nvPr>
            <p:ph type="title"/>
          </p:nvPr>
        </p:nvSpPr>
        <p:spPr/>
        <p:txBody>
          <a:bodyPr>
            <a:normAutofit/>
          </a:bodyPr>
          <a:lstStyle/>
          <a:p>
            <a:r>
              <a:rPr lang="en-US" b="1" dirty="0">
                <a:solidFill>
                  <a:schemeClr val="tx1"/>
                </a:solidFill>
              </a:rPr>
              <a:t>Search Optimization </a:t>
            </a:r>
            <a:endParaRPr lang="mr-IN" b="1" dirty="0"/>
          </a:p>
        </p:txBody>
      </p:sp>
    </p:spTree>
    <p:extLst>
      <p:ext uri="{BB962C8B-B14F-4D97-AF65-F5344CB8AC3E}">
        <p14:creationId xmlns:p14="http://schemas.microsoft.com/office/powerpoint/2010/main" val="240025315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mr-IN"/>
          </a:p>
        </p:txBody>
      </p:sp>
      <p:sp>
        <p:nvSpPr>
          <p:cNvPr id="3" name="Title 2"/>
          <p:cNvSpPr>
            <a:spLocks noGrp="1"/>
          </p:cNvSpPr>
          <p:nvPr>
            <p:ph type="title"/>
          </p:nvPr>
        </p:nvSpPr>
        <p:spPr/>
        <p:txBody>
          <a:bodyPr/>
          <a:lstStyle/>
          <a:p>
            <a:endParaRPr lang="mr-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35" y="36513"/>
            <a:ext cx="12143878" cy="678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1126654" y="1844824"/>
            <a:ext cx="2088232"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mr-IN"/>
          </a:p>
        </p:txBody>
      </p:sp>
    </p:spTree>
    <p:extLst>
      <p:ext uri="{BB962C8B-B14F-4D97-AF65-F5344CB8AC3E}">
        <p14:creationId xmlns:p14="http://schemas.microsoft.com/office/powerpoint/2010/main" val="148820660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4606" y="2675467"/>
            <a:ext cx="11089232" cy="3450696"/>
          </a:xfrm>
        </p:spPr>
        <p:txBody>
          <a:bodyPr>
            <a:normAutofit fontScale="92500" lnSpcReduction="10000"/>
          </a:bodyPr>
          <a:lstStyle/>
          <a:p>
            <a:r>
              <a:rPr lang="en-US" dirty="0"/>
              <a:t>The below images shows the query profile of both queries that ran without and with Search Optimization Service enabled.</a:t>
            </a:r>
          </a:p>
          <a:p>
            <a:r>
              <a:rPr lang="en-US" dirty="0"/>
              <a:t>There is a huge improvement in the query runtime from 63 seconds to 2.3 seconds with search optimization enabled.</a:t>
            </a:r>
          </a:p>
          <a:p>
            <a:r>
              <a:rPr lang="en-US" dirty="0"/>
              <a:t>In the query with search optimization not enabled, almost 99% of the partitions scanned by the query. On the other hand, the query with search optimization enabled scanned only 7 partitions out of 9317 partitions which led to massive improvement in the performance and execution time.</a:t>
            </a:r>
          </a:p>
          <a:p>
            <a:r>
              <a:rPr lang="en-US" dirty="0"/>
              <a:t>The number of bytes scanned by the query dropped from 24.47 GB to 91.07 MB with search optimization enabled.</a:t>
            </a:r>
          </a:p>
        </p:txBody>
      </p:sp>
      <p:sp>
        <p:nvSpPr>
          <p:cNvPr id="3" name="Title 2"/>
          <p:cNvSpPr>
            <a:spLocks noGrp="1"/>
          </p:cNvSpPr>
          <p:nvPr>
            <p:ph type="title"/>
          </p:nvPr>
        </p:nvSpPr>
        <p:spPr/>
        <p:txBody>
          <a:bodyPr>
            <a:normAutofit/>
          </a:bodyPr>
          <a:lstStyle/>
          <a:p>
            <a:r>
              <a:rPr lang="en-US" b="1" dirty="0">
                <a:solidFill>
                  <a:schemeClr val="tx1"/>
                </a:solidFill>
              </a:rPr>
              <a:t>Comparing the stats of the queries</a:t>
            </a:r>
            <a:endParaRPr lang="mr-IN" dirty="0">
              <a:solidFill>
                <a:schemeClr val="tx1"/>
              </a:solidFill>
            </a:endParaRPr>
          </a:p>
        </p:txBody>
      </p:sp>
    </p:spTree>
    <p:extLst>
      <p:ext uri="{BB962C8B-B14F-4D97-AF65-F5344CB8AC3E}">
        <p14:creationId xmlns:p14="http://schemas.microsoft.com/office/powerpoint/2010/main" val="5181966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solidFill>
                  <a:schemeClr val="tx1"/>
                </a:solidFill>
              </a:rPr>
              <a:t>In the Cloud computing era with pay-as-you go resources it is necessary to have a billing alerts set to get notified when there are unexpected spend increases. This is an extremely useful tool to keep a close watch on your resource usage and stay on-budget.</a:t>
            </a:r>
          </a:p>
          <a:p>
            <a:r>
              <a:rPr lang="en-US" dirty="0">
                <a:solidFill>
                  <a:schemeClr val="tx1"/>
                </a:solidFill>
              </a:rPr>
              <a:t>Snowflake provides one such feature to track your resource usage and control your budget using Resource Monitors.</a:t>
            </a:r>
          </a:p>
          <a:p>
            <a:r>
              <a:rPr lang="en-US" i="1" dirty="0">
                <a:solidFill>
                  <a:schemeClr val="tx1"/>
                </a:solidFill>
              </a:rPr>
              <a:t>Resource monitors can only be created by Account Administrators (i.e. users with the ACCOUNTADMIN role).</a:t>
            </a:r>
          </a:p>
          <a:p>
            <a:r>
              <a:rPr lang="en-US" dirty="0">
                <a:solidFill>
                  <a:schemeClr val="tx1"/>
                </a:solidFill>
              </a:rPr>
              <a:t>However, Account Administrators can choose to enable users with other roles to view and modify resource monitors using SQL.</a:t>
            </a:r>
            <a:endParaRPr lang="mr-IN" dirty="0">
              <a:solidFill>
                <a:schemeClr val="tx1"/>
              </a:solidFill>
            </a:endParaRPr>
          </a:p>
        </p:txBody>
      </p:sp>
      <p:sp>
        <p:nvSpPr>
          <p:cNvPr id="3" name="Title 2"/>
          <p:cNvSpPr>
            <a:spLocks noGrp="1"/>
          </p:cNvSpPr>
          <p:nvPr>
            <p:ph type="title"/>
          </p:nvPr>
        </p:nvSpPr>
        <p:spPr/>
        <p:txBody>
          <a:bodyPr>
            <a:normAutofit/>
          </a:bodyPr>
          <a:lstStyle/>
          <a:p>
            <a:r>
              <a:rPr lang="en-US" b="1" dirty="0">
                <a:solidFill>
                  <a:schemeClr val="tx1"/>
                </a:solidFill>
              </a:rPr>
              <a:t>Resource Monitor</a:t>
            </a:r>
            <a:endParaRPr lang="mr-IN" b="1" dirty="0"/>
          </a:p>
        </p:txBody>
      </p:sp>
    </p:spTree>
    <p:extLst>
      <p:ext uri="{BB962C8B-B14F-4D97-AF65-F5344CB8AC3E}">
        <p14:creationId xmlns:p14="http://schemas.microsoft.com/office/powerpoint/2010/main" val="178575472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mr-IN"/>
          </a:p>
        </p:txBody>
      </p:sp>
      <p:sp>
        <p:nvSpPr>
          <p:cNvPr id="3" name="Title 2"/>
          <p:cNvSpPr>
            <a:spLocks noGrp="1"/>
          </p:cNvSpPr>
          <p:nvPr>
            <p:ph type="title"/>
          </p:nvPr>
        </p:nvSpPr>
        <p:spPr/>
        <p:txBody>
          <a:bodyPr/>
          <a:lstStyle/>
          <a:p>
            <a:endParaRPr lang="mr-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116632"/>
            <a:ext cx="12203113" cy="6327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301749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marL="0" indent="0">
              <a:buNone/>
            </a:pPr>
            <a:r>
              <a:rPr lang="en-US" sz="16600" dirty="0"/>
              <a:t>Thank you</a:t>
            </a:r>
            <a:endParaRPr lang="mr-IN" sz="16600" dirty="0"/>
          </a:p>
        </p:txBody>
      </p:sp>
    </p:spTree>
    <p:extLst>
      <p:ext uri="{BB962C8B-B14F-4D97-AF65-F5344CB8AC3E}">
        <p14:creationId xmlns:p14="http://schemas.microsoft.com/office/powerpoint/2010/main" val="32619451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844</TotalTime>
  <Words>7399</Words>
  <Application>Microsoft Office PowerPoint</Application>
  <PresentationFormat>Custom</PresentationFormat>
  <Paragraphs>783</Paragraphs>
  <Slides>108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108</vt:i4>
      </vt:variant>
    </vt:vector>
  </HeadingPairs>
  <TitlesOfParts>
    <vt:vector size="118" baseType="lpstr">
      <vt:lpstr>Abadi</vt:lpstr>
      <vt:lpstr>Aparajita</vt:lpstr>
      <vt:lpstr>Arial</vt:lpstr>
      <vt:lpstr>ArialMT</vt:lpstr>
      <vt:lpstr>Calibri</vt:lpstr>
      <vt:lpstr>Candara</vt:lpstr>
      <vt:lpstr>Helvetica</vt:lpstr>
      <vt:lpstr>Symbol</vt:lpstr>
      <vt:lpstr>Wingdings</vt:lpstr>
      <vt:lpstr>Waveform</vt:lpstr>
      <vt:lpstr>Sn   wflake </vt:lpstr>
      <vt:lpstr>Prerequisites</vt:lpstr>
      <vt:lpstr>Content</vt:lpstr>
      <vt:lpstr>Introduction</vt:lpstr>
      <vt:lpstr>What is Snowflake?</vt:lpstr>
      <vt:lpstr>Why Snowflake?</vt:lpstr>
      <vt:lpstr>Traditional WH Vs Snowflake</vt:lpstr>
      <vt:lpstr>Traditional WH Vs Snowflake</vt:lpstr>
      <vt:lpstr>Snowflake Architecture</vt:lpstr>
      <vt:lpstr>PowerPoint Presentation</vt:lpstr>
      <vt:lpstr>PowerPoint Presentation</vt:lpstr>
      <vt:lpstr>Cloud services layer</vt:lpstr>
      <vt:lpstr>Query processing or Compute layer</vt:lpstr>
      <vt:lpstr>PowerPoint Presentation</vt:lpstr>
      <vt:lpstr>Warehouses come in different sizes. </vt:lpstr>
      <vt:lpstr>Database Storage Layer</vt:lpstr>
      <vt:lpstr>PowerPoint Presentation</vt:lpstr>
      <vt:lpstr>Snowflake Editions</vt:lpstr>
      <vt:lpstr>PowerPoint Presentation</vt:lpstr>
      <vt:lpstr>Snowflake Pricing</vt:lpstr>
      <vt:lpstr>Types of Costs</vt:lpstr>
      <vt:lpstr>What is a Snowflake Credit</vt:lpstr>
      <vt:lpstr>Connecting to Snowflake</vt:lpstr>
      <vt:lpstr>Account creation</vt:lpstr>
      <vt:lpstr>Snowflake Objects</vt:lpstr>
      <vt:lpstr>Tables</vt:lpstr>
      <vt:lpstr>Tables and Their properties</vt:lpstr>
      <vt:lpstr>How to find the table type?</vt:lpstr>
      <vt:lpstr>Views</vt:lpstr>
      <vt:lpstr>Types of Views</vt:lpstr>
      <vt:lpstr>Secure Views</vt:lpstr>
      <vt:lpstr>Materialized Views</vt:lpstr>
      <vt:lpstr>When to create Materialized Views</vt:lpstr>
      <vt:lpstr>Micro-partitioning</vt:lpstr>
      <vt:lpstr>PowerPoint Presentation</vt:lpstr>
      <vt:lpstr>Query pruning</vt:lpstr>
      <vt:lpstr>Benefits of Micro partitioning</vt:lpstr>
      <vt:lpstr>Clustering</vt:lpstr>
      <vt:lpstr>PowerPoint Presentation</vt:lpstr>
      <vt:lpstr>Defining Cluster keys</vt:lpstr>
      <vt:lpstr>Loading data and Transforming data</vt:lpstr>
      <vt:lpstr>Bulk Loading Using the COPY Command</vt:lpstr>
      <vt:lpstr>What is a Stage?</vt:lpstr>
      <vt:lpstr>PowerPoint Presentation</vt:lpstr>
      <vt:lpstr>Stage Types</vt:lpstr>
      <vt:lpstr>External stage</vt:lpstr>
      <vt:lpstr>Internal Stages</vt:lpstr>
      <vt:lpstr>User Stage (@~)</vt:lpstr>
      <vt:lpstr>Table Stage (@%)</vt:lpstr>
      <vt:lpstr>Named Internal Stage (@)</vt:lpstr>
      <vt:lpstr>FILE FORMAT in SNOWFLAKE</vt:lpstr>
      <vt:lpstr>COPY Command for Data loading</vt:lpstr>
      <vt:lpstr>Metadata columns</vt:lpstr>
      <vt:lpstr>Continuous Loading Using Snowpipe</vt:lpstr>
      <vt:lpstr>How Snowpipe works?</vt:lpstr>
      <vt:lpstr>COPY Command for Data Unloading</vt:lpstr>
      <vt:lpstr>Unloading Options</vt:lpstr>
      <vt:lpstr>Loading Data from AWS</vt:lpstr>
      <vt:lpstr>PowerPoint Presentation</vt:lpstr>
      <vt:lpstr>PowerPoint Presentation</vt:lpstr>
      <vt:lpstr>Snowflake Caching </vt:lpstr>
      <vt:lpstr>PowerPoint Presentation</vt:lpstr>
      <vt:lpstr>Results Cache</vt:lpstr>
      <vt:lpstr>Local Disk Cache</vt:lpstr>
      <vt:lpstr>SNOWSQL/SNOWFLAKE CLI</vt:lpstr>
      <vt:lpstr>SNOWSQL COMMANDS</vt:lpstr>
      <vt:lpstr>PUT Command</vt:lpstr>
      <vt:lpstr>GET Command</vt:lpstr>
      <vt:lpstr>Access Control</vt:lpstr>
      <vt:lpstr>Key Concepts</vt:lpstr>
      <vt:lpstr>Key Concepts</vt:lpstr>
      <vt:lpstr>Privileges</vt:lpstr>
      <vt:lpstr>Object Hierarchy</vt:lpstr>
      <vt:lpstr>Roles in Snowflake</vt:lpstr>
      <vt:lpstr>System Defined Roles</vt:lpstr>
      <vt:lpstr>Custom Roles</vt:lpstr>
      <vt:lpstr>Continuous Data Protection</vt:lpstr>
      <vt:lpstr>Time Travel</vt:lpstr>
      <vt:lpstr>Retention Period</vt:lpstr>
      <vt:lpstr>Querying Historical Data</vt:lpstr>
      <vt:lpstr>Restoring Objects</vt:lpstr>
      <vt:lpstr>Fail-safe</vt:lpstr>
      <vt:lpstr>Continuous Data Protection Life Cycle</vt:lpstr>
      <vt:lpstr>Data Governance: Access History Overview</vt:lpstr>
      <vt:lpstr>PowerPoint Presentation</vt:lpstr>
      <vt:lpstr>Zero-Copy Cloning</vt:lpstr>
      <vt:lpstr>Cloning syntax</vt:lpstr>
      <vt:lpstr>Streams in Snowflake</vt:lpstr>
      <vt:lpstr>Metadata of Streams</vt:lpstr>
      <vt:lpstr>How a Stream works? or Data flow in a Stream</vt:lpstr>
      <vt:lpstr>Types of Streams</vt:lpstr>
      <vt:lpstr>Stored Procedures</vt:lpstr>
      <vt:lpstr>Sample Procedure</vt:lpstr>
      <vt:lpstr>User Defined Functions</vt:lpstr>
      <vt:lpstr>Tasks</vt:lpstr>
      <vt:lpstr>How to create a Task?</vt:lpstr>
      <vt:lpstr>Sample Tasks</vt:lpstr>
      <vt:lpstr>Using Cron</vt:lpstr>
      <vt:lpstr>Data Sharing</vt:lpstr>
      <vt:lpstr>PowerPoint Presentation</vt:lpstr>
      <vt:lpstr>Reader Accounts</vt:lpstr>
      <vt:lpstr>PowerPoint Presentation</vt:lpstr>
      <vt:lpstr>Search Optimization </vt:lpstr>
      <vt:lpstr>PowerPoint Presentation</vt:lpstr>
      <vt:lpstr>Comparing the stats of the queries</vt:lpstr>
      <vt:lpstr>Resource Monitor</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Snowflake</dc:title>
  <dc:creator>i5</dc:creator>
  <cp:lastModifiedBy>Wanjari, Shweta Gangasagar</cp:lastModifiedBy>
  <cp:revision>54</cp:revision>
  <dcterms:created xsi:type="dcterms:W3CDTF">2025-12-02T09:03:11Z</dcterms:created>
  <dcterms:modified xsi:type="dcterms:W3CDTF">2025-12-03T13:05:08Z</dcterms:modified>
</cp:coreProperties>
</file>